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374" r:id="rId3"/>
    <p:sldId id="389" r:id="rId4"/>
    <p:sldId id="398" r:id="rId5"/>
    <p:sldId id="386" r:id="rId6"/>
    <p:sldId id="387" r:id="rId7"/>
    <p:sldId id="397" r:id="rId8"/>
    <p:sldId id="391" r:id="rId9"/>
    <p:sldId id="369" r:id="rId10"/>
    <p:sldId id="367" r:id="rId11"/>
    <p:sldId id="388" r:id="rId12"/>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758" autoAdjust="0"/>
  </p:normalViewPr>
  <p:slideViewPr>
    <p:cSldViewPr snapToGrid="0" showGuides="1">
      <p:cViewPr varScale="1">
        <p:scale>
          <a:sx n="92" d="100"/>
          <a:sy n="92" d="100"/>
        </p:scale>
        <p:origin x="68" y="336"/>
      </p:cViewPr>
      <p:guideLst>
        <p:guide pos="416"/>
        <p:guide pos="7256"/>
        <p:guide orient="horz" pos="648"/>
        <p:guide orient="horz" pos="712"/>
        <p:guide orient="horz" pos="3928"/>
        <p:guide orient="horz" pos="3864"/>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AC8263-881F-4403-8415-ED87C3DBA1BC}" type="datetimeFigureOut">
              <a:rPr lang="zh-CN" altLang="en-US" smtClean="0"/>
              <a:t>2025/12/28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A1F8A7-37F8-4CED-9E5F-2CC9616EEAA0}" type="slidenum">
              <a:rPr lang="zh-CN" altLang="en-US" smtClean="0"/>
              <a:t>‹#›</a:t>
            </a:fld>
            <a:endParaRPr lang="zh-CN" altLang="en-US"/>
          </a:p>
        </p:txBody>
      </p:sp>
    </p:spTree>
    <p:extLst>
      <p:ext uri="{BB962C8B-B14F-4D97-AF65-F5344CB8AC3E}">
        <p14:creationId xmlns:p14="http://schemas.microsoft.com/office/powerpoint/2010/main" val="2444363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7D6FD-D1E9-C25C-06D1-BEA94137585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721B01-0520-6E34-4B91-03AF1CF672B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E64EC9F-DFE2-FEC0-C23C-A966871C732E}"/>
              </a:ext>
            </a:extLst>
          </p:cNvPr>
          <p:cNvSpPr>
            <a:spLocks noGrp="1"/>
          </p:cNvSpPr>
          <p:nvPr>
            <p:ph type="body" idx="1"/>
          </p:nvPr>
        </p:nvSpPr>
        <p:spPr/>
        <p:txBody>
          <a:bodyPr/>
          <a:lstStyle/>
          <a:p>
            <a:endParaRPr lang="zh-CN" altLang="en-US"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4" name="灯片编号占位符 3">
            <a:extLst>
              <a:ext uri="{FF2B5EF4-FFF2-40B4-BE49-F238E27FC236}">
                <a16:creationId xmlns:a16="http://schemas.microsoft.com/office/drawing/2014/main" id="{F2EB7FCD-AB0A-47E6-B337-4D64EEF6E472}"/>
              </a:ext>
            </a:extLst>
          </p:cNvPr>
          <p:cNvSpPr>
            <a:spLocks noGrp="1"/>
          </p:cNvSpPr>
          <p:nvPr>
            <p:ph type="sldNum" sz="quarter" idx="5"/>
          </p:nvPr>
        </p:nvSpPr>
        <p:spPr/>
        <p:txBody>
          <a:bodyPr/>
          <a:lstStyle/>
          <a:p>
            <a:fld id="{8FA1F8A7-37F8-4CED-9E5F-2CC9616EEAA0}" type="slidenum">
              <a:rPr lang="zh-CN" altLang="en-US" smtClean="0"/>
              <a:t>3</a:t>
            </a:fld>
            <a:endParaRPr lang="zh-CN" altLang="en-US"/>
          </a:p>
        </p:txBody>
      </p:sp>
    </p:spTree>
    <p:extLst>
      <p:ext uri="{BB962C8B-B14F-4D97-AF65-F5344CB8AC3E}">
        <p14:creationId xmlns:p14="http://schemas.microsoft.com/office/powerpoint/2010/main" val="1255268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C8D57-8ED7-A6B1-49BD-220D2D98EDA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3BE4C9-FAEC-54AC-37B3-9736C75D78B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D132477-226E-D6FB-5A19-D957DC64FAEA}"/>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B6B4BB25-7C30-DD00-6DAF-F8867BD1E327}"/>
              </a:ext>
            </a:extLst>
          </p:cNvPr>
          <p:cNvSpPr>
            <a:spLocks noGrp="1"/>
          </p:cNvSpPr>
          <p:nvPr>
            <p:ph type="sldNum" sz="quarter" idx="5"/>
          </p:nvPr>
        </p:nvSpPr>
        <p:spPr/>
        <p:txBody>
          <a:bodyPr/>
          <a:lstStyle/>
          <a:p>
            <a:fld id="{8FA1F8A7-37F8-4CED-9E5F-2CC9616EEAA0}" type="slidenum">
              <a:rPr lang="zh-CN" altLang="en-US" smtClean="0"/>
              <a:t>4</a:t>
            </a:fld>
            <a:endParaRPr lang="zh-CN" altLang="en-US"/>
          </a:p>
        </p:txBody>
      </p:sp>
    </p:spTree>
    <p:extLst>
      <p:ext uri="{BB962C8B-B14F-4D97-AF65-F5344CB8AC3E}">
        <p14:creationId xmlns:p14="http://schemas.microsoft.com/office/powerpoint/2010/main" val="1204503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B1F62-0BAD-CFDE-D327-EF7990EEFD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28CD379-7263-4D00-C2D2-6ABC33F0731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024D38B-491B-AFE5-1395-72AA15905ABF}"/>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BCBD1793-0592-FA58-E090-FE3FA377BCC2}"/>
              </a:ext>
            </a:extLst>
          </p:cNvPr>
          <p:cNvSpPr>
            <a:spLocks noGrp="1"/>
          </p:cNvSpPr>
          <p:nvPr>
            <p:ph type="sldNum" sz="quarter" idx="5"/>
          </p:nvPr>
        </p:nvSpPr>
        <p:spPr/>
        <p:txBody>
          <a:bodyPr/>
          <a:lstStyle/>
          <a:p>
            <a:fld id="{8FA1F8A7-37F8-4CED-9E5F-2CC9616EEAA0}" type="slidenum">
              <a:rPr lang="zh-CN" altLang="en-US" smtClean="0"/>
              <a:t>5</a:t>
            </a:fld>
            <a:endParaRPr lang="zh-CN" altLang="en-US"/>
          </a:p>
        </p:txBody>
      </p:sp>
    </p:spTree>
    <p:extLst>
      <p:ext uri="{BB962C8B-B14F-4D97-AF65-F5344CB8AC3E}">
        <p14:creationId xmlns:p14="http://schemas.microsoft.com/office/powerpoint/2010/main" val="768050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D691C-3D94-D83E-584D-D96B3ACE37D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A1846EC-1D6D-FF70-E5F4-0497D4C7172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44C9854-ABB3-A40C-FA4E-EA7B00CB6495}"/>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89677CDB-B1C4-5A1E-F524-234CFC5ECB7A}"/>
              </a:ext>
            </a:extLst>
          </p:cNvPr>
          <p:cNvSpPr>
            <a:spLocks noGrp="1"/>
          </p:cNvSpPr>
          <p:nvPr>
            <p:ph type="sldNum" sz="quarter" idx="5"/>
          </p:nvPr>
        </p:nvSpPr>
        <p:spPr/>
        <p:txBody>
          <a:bodyPr/>
          <a:lstStyle/>
          <a:p>
            <a:fld id="{8FA1F8A7-37F8-4CED-9E5F-2CC9616EEAA0}" type="slidenum">
              <a:rPr lang="zh-CN" altLang="en-US" smtClean="0"/>
              <a:t>6</a:t>
            </a:fld>
            <a:endParaRPr lang="zh-CN" altLang="en-US"/>
          </a:p>
        </p:txBody>
      </p:sp>
    </p:spTree>
    <p:extLst>
      <p:ext uri="{BB962C8B-B14F-4D97-AF65-F5344CB8AC3E}">
        <p14:creationId xmlns:p14="http://schemas.microsoft.com/office/powerpoint/2010/main" val="2785336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BD851-9605-2C36-8982-F7569D16B1E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84FCCD-66F8-5D4E-235B-8D9A1EBCFF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94DAA84-B507-B82F-148D-64675C875B3A}"/>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7B599379-48A5-37D7-A9E7-844A9804EFE5}"/>
              </a:ext>
            </a:extLst>
          </p:cNvPr>
          <p:cNvSpPr>
            <a:spLocks noGrp="1"/>
          </p:cNvSpPr>
          <p:nvPr>
            <p:ph type="sldNum" sz="quarter" idx="5"/>
          </p:nvPr>
        </p:nvSpPr>
        <p:spPr/>
        <p:txBody>
          <a:bodyPr/>
          <a:lstStyle/>
          <a:p>
            <a:fld id="{8FA1F8A7-37F8-4CED-9E5F-2CC9616EEAA0}" type="slidenum">
              <a:rPr lang="zh-CN" altLang="en-US" smtClean="0"/>
              <a:t>7</a:t>
            </a:fld>
            <a:endParaRPr lang="zh-CN" altLang="en-US"/>
          </a:p>
        </p:txBody>
      </p:sp>
    </p:spTree>
    <p:extLst>
      <p:ext uri="{BB962C8B-B14F-4D97-AF65-F5344CB8AC3E}">
        <p14:creationId xmlns:p14="http://schemas.microsoft.com/office/powerpoint/2010/main" val="2153169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C5F7C-BFC6-EC81-500B-4D1779D7EBE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41BF85-5CD5-3E77-AA20-9A2640ED8B5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60E7C4-DD0A-B512-A8CC-A8BEE80592D3}"/>
              </a:ext>
            </a:extLst>
          </p:cNvPr>
          <p:cNvSpPr>
            <a:spLocks noGrp="1"/>
          </p:cNvSpPr>
          <p:nvPr>
            <p:ph type="body" idx="1"/>
          </p:nvPr>
        </p:nvSpPr>
        <p:spPr/>
        <p:txBody>
          <a:bodyPr/>
          <a:lstStyle/>
          <a:p>
            <a:r>
              <a:rPr lang="en-US" altLang="zh-CN"/>
              <a:t>Evaluation refinement</a:t>
            </a:r>
            <a:endParaRPr lang="en-US" altLang="zh-CN" dirty="0"/>
          </a:p>
        </p:txBody>
      </p:sp>
      <p:sp>
        <p:nvSpPr>
          <p:cNvPr id="4" name="灯片编号占位符 3">
            <a:extLst>
              <a:ext uri="{FF2B5EF4-FFF2-40B4-BE49-F238E27FC236}">
                <a16:creationId xmlns:a16="http://schemas.microsoft.com/office/drawing/2014/main" id="{4A830D2A-3D3A-D659-87FF-3327E8B12336}"/>
              </a:ext>
            </a:extLst>
          </p:cNvPr>
          <p:cNvSpPr>
            <a:spLocks noGrp="1"/>
          </p:cNvSpPr>
          <p:nvPr>
            <p:ph type="sldNum" sz="quarter" idx="5"/>
          </p:nvPr>
        </p:nvSpPr>
        <p:spPr/>
        <p:txBody>
          <a:bodyPr/>
          <a:lstStyle/>
          <a:p>
            <a:fld id="{8FA1F8A7-37F8-4CED-9E5F-2CC9616EEAA0}" type="slidenum">
              <a:rPr lang="zh-CN" altLang="en-US" smtClean="0"/>
              <a:t>8</a:t>
            </a:fld>
            <a:endParaRPr lang="zh-CN" altLang="en-US"/>
          </a:p>
        </p:txBody>
      </p:sp>
    </p:spTree>
    <p:extLst>
      <p:ext uri="{BB962C8B-B14F-4D97-AF65-F5344CB8AC3E}">
        <p14:creationId xmlns:p14="http://schemas.microsoft.com/office/powerpoint/2010/main" val="1118166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E1E6D-A725-FE21-7FF8-16D5E43083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9BDF7B4-F260-49FD-05AC-910B8606C78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CC35136-2E16-86C5-5462-1D0876B18A3F}"/>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A9EA3B4B-7BB4-51C3-154A-280844A4D1BF}"/>
              </a:ext>
            </a:extLst>
          </p:cNvPr>
          <p:cNvSpPr>
            <a:spLocks noGrp="1"/>
          </p:cNvSpPr>
          <p:nvPr>
            <p:ph type="sldNum" sz="quarter" idx="5"/>
          </p:nvPr>
        </p:nvSpPr>
        <p:spPr/>
        <p:txBody>
          <a:bodyPr/>
          <a:lstStyle/>
          <a:p>
            <a:fld id="{8FA1F8A7-37F8-4CED-9E5F-2CC9616EEAA0}" type="slidenum">
              <a:rPr lang="zh-CN" altLang="en-US" smtClean="0"/>
              <a:t>10</a:t>
            </a:fld>
            <a:endParaRPr lang="zh-CN" altLang="en-US"/>
          </a:p>
        </p:txBody>
      </p:sp>
    </p:spTree>
    <p:extLst>
      <p:ext uri="{BB962C8B-B14F-4D97-AF65-F5344CB8AC3E}">
        <p14:creationId xmlns:p14="http://schemas.microsoft.com/office/powerpoint/2010/main" val="18143537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89C89-25F2-C958-26A2-3BD33169F0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B58E1F7-0D63-74C7-79C2-20B1EF65A3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97E5867-64F2-6197-2D02-03F98B911D46}"/>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3C534144-5961-B1E8-707B-F1A76C722857}"/>
              </a:ext>
            </a:extLst>
          </p:cNvPr>
          <p:cNvSpPr>
            <a:spLocks noGrp="1"/>
          </p:cNvSpPr>
          <p:nvPr>
            <p:ph type="sldNum" sz="quarter" idx="5"/>
          </p:nvPr>
        </p:nvSpPr>
        <p:spPr/>
        <p:txBody>
          <a:bodyPr/>
          <a:lstStyle/>
          <a:p>
            <a:fld id="{8FA1F8A7-37F8-4CED-9E5F-2CC9616EEAA0}" type="slidenum">
              <a:rPr lang="zh-CN" altLang="en-US" smtClean="0"/>
              <a:t>11</a:t>
            </a:fld>
            <a:endParaRPr lang="zh-CN" altLang="en-US"/>
          </a:p>
        </p:txBody>
      </p:sp>
    </p:spTree>
    <p:extLst>
      <p:ext uri="{BB962C8B-B14F-4D97-AF65-F5344CB8AC3E}">
        <p14:creationId xmlns:p14="http://schemas.microsoft.com/office/powerpoint/2010/main" val="242408977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6" name="组合 25"/>
          <p:cNvGrpSpPr/>
          <p:nvPr/>
        </p:nvGrpSpPr>
        <p:grpSpPr>
          <a:xfrm>
            <a:off x="-23" y="-1"/>
            <a:ext cx="12192024" cy="6858001"/>
            <a:chOff x="-23" y="-1"/>
            <a:chExt cx="12192024" cy="6858001"/>
          </a:xfrm>
        </p:grpSpPr>
        <p:pic>
          <p:nvPicPr>
            <p:cNvPr id="9" name="图片 8"/>
            <p:cNvPicPr>
              <a:picLocks noChangeAspect="1"/>
            </p:cNvPicPr>
            <p:nvPr/>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5900"/>
                      </a14:imgEffect>
                    </a14:imgLayer>
                  </a14:imgProps>
                </a:ext>
                <a:ext uri="{28A0092B-C50C-407E-A947-70E740481C1C}">
                  <a14:useLocalDpi xmlns:a14="http://schemas.microsoft.com/office/drawing/2010/main" val="0"/>
                </a:ext>
              </a:extLst>
            </a:blip>
            <a:srcRect l="8470" t="16941" r="8470"/>
            <a:stretch/>
          </p:blipFill>
          <p:spPr>
            <a:xfrm>
              <a:off x="-23" y="-1"/>
              <a:ext cx="12192023" cy="1619749"/>
            </a:xfrm>
            <a:prstGeom prst="rect">
              <a:avLst/>
            </a:prstGeom>
          </p:spPr>
        </p:pic>
        <p:sp>
          <p:nvSpPr>
            <p:cNvPr id="21" name="任意多边形: 形状 20"/>
            <p:cNvSpPr/>
            <p:nvPr/>
          </p:nvSpPr>
          <p:spPr>
            <a:xfrm>
              <a:off x="6095987" y="0"/>
              <a:ext cx="6096012" cy="6858000"/>
            </a:xfrm>
            <a:custGeom>
              <a:avLst/>
              <a:gdLst>
                <a:gd name="connsiteX0" fmla="*/ 5505250 w 6096012"/>
                <a:gd name="connsiteY0" fmla="*/ 3468054 h 6858000"/>
                <a:gd name="connsiteX1" fmla="*/ 6096012 w 6096012"/>
                <a:gd name="connsiteY1" fmla="*/ 4077992 h 6858000"/>
                <a:gd name="connsiteX2" fmla="*/ 6096012 w 6096012"/>
                <a:gd name="connsiteY2" fmla="*/ 6858000 h 6858000"/>
                <a:gd name="connsiteX3" fmla="*/ 3534434 w 6096012"/>
                <a:gd name="connsiteY3" fmla="*/ 6858000 h 6858000"/>
                <a:gd name="connsiteX4" fmla="*/ 2878158 w 6096012"/>
                <a:gd name="connsiteY4" fmla="*/ 6180421 h 6858000"/>
                <a:gd name="connsiteX5" fmla="*/ 2627092 w 6096012"/>
                <a:gd name="connsiteY5" fmla="*/ 539437 h 6858000"/>
                <a:gd name="connsiteX6" fmla="*/ 5254183 w 6096012"/>
                <a:gd name="connsiteY6" fmla="*/ 3251804 h 6858000"/>
                <a:gd name="connsiteX7" fmla="*/ 2627092 w 6096012"/>
                <a:gd name="connsiteY7" fmla="*/ 5964171 h 6858000"/>
                <a:gd name="connsiteX8" fmla="*/ 0 w 6096012"/>
                <a:gd name="connsiteY8" fmla="*/ 3251804 h 6858000"/>
                <a:gd name="connsiteX9" fmla="*/ 4081125 w 6096012"/>
                <a:gd name="connsiteY9" fmla="*/ 0 h 6858000"/>
                <a:gd name="connsiteX10" fmla="*/ 6096012 w 6096012"/>
                <a:gd name="connsiteY10" fmla="*/ 0 h 6858000"/>
                <a:gd name="connsiteX11" fmla="*/ 6096012 w 6096012"/>
                <a:gd name="connsiteY11" fmla="*/ 3344444 h 6858000"/>
                <a:gd name="connsiteX12" fmla="*/ 5976288 w 6096012"/>
                <a:gd name="connsiteY12" fmla="*/ 3468054 h 6858000"/>
                <a:gd name="connsiteX13" fmla="*/ 3349196 w 6096012"/>
                <a:gd name="connsiteY13" fmla="*/ 75568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96012" h="6858000">
                  <a:moveTo>
                    <a:pt x="5505250" y="3468054"/>
                  </a:moveTo>
                  <a:lnTo>
                    <a:pt x="6096012" y="4077992"/>
                  </a:lnTo>
                  <a:lnTo>
                    <a:pt x="6096012" y="6858000"/>
                  </a:lnTo>
                  <a:lnTo>
                    <a:pt x="3534434" y="6858000"/>
                  </a:lnTo>
                  <a:lnTo>
                    <a:pt x="2878158" y="6180421"/>
                  </a:lnTo>
                  <a:close/>
                  <a:moveTo>
                    <a:pt x="2627092" y="539437"/>
                  </a:moveTo>
                  <a:lnTo>
                    <a:pt x="5254183" y="3251804"/>
                  </a:lnTo>
                  <a:lnTo>
                    <a:pt x="2627092" y="5964171"/>
                  </a:lnTo>
                  <a:lnTo>
                    <a:pt x="0" y="3251804"/>
                  </a:lnTo>
                  <a:close/>
                  <a:moveTo>
                    <a:pt x="4081125" y="0"/>
                  </a:moveTo>
                  <a:lnTo>
                    <a:pt x="6096012" y="0"/>
                  </a:lnTo>
                  <a:lnTo>
                    <a:pt x="6096012" y="3344444"/>
                  </a:lnTo>
                  <a:lnTo>
                    <a:pt x="5976288" y="3468054"/>
                  </a:lnTo>
                  <a:lnTo>
                    <a:pt x="3349196" y="755687"/>
                  </a:lnTo>
                  <a:close/>
                </a:path>
              </a:pathLst>
            </a:custGeom>
            <a:blipFill dpi="0" rotWithShape="1">
              <a:blip r:embed="rId4"/>
              <a:srcRect/>
              <a:tile tx="-3175000" ty="501650" sx="65000" sy="6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1" name="菱形 10"/>
            <p:cNvSpPr/>
            <p:nvPr/>
          </p:nvSpPr>
          <p:spPr>
            <a:xfrm>
              <a:off x="9250848" y="3569208"/>
              <a:ext cx="2099323" cy="2167467"/>
            </a:xfrm>
            <a:prstGeom prst="diamond">
              <a:avLst/>
            </a:prstGeom>
            <a:solidFill>
              <a:schemeClr val="accent1">
                <a:lumMod val="9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菱形 11"/>
            <p:cNvSpPr/>
            <p:nvPr/>
          </p:nvSpPr>
          <p:spPr>
            <a:xfrm>
              <a:off x="10886540" y="4361135"/>
              <a:ext cx="652203" cy="673374"/>
            </a:xfrm>
            <a:prstGeom prst="diamond">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8729825" y="704745"/>
              <a:ext cx="900274" cy="929498"/>
            </a:xfrm>
            <a:prstGeom prst="diamond">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菱形 13"/>
            <p:cNvSpPr/>
            <p:nvPr/>
          </p:nvSpPr>
          <p:spPr>
            <a:xfrm>
              <a:off x="8456080" y="1021846"/>
              <a:ext cx="533997" cy="551331"/>
            </a:xfrm>
            <a:prstGeom prst="diamond">
              <a:avLst/>
            </a:prstGeom>
            <a:solidFill>
              <a:schemeClr val="accent1">
                <a:lumMod val="7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任意多边形: 形状 23"/>
            <p:cNvSpPr/>
            <p:nvPr/>
          </p:nvSpPr>
          <p:spPr>
            <a:xfrm>
              <a:off x="9444122" y="0"/>
              <a:ext cx="2747879" cy="3473805"/>
            </a:xfrm>
            <a:custGeom>
              <a:avLst/>
              <a:gdLst>
                <a:gd name="connsiteX0" fmla="*/ 732748 w 2747879"/>
                <a:gd name="connsiteY0" fmla="*/ 0 h 3473805"/>
                <a:gd name="connsiteX1" fmla="*/ 2747879 w 2747879"/>
                <a:gd name="connsiteY1" fmla="*/ 0 h 3473805"/>
                <a:gd name="connsiteX2" fmla="*/ 2747879 w 2747879"/>
                <a:gd name="connsiteY2" fmla="*/ 3354003 h 3473805"/>
                <a:gd name="connsiteX3" fmla="*/ 2631843 w 2747879"/>
                <a:gd name="connsiteY3" fmla="*/ 3473805 h 3473805"/>
                <a:gd name="connsiteX4" fmla="*/ 0 w 2747879"/>
                <a:gd name="connsiteY4" fmla="*/ 756533 h 3473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7879" h="3473805">
                  <a:moveTo>
                    <a:pt x="732748" y="0"/>
                  </a:moveTo>
                  <a:lnTo>
                    <a:pt x="2747879" y="0"/>
                  </a:lnTo>
                  <a:lnTo>
                    <a:pt x="2747879" y="3354003"/>
                  </a:lnTo>
                  <a:lnTo>
                    <a:pt x="2631843" y="3473805"/>
                  </a:lnTo>
                  <a:lnTo>
                    <a:pt x="0" y="756533"/>
                  </a:lnTo>
                  <a:close/>
                </a:path>
              </a:pathLst>
            </a:custGeom>
            <a:solidFill>
              <a:schemeClr val="accent1">
                <a:lumMod val="9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2" name="标题 1"/>
          <p:cNvSpPr>
            <a:spLocks noGrp="1"/>
          </p:cNvSpPr>
          <p:nvPr>
            <p:ph type="ctrTitle" hasCustomPrompt="1"/>
          </p:nvPr>
        </p:nvSpPr>
        <p:spPr>
          <a:xfrm>
            <a:off x="660400" y="1130300"/>
            <a:ext cx="5638800" cy="2217118"/>
          </a:xfrm>
        </p:spPr>
        <p:txBody>
          <a:bodyPr anchor="b">
            <a:normAutofit/>
          </a:bodyPr>
          <a:lstStyle>
            <a:lvl1pPr algn="l">
              <a:defRPr sz="4800"/>
            </a:lvl1pPr>
          </a:lstStyle>
          <a:p>
            <a:pPr lvl="0"/>
            <a:r>
              <a:rPr lang="en-US"/>
              <a:t>Click to add title</a:t>
            </a:r>
          </a:p>
        </p:txBody>
      </p:sp>
      <p:sp>
        <p:nvSpPr>
          <p:cNvPr id="3" name="副标题 2"/>
          <p:cNvSpPr>
            <a:spLocks noGrp="1"/>
          </p:cNvSpPr>
          <p:nvPr>
            <p:ph type="subTitle" idx="1" hasCustomPrompt="1"/>
          </p:nvPr>
        </p:nvSpPr>
        <p:spPr>
          <a:xfrm>
            <a:off x="660400" y="3886856"/>
            <a:ext cx="5638800" cy="1289362"/>
          </a:xfrm>
        </p:spPr>
        <p:txBody>
          <a:bodyPr>
            <a:norm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add subtitle</a:t>
            </a:r>
          </a:p>
        </p:txBody>
      </p:sp>
      <p:sp>
        <p:nvSpPr>
          <p:cNvPr id="4" name="文本占位符 3"/>
          <p:cNvSpPr>
            <a:spLocks noGrp="1"/>
          </p:cNvSpPr>
          <p:nvPr>
            <p:ph type="body" sz="quarter" idx="13" hasCustomPrompt="1"/>
          </p:nvPr>
        </p:nvSpPr>
        <p:spPr>
          <a:xfrm>
            <a:off x="660400" y="5585460"/>
            <a:ext cx="3657600" cy="274320"/>
          </a:xfrm>
        </p:spPr>
        <p:txBody>
          <a:bodyPr anchor="ctr"/>
          <a:lstStyle>
            <a:lvl1pPr marL="0" indent="0" algn="l">
              <a:buNone/>
              <a:defRPr sz="1200">
                <a:solidFill>
                  <a:schemeClr val="tx1"/>
                </a:solidFill>
              </a:defRPr>
            </a:lvl1pPr>
          </a:lstStyle>
          <a:p>
            <a:pPr lvl="0"/>
            <a:r>
              <a:rPr lang="en-US"/>
              <a:t>Presenter name</a:t>
            </a:r>
          </a:p>
        </p:txBody>
      </p:sp>
      <p:sp>
        <p:nvSpPr>
          <p:cNvPr id="5" name="文本占位符 4"/>
          <p:cNvSpPr>
            <a:spLocks noGrp="1"/>
          </p:cNvSpPr>
          <p:nvPr>
            <p:ph type="body" sz="quarter" idx="14" hasCustomPrompt="1"/>
          </p:nvPr>
        </p:nvSpPr>
        <p:spPr>
          <a:xfrm>
            <a:off x="660400" y="5859780"/>
            <a:ext cx="3657600" cy="274320"/>
          </a:xfrm>
        </p:spPr>
        <p:txBody>
          <a:bodyPr anchor="ctr"/>
          <a:lstStyle>
            <a:lvl1pPr marL="0" indent="0">
              <a:buNone/>
              <a:defRPr sz="1200">
                <a:solidFill>
                  <a:schemeClr val="tx1"/>
                </a:solidFill>
              </a:defRPr>
            </a:lvl1pPr>
          </a:lstStyle>
          <a:p>
            <a:pPr lvl="0"/>
            <a:r>
              <a:rPr lang="en-US"/>
              <a:t>www.islide.cc</a:t>
            </a:r>
          </a:p>
        </p:txBody>
      </p:sp>
      <p:cxnSp>
        <p:nvCxnSpPr>
          <p:cNvPr id="16" name="直接连接符 15"/>
          <p:cNvCxnSpPr/>
          <p:nvPr/>
        </p:nvCxnSpPr>
        <p:spPr>
          <a:xfrm>
            <a:off x="841829" y="3660648"/>
            <a:ext cx="179977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en-US"/>
              <a:t>Click to add title</a:t>
            </a:r>
          </a:p>
        </p:txBody>
      </p:sp>
      <p:sp>
        <p:nvSpPr>
          <p:cNvPr id="3" name="内容占位符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genda" preserve="1">
  <p:cSld name="Agenda">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0400" y="1500187"/>
            <a:ext cx="2836562" cy="915667"/>
          </a:xfrm>
        </p:spPr>
        <p:txBody>
          <a:bodyPr anchor="t">
            <a:normAutofit/>
          </a:bodyPr>
          <a:lstStyle>
            <a:lvl1pPr algn="r">
              <a:defRPr sz="2800"/>
            </a:lvl1pPr>
          </a:lstStyle>
          <a:p>
            <a:pPr lvl="0"/>
            <a:r>
              <a:rPr lang="en-US"/>
              <a:t>Agenda</a:t>
            </a:r>
          </a:p>
        </p:txBody>
      </p:sp>
      <p:sp>
        <p:nvSpPr>
          <p:cNvPr id="3" name="内容占位符 2"/>
          <p:cNvSpPr>
            <a:spLocks noGrp="1"/>
          </p:cNvSpPr>
          <p:nvPr>
            <p:ph sz="quarter" idx="1" hasCustomPrompt="1"/>
          </p:nvPr>
        </p:nvSpPr>
        <p:spPr>
          <a:xfrm>
            <a:off x="3745078" y="1500188"/>
            <a:ext cx="7773821" cy="4633912"/>
          </a:xfrm>
        </p:spPr>
        <p:txBody>
          <a:bodyPr/>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10"/>
          </p:nvPr>
        </p:nvSpPr>
        <p:spPr/>
        <p:txBody>
          <a:bodyPr/>
          <a:lstStyle/>
          <a:p>
            <a:endParaRPr lang="en-US" dirty="0"/>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pPr/>
              <a:t>‹#›</a:t>
            </a:fld>
            <a:endParaRPr lang="en-US" dirty="0"/>
          </a:p>
        </p:txBody>
      </p:sp>
      <p:cxnSp>
        <p:nvCxnSpPr>
          <p:cNvPr id="7" name="直接连接符 6"/>
          <p:cNvCxnSpPr>
            <a:cxnSpLocks/>
          </p:cNvCxnSpPr>
          <p:nvPr/>
        </p:nvCxnSpPr>
        <p:spPr>
          <a:xfrm>
            <a:off x="3621019" y="1500188"/>
            <a:ext cx="0" cy="4633913"/>
          </a:xfrm>
          <a:prstGeom prst="line">
            <a:avLst/>
          </a:prstGeom>
          <a:solidFill>
            <a:srgbClr val="FFCC00"/>
          </a:solidFill>
          <a:ln w="3175" cap="flat" cmpd="sng" algn="ctr">
            <a:solidFill>
              <a:schemeClr val="tx2">
                <a:lumMod val="60000"/>
                <a:lumOff val="40000"/>
              </a:schemeClr>
            </a:solidFill>
            <a:prstDash val="solid"/>
            <a:round/>
            <a:headEnd type="none" w="med" len="med"/>
            <a:tailEnd type="none" w="med" len="med"/>
          </a:ln>
          <a:effectLst/>
        </p:spPr>
      </p:cxnSp>
      <p:sp>
        <p:nvSpPr>
          <p:cNvPr id="8" name="任意多边形: 形状 7"/>
          <p:cNvSpPr>
            <a:spLocks noChangeAspect="1"/>
          </p:cNvSpPr>
          <p:nvPr/>
        </p:nvSpPr>
        <p:spPr bwMode="auto">
          <a:xfrm>
            <a:off x="2626456" y="5219207"/>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bg2">
              <a:lumMod val="75000"/>
            </a:schemeClr>
          </a:solidFill>
          <a:ln>
            <a:noFill/>
          </a:ln>
        </p:spPr>
        <p:txBody>
          <a:bodyPr/>
          <a:lstStyle/>
          <a:p>
            <a:endParaRPr lang="zh-CN" altLang="en-US">
              <a:cs typeface="+mn-ea"/>
              <a:sym typeface="+mn-l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组合 6"/>
          <p:cNvGrpSpPr/>
          <p:nvPr/>
        </p:nvGrpSpPr>
        <p:grpSpPr>
          <a:xfrm flipH="1">
            <a:off x="-23" y="-1"/>
            <a:ext cx="12192024" cy="6858001"/>
            <a:chOff x="-23" y="-1"/>
            <a:chExt cx="12192024" cy="6858001"/>
          </a:xfrm>
        </p:grpSpPr>
        <p:pic>
          <p:nvPicPr>
            <p:cNvPr id="8" name="图片 7"/>
            <p:cNvPicPr>
              <a:picLocks noChangeAspect="1"/>
            </p:cNvPicPr>
            <p:nvPr/>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5900"/>
                      </a14:imgEffect>
                    </a14:imgLayer>
                  </a14:imgProps>
                </a:ext>
                <a:ext uri="{28A0092B-C50C-407E-A947-70E740481C1C}">
                  <a14:useLocalDpi xmlns:a14="http://schemas.microsoft.com/office/drawing/2010/main" val="0"/>
                </a:ext>
              </a:extLst>
            </a:blip>
            <a:srcRect l="8470" t="16941" r="8470"/>
            <a:stretch/>
          </p:blipFill>
          <p:spPr>
            <a:xfrm>
              <a:off x="-23" y="-1"/>
              <a:ext cx="12192023" cy="1619749"/>
            </a:xfrm>
            <a:prstGeom prst="rect">
              <a:avLst/>
            </a:prstGeom>
          </p:spPr>
        </p:pic>
        <p:sp>
          <p:nvSpPr>
            <p:cNvPr id="9" name="任意多边形: 形状 8"/>
            <p:cNvSpPr/>
            <p:nvPr/>
          </p:nvSpPr>
          <p:spPr>
            <a:xfrm>
              <a:off x="6095987" y="0"/>
              <a:ext cx="6096012" cy="6858000"/>
            </a:xfrm>
            <a:custGeom>
              <a:avLst/>
              <a:gdLst>
                <a:gd name="connsiteX0" fmla="*/ 5505250 w 6096012"/>
                <a:gd name="connsiteY0" fmla="*/ 3468054 h 6858000"/>
                <a:gd name="connsiteX1" fmla="*/ 6096012 w 6096012"/>
                <a:gd name="connsiteY1" fmla="*/ 4077992 h 6858000"/>
                <a:gd name="connsiteX2" fmla="*/ 6096012 w 6096012"/>
                <a:gd name="connsiteY2" fmla="*/ 6858000 h 6858000"/>
                <a:gd name="connsiteX3" fmla="*/ 3534434 w 6096012"/>
                <a:gd name="connsiteY3" fmla="*/ 6858000 h 6858000"/>
                <a:gd name="connsiteX4" fmla="*/ 2878158 w 6096012"/>
                <a:gd name="connsiteY4" fmla="*/ 6180421 h 6858000"/>
                <a:gd name="connsiteX5" fmla="*/ 2627092 w 6096012"/>
                <a:gd name="connsiteY5" fmla="*/ 539437 h 6858000"/>
                <a:gd name="connsiteX6" fmla="*/ 5254183 w 6096012"/>
                <a:gd name="connsiteY6" fmla="*/ 3251804 h 6858000"/>
                <a:gd name="connsiteX7" fmla="*/ 2627092 w 6096012"/>
                <a:gd name="connsiteY7" fmla="*/ 5964171 h 6858000"/>
                <a:gd name="connsiteX8" fmla="*/ 0 w 6096012"/>
                <a:gd name="connsiteY8" fmla="*/ 3251804 h 6858000"/>
                <a:gd name="connsiteX9" fmla="*/ 4081125 w 6096012"/>
                <a:gd name="connsiteY9" fmla="*/ 0 h 6858000"/>
                <a:gd name="connsiteX10" fmla="*/ 6096012 w 6096012"/>
                <a:gd name="connsiteY10" fmla="*/ 0 h 6858000"/>
                <a:gd name="connsiteX11" fmla="*/ 6096012 w 6096012"/>
                <a:gd name="connsiteY11" fmla="*/ 3344444 h 6858000"/>
                <a:gd name="connsiteX12" fmla="*/ 5976288 w 6096012"/>
                <a:gd name="connsiteY12" fmla="*/ 3468054 h 6858000"/>
                <a:gd name="connsiteX13" fmla="*/ 3349196 w 6096012"/>
                <a:gd name="connsiteY13" fmla="*/ 75568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96012" h="6858000">
                  <a:moveTo>
                    <a:pt x="5505250" y="3468054"/>
                  </a:moveTo>
                  <a:lnTo>
                    <a:pt x="6096012" y="4077992"/>
                  </a:lnTo>
                  <a:lnTo>
                    <a:pt x="6096012" y="6858000"/>
                  </a:lnTo>
                  <a:lnTo>
                    <a:pt x="3534434" y="6858000"/>
                  </a:lnTo>
                  <a:lnTo>
                    <a:pt x="2878158" y="6180421"/>
                  </a:lnTo>
                  <a:close/>
                  <a:moveTo>
                    <a:pt x="2627092" y="539437"/>
                  </a:moveTo>
                  <a:lnTo>
                    <a:pt x="5254183" y="3251804"/>
                  </a:lnTo>
                  <a:lnTo>
                    <a:pt x="2627092" y="5964171"/>
                  </a:lnTo>
                  <a:lnTo>
                    <a:pt x="0" y="3251804"/>
                  </a:lnTo>
                  <a:close/>
                  <a:moveTo>
                    <a:pt x="4081125" y="0"/>
                  </a:moveTo>
                  <a:lnTo>
                    <a:pt x="6096012" y="0"/>
                  </a:lnTo>
                  <a:lnTo>
                    <a:pt x="6096012" y="3344444"/>
                  </a:lnTo>
                  <a:lnTo>
                    <a:pt x="5976288" y="3468054"/>
                  </a:lnTo>
                  <a:lnTo>
                    <a:pt x="3349196" y="755687"/>
                  </a:lnTo>
                  <a:close/>
                </a:path>
              </a:pathLst>
            </a:custGeom>
            <a:blipFill dpi="0" rotWithShape="1">
              <a:blip r:embed="rId4"/>
              <a:srcRect/>
              <a:tile tx="-3175000" ty="501650" sx="65000" sy="6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0" name="菱形 9"/>
            <p:cNvSpPr/>
            <p:nvPr/>
          </p:nvSpPr>
          <p:spPr>
            <a:xfrm>
              <a:off x="9250848" y="3569208"/>
              <a:ext cx="2099323" cy="2167467"/>
            </a:xfrm>
            <a:prstGeom prst="diamond">
              <a:avLst/>
            </a:prstGeom>
            <a:solidFill>
              <a:schemeClr val="accent1">
                <a:lumMod val="9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菱形 10"/>
            <p:cNvSpPr/>
            <p:nvPr/>
          </p:nvSpPr>
          <p:spPr>
            <a:xfrm>
              <a:off x="10886540" y="4361135"/>
              <a:ext cx="652203" cy="673374"/>
            </a:xfrm>
            <a:prstGeom prst="diamond">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菱形 11"/>
            <p:cNvSpPr/>
            <p:nvPr/>
          </p:nvSpPr>
          <p:spPr>
            <a:xfrm>
              <a:off x="8729825" y="704745"/>
              <a:ext cx="900274" cy="929498"/>
            </a:xfrm>
            <a:prstGeom prst="diamond">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8456080" y="1021846"/>
              <a:ext cx="533997" cy="551331"/>
            </a:xfrm>
            <a:prstGeom prst="diamond">
              <a:avLst/>
            </a:prstGeom>
            <a:solidFill>
              <a:schemeClr val="accent1">
                <a:lumMod val="7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任意多边形: 形状 13"/>
            <p:cNvSpPr/>
            <p:nvPr/>
          </p:nvSpPr>
          <p:spPr>
            <a:xfrm>
              <a:off x="9444122" y="0"/>
              <a:ext cx="2747879" cy="3473805"/>
            </a:xfrm>
            <a:custGeom>
              <a:avLst/>
              <a:gdLst>
                <a:gd name="connsiteX0" fmla="*/ 732748 w 2747879"/>
                <a:gd name="connsiteY0" fmla="*/ 0 h 3473805"/>
                <a:gd name="connsiteX1" fmla="*/ 2747879 w 2747879"/>
                <a:gd name="connsiteY1" fmla="*/ 0 h 3473805"/>
                <a:gd name="connsiteX2" fmla="*/ 2747879 w 2747879"/>
                <a:gd name="connsiteY2" fmla="*/ 3354003 h 3473805"/>
                <a:gd name="connsiteX3" fmla="*/ 2631843 w 2747879"/>
                <a:gd name="connsiteY3" fmla="*/ 3473805 h 3473805"/>
                <a:gd name="connsiteX4" fmla="*/ 0 w 2747879"/>
                <a:gd name="connsiteY4" fmla="*/ 756533 h 3473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7879" h="3473805">
                  <a:moveTo>
                    <a:pt x="732748" y="0"/>
                  </a:moveTo>
                  <a:lnTo>
                    <a:pt x="2747879" y="0"/>
                  </a:lnTo>
                  <a:lnTo>
                    <a:pt x="2747879" y="3354003"/>
                  </a:lnTo>
                  <a:lnTo>
                    <a:pt x="2631843" y="3473805"/>
                  </a:lnTo>
                  <a:lnTo>
                    <a:pt x="0" y="756533"/>
                  </a:lnTo>
                  <a:close/>
                </a:path>
              </a:pathLst>
            </a:custGeom>
            <a:solidFill>
              <a:schemeClr val="accent1">
                <a:lumMod val="9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2" name="标题 1"/>
          <p:cNvSpPr>
            <a:spLocks noGrp="1"/>
          </p:cNvSpPr>
          <p:nvPr>
            <p:ph type="title" hasCustomPrompt="1"/>
          </p:nvPr>
        </p:nvSpPr>
        <p:spPr>
          <a:xfrm>
            <a:off x="6083300" y="1789134"/>
            <a:ext cx="5435600" cy="1371600"/>
          </a:xfrm>
        </p:spPr>
        <p:txBody>
          <a:bodyPr anchor="b">
            <a:normAutofit/>
          </a:bodyPr>
          <a:lstStyle>
            <a:lvl1pPr>
              <a:defRPr sz="3600"/>
            </a:lvl1pPr>
          </a:lstStyle>
          <a:p>
            <a:pPr lvl="0"/>
            <a:r>
              <a:rPr lang="en-US"/>
              <a:t>Click to add title</a:t>
            </a:r>
          </a:p>
        </p:txBody>
      </p:sp>
      <p:sp>
        <p:nvSpPr>
          <p:cNvPr id="3" name="文本占位符 2"/>
          <p:cNvSpPr>
            <a:spLocks noGrp="1"/>
          </p:cNvSpPr>
          <p:nvPr>
            <p:ph type="body" idx="1" hasCustomPrompt="1"/>
          </p:nvPr>
        </p:nvSpPr>
        <p:spPr>
          <a:xfrm>
            <a:off x="6083300" y="3166239"/>
            <a:ext cx="5435600" cy="2743200"/>
          </a:xfrm>
        </p:spPr>
        <p:txBody>
          <a:bodyPr>
            <a:normAutofit/>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text</a:t>
            </a:r>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en-US"/>
              <a:t>Click to add title</a:t>
            </a:r>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losing" preserve="1">
  <p:cSld name="Closing">
    <p:spTree>
      <p:nvGrpSpPr>
        <p:cNvPr id="1" name=""/>
        <p:cNvGrpSpPr/>
        <p:nvPr/>
      </p:nvGrpSpPr>
      <p:grpSpPr>
        <a:xfrm>
          <a:off x="0" y="0"/>
          <a:ext cx="0" cy="0"/>
          <a:chOff x="0" y="0"/>
          <a:chExt cx="0" cy="0"/>
        </a:xfrm>
      </p:grpSpPr>
      <p:grpSp>
        <p:nvGrpSpPr>
          <p:cNvPr id="3" name="组合 2"/>
          <p:cNvGrpSpPr/>
          <p:nvPr/>
        </p:nvGrpSpPr>
        <p:grpSpPr>
          <a:xfrm>
            <a:off x="-23" y="-1"/>
            <a:ext cx="12192024" cy="6858001"/>
            <a:chOff x="-23" y="-1"/>
            <a:chExt cx="12192024" cy="6858001"/>
          </a:xfrm>
        </p:grpSpPr>
        <p:pic>
          <p:nvPicPr>
            <p:cNvPr id="6" name="图片 5"/>
            <p:cNvPicPr>
              <a:picLocks noChangeAspect="1"/>
            </p:cNvPicPr>
            <p:nvPr/>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5900"/>
                      </a14:imgEffect>
                    </a14:imgLayer>
                  </a14:imgProps>
                </a:ext>
                <a:ext uri="{28A0092B-C50C-407E-A947-70E740481C1C}">
                  <a14:useLocalDpi xmlns:a14="http://schemas.microsoft.com/office/drawing/2010/main" val="0"/>
                </a:ext>
              </a:extLst>
            </a:blip>
            <a:srcRect l="8470" t="16941" r="8470"/>
            <a:stretch/>
          </p:blipFill>
          <p:spPr>
            <a:xfrm>
              <a:off x="-23" y="-1"/>
              <a:ext cx="12192023" cy="1619749"/>
            </a:xfrm>
            <a:prstGeom prst="rect">
              <a:avLst/>
            </a:prstGeom>
          </p:spPr>
        </p:pic>
        <p:sp>
          <p:nvSpPr>
            <p:cNvPr id="7" name="任意多边形: 形状 6"/>
            <p:cNvSpPr/>
            <p:nvPr/>
          </p:nvSpPr>
          <p:spPr>
            <a:xfrm>
              <a:off x="6095987" y="0"/>
              <a:ext cx="6096012" cy="6858000"/>
            </a:xfrm>
            <a:custGeom>
              <a:avLst/>
              <a:gdLst>
                <a:gd name="connsiteX0" fmla="*/ 5505250 w 6096012"/>
                <a:gd name="connsiteY0" fmla="*/ 3468054 h 6858000"/>
                <a:gd name="connsiteX1" fmla="*/ 6096012 w 6096012"/>
                <a:gd name="connsiteY1" fmla="*/ 4077992 h 6858000"/>
                <a:gd name="connsiteX2" fmla="*/ 6096012 w 6096012"/>
                <a:gd name="connsiteY2" fmla="*/ 6858000 h 6858000"/>
                <a:gd name="connsiteX3" fmla="*/ 3534434 w 6096012"/>
                <a:gd name="connsiteY3" fmla="*/ 6858000 h 6858000"/>
                <a:gd name="connsiteX4" fmla="*/ 2878158 w 6096012"/>
                <a:gd name="connsiteY4" fmla="*/ 6180421 h 6858000"/>
                <a:gd name="connsiteX5" fmla="*/ 2627092 w 6096012"/>
                <a:gd name="connsiteY5" fmla="*/ 539437 h 6858000"/>
                <a:gd name="connsiteX6" fmla="*/ 5254183 w 6096012"/>
                <a:gd name="connsiteY6" fmla="*/ 3251804 h 6858000"/>
                <a:gd name="connsiteX7" fmla="*/ 2627092 w 6096012"/>
                <a:gd name="connsiteY7" fmla="*/ 5964171 h 6858000"/>
                <a:gd name="connsiteX8" fmla="*/ 0 w 6096012"/>
                <a:gd name="connsiteY8" fmla="*/ 3251804 h 6858000"/>
                <a:gd name="connsiteX9" fmla="*/ 4081125 w 6096012"/>
                <a:gd name="connsiteY9" fmla="*/ 0 h 6858000"/>
                <a:gd name="connsiteX10" fmla="*/ 6096012 w 6096012"/>
                <a:gd name="connsiteY10" fmla="*/ 0 h 6858000"/>
                <a:gd name="connsiteX11" fmla="*/ 6096012 w 6096012"/>
                <a:gd name="connsiteY11" fmla="*/ 3344444 h 6858000"/>
                <a:gd name="connsiteX12" fmla="*/ 5976288 w 6096012"/>
                <a:gd name="connsiteY12" fmla="*/ 3468054 h 6858000"/>
                <a:gd name="connsiteX13" fmla="*/ 3349196 w 6096012"/>
                <a:gd name="connsiteY13" fmla="*/ 75568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96012" h="6858000">
                  <a:moveTo>
                    <a:pt x="5505250" y="3468054"/>
                  </a:moveTo>
                  <a:lnTo>
                    <a:pt x="6096012" y="4077992"/>
                  </a:lnTo>
                  <a:lnTo>
                    <a:pt x="6096012" y="6858000"/>
                  </a:lnTo>
                  <a:lnTo>
                    <a:pt x="3534434" y="6858000"/>
                  </a:lnTo>
                  <a:lnTo>
                    <a:pt x="2878158" y="6180421"/>
                  </a:lnTo>
                  <a:close/>
                  <a:moveTo>
                    <a:pt x="2627092" y="539437"/>
                  </a:moveTo>
                  <a:lnTo>
                    <a:pt x="5254183" y="3251804"/>
                  </a:lnTo>
                  <a:lnTo>
                    <a:pt x="2627092" y="5964171"/>
                  </a:lnTo>
                  <a:lnTo>
                    <a:pt x="0" y="3251804"/>
                  </a:lnTo>
                  <a:close/>
                  <a:moveTo>
                    <a:pt x="4081125" y="0"/>
                  </a:moveTo>
                  <a:lnTo>
                    <a:pt x="6096012" y="0"/>
                  </a:lnTo>
                  <a:lnTo>
                    <a:pt x="6096012" y="3344444"/>
                  </a:lnTo>
                  <a:lnTo>
                    <a:pt x="5976288" y="3468054"/>
                  </a:lnTo>
                  <a:lnTo>
                    <a:pt x="3349196" y="755687"/>
                  </a:lnTo>
                  <a:close/>
                </a:path>
              </a:pathLst>
            </a:custGeom>
            <a:blipFill dpi="0" rotWithShape="1">
              <a:blip r:embed="rId4"/>
              <a:srcRect/>
              <a:tile tx="-3175000" ty="501650" sx="65000" sy="6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8" name="菱形 7"/>
            <p:cNvSpPr/>
            <p:nvPr/>
          </p:nvSpPr>
          <p:spPr>
            <a:xfrm>
              <a:off x="9250848" y="3569208"/>
              <a:ext cx="2099323" cy="2167467"/>
            </a:xfrm>
            <a:prstGeom prst="diamond">
              <a:avLst/>
            </a:prstGeom>
            <a:solidFill>
              <a:schemeClr val="accent1">
                <a:lumMod val="9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菱形 8"/>
            <p:cNvSpPr/>
            <p:nvPr/>
          </p:nvSpPr>
          <p:spPr>
            <a:xfrm>
              <a:off x="10886540" y="4361135"/>
              <a:ext cx="652203" cy="673374"/>
            </a:xfrm>
            <a:prstGeom prst="diamond">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菱形 9"/>
            <p:cNvSpPr/>
            <p:nvPr/>
          </p:nvSpPr>
          <p:spPr>
            <a:xfrm>
              <a:off x="8729825" y="704745"/>
              <a:ext cx="900274" cy="929498"/>
            </a:xfrm>
            <a:prstGeom prst="diamond">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菱形 10"/>
            <p:cNvSpPr/>
            <p:nvPr/>
          </p:nvSpPr>
          <p:spPr>
            <a:xfrm>
              <a:off x="8456080" y="1021846"/>
              <a:ext cx="533997" cy="551331"/>
            </a:xfrm>
            <a:prstGeom prst="diamond">
              <a:avLst/>
            </a:prstGeom>
            <a:solidFill>
              <a:schemeClr val="accent1">
                <a:lumMod val="7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任意多边形: 形状 11"/>
            <p:cNvSpPr/>
            <p:nvPr/>
          </p:nvSpPr>
          <p:spPr>
            <a:xfrm>
              <a:off x="9444122" y="0"/>
              <a:ext cx="2747879" cy="3473805"/>
            </a:xfrm>
            <a:custGeom>
              <a:avLst/>
              <a:gdLst>
                <a:gd name="connsiteX0" fmla="*/ 732748 w 2747879"/>
                <a:gd name="connsiteY0" fmla="*/ 0 h 3473805"/>
                <a:gd name="connsiteX1" fmla="*/ 2747879 w 2747879"/>
                <a:gd name="connsiteY1" fmla="*/ 0 h 3473805"/>
                <a:gd name="connsiteX2" fmla="*/ 2747879 w 2747879"/>
                <a:gd name="connsiteY2" fmla="*/ 3354003 h 3473805"/>
                <a:gd name="connsiteX3" fmla="*/ 2631843 w 2747879"/>
                <a:gd name="connsiteY3" fmla="*/ 3473805 h 3473805"/>
                <a:gd name="connsiteX4" fmla="*/ 0 w 2747879"/>
                <a:gd name="connsiteY4" fmla="*/ 756533 h 3473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7879" h="3473805">
                  <a:moveTo>
                    <a:pt x="732748" y="0"/>
                  </a:moveTo>
                  <a:lnTo>
                    <a:pt x="2747879" y="0"/>
                  </a:lnTo>
                  <a:lnTo>
                    <a:pt x="2747879" y="3354003"/>
                  </a:lnTo>
                  <a:lnTo>
                    <a:pt x="2631843" y="3473805"/>
                  </a:lnTo>
                  <a:lnTo>
                    <a:pt x="0" y="756533"/>
                  </a:lnTo>
                  <a:close/>
                </a:path>
              </a:pathLst>
            </a:custGeom>
            <a:solidFill>
              <a:schemeClr val="accent1">
                <a:lumMod val="9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2" name="标题 1"/>
          <p:cNvSpPr>
            <a:spLocks noGrp="1"/>
          </p:cNvSpPr>
          <p:nvPr>
            <p:ph type="title" hasCustomPrompt="1"/>
          </p:nvPr>
        </p:nvSpPr>
        <p:spPr>
          <a:xfrm>
            <a:off x="660400" y="1130300"/>
            <a:ext cx="5507525" cy="3187700"/>
          </a:xfrm>
        </p:spPr>
        <p:txBody>
          <a:bodyPr anchor="ctr">
            <a:noAutofit/>
          </a:bodyPr>
          <a:lstStyle>
            <a:lvl1pPr>
              <a:defRPr sz="4800"/>
            </a:lvl1pPr>
          </a:lstStyle>
          <a:p>
            <a:pPr lvl="0"/>
            <a:r>
              <a:rPr lang="en-US"/>
              <a:t>Click to add title</a:t>
            </a:r>
          </a:p>
        </p:txBody>
      </p:sp>
      <p:sp>
        <p:nvSpPr>
          <p:cNvPr id="4" name="文本占位符 3"/>
          <p:cNvSpPr>
            <a:spLocks noGrp="1"/>
          </p:cNvSpPr>
          <p:nvPr>
            <p:ph type="body" sz="quarter" idx="13" hasCustomPrompt="1"/>
          </p:nvPr>
        </p:nvSpPr>
        <p:spPr>
          <a:xfrm>
            <a:off x="660400" y="5585460"/>
            <a:ext cx="3657600" cy="274320"/>
          </a:xfrm>
        </p:spPr>
        <p:txBody>
          <a:bodyPr anchor="ctr"/>
          <a:lstStyle>
            <a:lvl1pPr marL="0" indent="0" algn="l">
              <a:buNone/>
              <a:defRPr sz="1200">
                <a:solidFill>
                  <a:schemeClr val="tx1"/>
                </a:solidFill>
              </a:defRPr>
            </a:lvl1pPr>
          </a:lstStyle>
          <a:p>
            <a:pPr lvl="0"/>
            <a:r>
              <a:rPr lang="en-US"/>
              <a:t>Presenter name</a:t>
            </a:r>
          </a:p>
        </p:txBody>
      </p:sp>
      <p:sp>
        <p:nvSpPr>
          <p:cNvPr id="5" name="文本占位符 4"/>
          <p:cNvSpPr>
            <a:spLocks noGrp="1"/>
          </p:cNvSpPr>
          <p:nvPr>
            <p:ph type="body" sz="quarter" idx="14" hasCustomPrompt="1"/>
          </p:nvPr>
        </p:nvSpPr>
        <p:spPr>
          <a:xfrm>
            <a:off x="660400" y="5859780"/>
            <a:ext cx="3657600" cy="274320"/>
          </a:xfrm>
        </p:spPr>
        <p:txBody>
          <a:bodyPr anchor="ctr"/>
          <a:lstStyle>
            <a:lvl1pPr marL="0" indent="0">
              <a:buNone/>
              <a:defRPr sz="1200">
                <a:solidFill>
                  <a:schemeClr val="tx1"/>
                </a:solidFill>
              </a:defRPr>
            </a:lvl1pPr>
          </a:lstStyle>
          <a:p>
            <a:pPr lvl="0"/>
            <a:r>
              <a:rPr lang="en-US"/>
              <a:t>www.islide.cc</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29581-8E49-3187-0831-CA722CECBF42}"/>
              </a:ext>
            </a:extLst>
          </p:cNvPr>
          <p:cNvSpPr>
            <a:spLocks noGrp="1"/>
          </p:cNvSpPr>
          <p:nvPr>
            <p:ph type="ctrTitle"/>
          </p:nvPr>
        </p:nvSpPr>
        <p:spPr>
          <a:xfrm>
            <a:off x="660399" y="1130300"/>
            <a:ext cx="5921984" cy="2217118"/>
          </a:xfrm>
        </p:spPr>
        <p:txBody>
          <a:bodyPr>
            <a:normAutofit/>
          </a:bodyPr>
          <a:lstStyle/>
          <a:p>
            <a:pPr lvl="0"/>
            <a:r>
              <a:rPr lang="en-US" altLang="zh-CN" sz="2800" dirty="0"/>
              <a:t>Automated LLM </a:t>
            </a:r>
            <a:br>
              <a:rPr lang="en-US" altLang="zh-CN" sz="2800" dirty="0"/>
            </a:br>
            <a:r>
              <a:rPr lang="en-US" altLang="zh-CN" sz="2800" dirty="0"/>
              <a:t>Report Generation</a:t>
            </a:r>
            <a:endParaRPr lang="en-US" sz="2800" dirty="0">
              <a:ea typeface="+mn-ea"/>
            </a:endParaRPr>
          </a:p>
        </p:txBody>
      </p:sp>
      <p:sp>
        <p:nvSpPr>
          <p:cNvPr id="5" name="Text Placeholder 4">
            <a:extLst>
              <a:ext uri="{FF2B5EF4-FFF2-40B4-BE49-F238E27FC236}">
                <a16:creationId xmlns:a16="http://schemas.microsoft.com/office/drawing/2014/main" id="{78632ADE-C80C-1FF6-5F58-C394A61B4187}"/>
              </a:ext>
            </a:extLst>
          </p:cNvPr>
          <p:cNvSpPr>
            <a:spLocks noGrp="1"/>
          </p:cNvSpPr>
          <p:nvPr>
            <p:ph type="body" sz="quarter" idx="13"/>
          </p:nvPr>
        </p:nvSpPr>
        <p:spPr>
          <a:xfrm>
            <a:off x="660399" y="5585459"/>
            <a:ext cx="7936346" cy="900007"/>
          </a:xfrm>
        </p:spPr>
        <p:txBody>
          <a:bodyPr>
            <a:normAutofit/>
          </a:bodyPr>
          <a:lstStyle/>
          <a:p>
            <a:pPr lvl="0"/>
            <a:r>
              <a:rPr lang="en-US" altLang="zh-CN" sz="1600" b="1" dirty="0">
                <a:latin typeface="+mj-lt"/>
              </a:rPr>
              <a:t>Lim Weijen</a:t>
            </a:r>
            <a:br>
              <a:rPr lang="en-US" altLang="zh-CN" sz="1600" b="1" dirty="0">
                <a:latin typeface="+mj-lt"/>
              </a:rPr>
            </a:br>
            <a:r>
              <a:rPr lang="en-US" altLang="zh-CN" sz="1600" dirty="0">
                <a:latin typeface="+mj-lt"/>
              </a:rPr>
              <a:t>Project Link: </a:t>
            </a:r>
            <a:r>
              <a:rPr lang="en-US" altLang="zh-CN" sz="1600" u="sng" dirty="0">
                <a:latin typeface="+mj-lt"/>
              </a:rPr>
              <a:t>https://github.com/weijen17/ReportGenerationAsgn</a:t>
            </a:r>
            <a:endParaRPr lang="en-US" sz="1600" u="sng" dirty="0">
              <a:latin typeface="+mj-lt"/>
            </a:endParaRPr>
          </a:p>
        </p:txBody>
      </p:sp>
    </p:spTree>
    <p:extLst>
      <p:ext uri="{BB962C8B-B14F-4D97-AF65-F5344CB8AC3E}">
        <p14:creationId xmlns:p14="http://schemas.microsoft.com/office/powerpoint/2010/main" val="3234597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10B43-9DB5-8184-A3C5-28199FC082C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3AA7249-9FDD-8FA3-7E5E-6567D6C84AAE}"/>
              </a:ext>
            </a:extLst>
          </p:cNvPr>
          <p:cNvSpPr>
            <a:spLocks noGrp="1"/>
          </p:cNvSpPr>
          <p:nvPr>
            <p:ph type="sldNum" sz="quarter" idx="12"/>
          </p:nvPr>
        </p:nvSpPr>
        <p:spPr>
          <a:xfrm>
            <a:off x="7861300" y="6409690"/>
            <a:ext cx="3657600" cy="274320"/>
          </a:xfrm>
        </p:spPr>
        <p:txBody>
          <a:bodyPr/>
          <a:lstStyle/>
          <a:p>
            <a:fld id="{C8BB1146-E542-4D4E-B8E9-6919A11DDD48}" type="slidenum">
              <a:rPr lang="en-US" smtClean="0"/>
              <a:pPr/>
              <a:t>2</a:t>
            </a:fld>
            <a:endParaRPr lang="en-US"/>
          </a:p>
        </p:txBody>
      </p:sp>
      <p:sp>
        <p:nvSpPr>
          <p:cNvPr id="11" name="Title 1">
            <a:extLst>
              <a:ext uri="{FF2B5EF4-FFF2-40B4-BE49-F238E27FC236}">
                <a16:creationId xmlns:a16="http://schemas.microsoft.com/office/drawing/2014/main" id="{7A8C63FD-AABB-67D8-FB24-9A1A4C64FE76}"/>
              </a:ext>
            </a:extLst>
          </p:cNvPr>
          <p:cNvSpPr>
            <a:spLocks noGrp="1"/>
          </p:cNvSpPr>
          <p:nvPr>
            <p:ph type="title"/>
          </p:nvPr>
        </p:nvSpPr>
        <p:spPr>
          <a:xfrm>
            <a:off x="6214533" y="1279637"/>
            <a:ext cx="2836562" cy="915667"/>
          </a:xfrm>
        </p:spPr>
        <p:txBody>
          <a:bodyPr/>
          <a:lstStyle/>
          <a:p>
            <a:pPr lvl="0"/>
            <a:r>
              <a:rPr lang="en-US" dirty="0">
                <a:ea typeface="+mn-ea"/>
              </a:rPr>
              <a:t>Agenda</a:t>
            </a:r>
          </a:p>
        </p:txBody>
      </p:sp>
      <p:sp>
        <p:nvSpPr>
          <p:cNvPr id="12" name="Content Placeholder 2">
            <a:extLst>
              <a:ext uri="{FF2B5EF4-FFF2-40B4-BE49-F238E27FC236}">
                <a16:creationId xmlns:a16="http://schemas.microsoft.com/office/drawing/2014/main" id="{3B4A7FC7-F023-25FD-563D-3DA8D7F6B2AB}"/>
              </a:ext>
            </a:extLst>
          </p:cNvPr>
          <p:cNvSpPr txBox="1">
            <a:spLocks/>
          </p:cNvSpPr>
          <p:nvPr/>
        </p:nvSpPr>
        <p:spPr>
          <a:xfrm>
            <a:off x="6214533" y="2526667"/>
            <a:ext cx="5422899" cy="3348459"/>
          </a:xfrm>
          <a:prstGeom prst="rect">
            <a:avLst/>
          </a:prstGeom>
        </p:spPr>
        <p:txBody>
          <a:bodyPr vert="horz" lIns="91440" tIns="45720" rIns="91440" bIns="45720" rtlCol="0">
            <a:normAutofit/>
          </a:bodyPr>
          <a:lstStyle>
            <a:lvl1pPr marL="0" indent="0" algn="l" defTabSz="914400" rtl="0" eaLnBrk="1" latinLnBrk="0" hangingPunct="1">
              <a:lnSpc>
                <a:spcPct val="12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2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2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buFont typeface="+mj-lt"/>
              <a:buAutoNum type="arabicPeriod"/>
            </a:pPr>
            <a:r>
              <a:rPr lang="en-US" dirty="0"/>
              <a:t>Key Guiding Principles</a:t>
            </a:r>
          </a:p>
          <a:p>
            <a:pPr marL="342900" indent="-342900">
              <a:buFont typeface="+mj-lt"/>
              <a:buAutoNum type="arabicPeriod"/>
            </a:pPr>
            <a:r>
              <a:rPr lang="en-US" altLang="zh-CN" dirty="0"/>
              <a:t>Workflow Design</a:t>
            </a:r>
            <a:endParaRPr lang="en-US" dirty="0"/>
          </a:p>
          <a:p>
            <a:pPr marL="342900" indent="-342900">
              <a:buFont typeface="+mj-lt"/>
              <a:buAutoNum type="arabicPeriod"/>
            </a:pPr>
            <a:r>
              <a:rPr lang="en-US" dirty="0"/>
              <a:t>Prompt Design</a:t>
            </a:r>
          </a:p>
          <a:p>
            <a:pPr marL="342900" indent="-342900">
              <a:buFont typeface="+mj-lt"/>
              <a:buAutoNum type="arabicPeriod"/>
            </a:pPr>
            <a:r>
              <a:rPr lang="en-US" dirty="0"/>
              <a:t>File System and Documentation</a:t>
            </a:r>
          </a:p>
          <a:p>
            <a:pPr marL="342900" indent="-342900">
              <a:buFont typeface="+mj-lt"/>
              <a:buAutoNum type="arabicPeriod"/>
            </a:pPr>
            <a:r>
              <a:rPr lang="en-US" altLang="zh-CN" dirty="0"/>
              <a:t>Evaluation Framework</a:t>
            </a:r>
            <a:endParaRPr lang="en-US" dirty="0"/>
          </a:p>
          <a:p>
            <a:pPr marL="342900" indent="-342900">
              <a:buFont typeface="+mj-lt"/>
              <a:buAutoNum type="arabicPeriod"/>
            </a:pPr>
            <a:r>
              <a:rPr lang="en-US" altLang="zh-CN"/>
              <a:t>Ongoing </a:t>
            </a:r>
            <a:r>
              <a:rPr lang="en-US" altLang="zh-CN" dirty="0"/>
              <a:t>Refinement</a:t>
            </a:r>
          </a:p>
          <a:p>
            <a:pPr marL="342900" indent="-342900">
              <a:buFont typeface="+mj-lt"/>
              <a:buAutoNum type="arabicPeriod"/>
            </a:pPr>
            <a:r>
              <a:rPr lang="en-US" dirty="0"/>
              <a:t>Appendix</a:t>
            </a:r>
          </a:p>
        </p:txBody>
      </p:sp>
    </p:spTree>
    <p:extLst>
      <p:ext uri="{BB962C8B-B14F-4D97-AF65-F5344CB8AC3E}">
        <p14:creationId xmlns:p14="http://schemas.microsoft.com/office/powerpoint/2010/main" val="2806115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7D3CB-E1A1-F9E3-D08C-835564EE6AEE}"/>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56802AC8-19A4-F061-1A58-55397E95DE01}"/>
              </a:ext>
            </a:extLst>
          </p:cNvPr>
          <p:cNvGrpSpPr/>
          <p:nvPr/>
        </p:nvGrpSpPr>
        <p:grpSpPr>
          <a:xfrm>
            <a:off x="660399" y="1130301"/>
            <a:ext cx="10858501" cy="5241470"/>
            <a:chOff x="660399" y="1130301"/>
            <a:chExt cx="10858501" cy="4485023"/>
          </a:xfrm>
        </p:grpSpPr>
        <p:sp>
          <p:nvSpPr>
            <p:cNvPr id="4" name="Title">
              <a:extLst>
                <a:ext uri="{FF2B5EF4-FFF2-40B4-BE49-F238E27FC236}">
                  <a16:creationId xmlns:a16="http://schemas.microsoft.com/office/drawing/2014/main" id="{5D1CC33A-A6FD-3C2B-5D4B-EA5BFA5CA5DD}"/>
                </a:ext>
              </a:extLst>
            </p:cNvPr>
            <p:cNvSpPr txBox="1"/>
            <p:nvPr/>
          </p:nvSpPr>
          <p:spPr>
            <a:xfrm>
              <a:off x="660400" y="1130301"/>
              <a:ext cx="10858500" cy="785963"/>
            </a:xfrm>
            <a:prstGeom prst="rect">
              <a:avLst/>
            </a:prstGeom>
            <a:noFill/>
          </p:spPr>
          <p:txBody>
            <a:bodyPr vert="horz"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200" b="1" dirty="0"/>
                <a:t>Key principles that guide and shape how reports are generated</a:t>
              </a:r>
              <a:endParaRPr lang="zh-CN" altLang="en-US" sz="2200" b="1" dirty="0"/>
            </a:p>
          </p:txBody>
        </p:sp>
        <p:grpSp>
          <p:nvGrpSpPr>
            <p:cNvPr id="5" name="组合 4">
              <a:extLst>
                <a:ext uri="{FF2B5EF4-FFF2-40B4-BE49-F238E27FC236}">
                  <a16:creationId xmlns:a16="http://schemas.microsoft.com/office/drawing/2014/main" id="{D2AE763A-6792-9612-C092-3842B0DA7962}"/>
                </a:ext>
              </a:extLst>
            </p:cNvPr>
            <p:cNvGrpSpPr/>
            <p:nvPr/>
          </p:nvGrpSpPr>
          <p:grpSpPr>
            <a:xfrm>
              <a:off x="660399" y="2120900"/>
              <a:ext cx="5190587" cy="3494424"/>
              <a:chOff x="716011" y="2547809"/>
              <a:chExt cx="2536803" cy="2879662"/>
            </a:xfrm>
          </p:grpSpPr>
          <p:sp>
            <p:nvSpPr>
              <p:cNvPr id="12" name="ComponentBackground1">
                <a:extLst>
                  <a:ext uri="{FF2B5EF4-FFF2-40B4-BE49-F238E27FC236}">
                    <a16:creationId xmlns:a16="http://schemas.microsoft.com/office/drawing/2014/main" id="{7F16ACAE-0C86-8A1B-6AC4-AB8450B6B9F8}"/>
                  </a:ext>
                </a:extLst>
              </p:cNvPr>
              <p:cNvSpPr/>
              <p:nvPr/>
            </p:nvSpPr>
            <p:spPr>
              <a:xfrm>
                <a:off x="716011" y="2547809"/>
                <a:ext cx="2536803" cy="2756229"/>
              </a:xfrm>
              <a:prstGeom prst="roundRect">
                <a:avLst>
                  <a:gd name="adj" fmla="val 5321"/>
                </a:avLst>
              </a:prstGeom>
              <a:noFill/>
              <a:ln w="1905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solidFill>
                </a:endParaRPr>
              </a:p>
            </p:txBody>
          </p:sp>
          <p:sp>
            <p:nvSpPr>
              <p:cNvPr id="13" name="Text1">
                <a:extLst>
                  <a:ext uri="{FF2B5EF4-FFF2-40B4-BE49-F238E27FC236}">
                    <a16:creationId xmlns:a16="http://schemas.microsoft.com/office/drawing/2014/main" id="{1FC8F569-4024-D416-F3AB-29B8FFB5B794}"/>
                  </a:ext>
                </a:extLst>
              </p:cNvPr>
              <p:cNvSpPr txBox="1"/>
              <p:nvPr/>
            </p:nvSpPr>
            <p:spPr>
              <a:xfrm>
                <a:off x="827186" y="3114743"/>
                <a:ext cx="2314454" cy="2312728"/>
              </a:xfrm>
              <a:prstGeom prst="rect">
                <a:avLst/>
              </a:prstGeom>
              <a:noFill/>
            </p:spPr>
            <p:txBody>
              <a:bodyPr wrap="square" rtlCol="0" anchor="t" anchorCtr="0">
                <a:normAutofit fontScale="92500" lnSpcReduction="10000"/>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altLang="zh-CN" sz="1600" b="1" dirty="0">
                    <a:solidFill>
                      <a:schemeClr val="tx1"/>
                    </a:solidFill>
                  </a:rPr>
                  <a:t>1. 80% exploitation + 20% exploration</a:t>
                </a:r>
              </a:p>
              <a:p>
                <a:pPr algn="l">
                  <a:lnSpc>
                    <a:spcPct val="120000"/>
                  </a:lnSpc>
                </a:pPr>
                <a:r>
                  <a:rPr lang="en-US" altLang="zh-CN" sz="1600" dirty="0">
                    <a:solidFill>
                      <a:schemeClr val="tx1"/>
                    </a:solidFill>
                  </a:rPr>
                  <a:t>Provide narrative beforehand based on past knowledge, and exploit on it. Reframing the narrative based on findings from data exploration. </a:t>
                </a:r>
              </a:p>
              <a:p>
                <a:pPr algn="l">
                  <a:lnSpc>
                    <a:spcPct val="120000"/>
                  </a:lnSpc>
                </a:pPr>
                <a:br>
                  <a:rPr lang="en-US" altLang="zh-CN" sz="1600" dirty="0">
                    <a:solidFill>
                      <a:schemeClr val="tx1"/>
                    </a:solidFill>
                  </a:rPr>
                </a:br>
                <a:r>
                  <a:rPr lang="en-US" altLang="zh-CN" sz="1600" b="1" dirty="0">
                    <a:solidFill>
                      <a:schemeClr val="tx1"/>
                    </a:solidFill>
                  </a:rPr>
                  <a:t>2. Focus on Key Insights</a:t>
                </a:r>
              </a:p>
              <a:p>
                <a:pPr algn="l">
                  <a:lnSpc>
                    <a:spcPct val="120000"/>
                  </a:lnSpc>
                </a:pPr>
                <a:r>
                  <a:rPr lang="en-US" altLang="zh-CN" sz="1600" dirty="0">
                    <a:solidFill>
                      <a:schemeClr val="tx1"/>
                    </a:solidFill>
                  </a:rPr>
                  <a:t>Focus on key findings that coherent to the narrative</a:t>
                </a:r>
              </a:p>
              <a:p>
                <a:pPr algn="l">
                  <a:lnSpc>
                    <a:spcPct val="120000"/>
                  </a:lnSpc>
                </a:pPr>
                <a:endParaRPr lang="en-US" altLang="zh-CN" sz="1600" dirty="0">
                  <a:solidFill>
                    <a:schemeClr val="tx1"/>
                  </a:solidFill>
                </a:endParaRPr>
              </a:p>
              <a:p>
                <a:pPr algn="l">
                  <a:lnSpc>
                    <a:spcPct val="120000"/>
                  </a:lnSpc>
                </a:pPr>
                <a:r>
                  <a:rPr lang="en-US" altLang="zh-CN" sz="1600" b="1" dirty="0">
                    <a:solidFill>
                      <a:schemeClr val="tx1"/>
                    </a:solidFill>
                  </a:rPr>
                  <a:t>3. Narrative Conciseness, Coherence and Faithfulness</a:t>
                </a:r>
                <a:br>
                  <a:rPr lang="en-US" altLang="zh-CN" sz="1600" dirty="0">
                    <a:solidFill>
                      <a:schemeClr val="tx1"/>
                    </a:solidFill>
                  </a:rPr>
                </a:br>
                <a:r>
                  <a:rPr lang="en-US" altLang="zh-CN" sz="1600" dirty="0">
                    <a:solidFill>
                      <a:schemeClr val="tx1"/>
                    </a:solidFill>
                  </a:rPr>
                  <a:t>The report findings and narrative should be highly coherent, concise, and stay truthful to the findings.</a:t>
                </a:r>
              </a:p>
            </p:txBody>
          </p:sp>
          <p:sp>
            <p:nvSpPr>
              <p:cNvPr id="14" name="Bullet1">
                <a:extLst>
                  <a:ext uri="{FF2B5EF4-FFF2-40B4-BE49-F238E27FC236}">
                    <a16:creationId xmlns:a16="http://schemas.microsoft.com/office/drawing/2014/main" id="{1796BACB-12FC-9264-61EA-60D62CE2B14A}"/>
                  </a:ext>
                </a:extLst>
              </p:cNvPr>
              <p:cNvSpPr txBox="1"/>
              <p:nvPr/>
            </p:nvSpPr>
            <p:spPr>
              <a:xfrm>
                <a:off x="827186" y="2635719"/>
                <a:ext cx="2314452" cy="616575"/>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altLang="zh-CN" sz="2000" b="1" dirty="0">
                    <a:solidFill>
                      <a:schemeClr val="accent1"/>
                    </a:solidFill>
                  </a:rPr>
                  <a:t>1.</a:t>
                </a:r>
                <a:r>
                  <a:rPr lang="zh-CN" altLang="en-US" sz="2000" b="1" dirty="0">
                    <a:solidFill>
                      <a:schemeClr val="accent1"/>
                    </a:solidFill>
                  </a:rPr>
                  <a:t> </a:t>
                </a:r>
                <a:r>
                  <a:rPr lang="en-US" altLang="zh-CN" sz="2000" b="1" dirty="0">
                    <a:solidFill>
                      <a:schemeClr val="accent1"/>
                    </a:solidFill>
                  </a:rPr>
                  <a:t>Analysis Principles</a:t>
                </a:r>
              </a:p>
            </p:txBody>
          </p:sp>
        </p:grpSp>
        <p:grpSp>
          <p:nvGrpSpPr>
            <p:cNvPr id="6" name="组合 5">
              <a:extLst>
                <a:ext uri="{FF2B5EF4-FFF2-40B4-BE49-F238E27FC236}">
                  <a16:creationId xmlns:a16="http://schemas.microsoft.com/office/drawing/2014/main" id="{C5CE951A-54AC-DA13-8519-36C1445C614E}"/>
                </a:ext>
              </a:extLst>
            </p:cNvPr>
            <p:cNvGrpSpPr/>
            <p:nvPr/>
          </p:nvGrpSpPr>
          <p:grpSpPr>
            <a:xfrm>
              <a:off x="6328313" y="2120899"/>
              <a:ext cx="5190587" cy="3494420"/>
              <a:chOff x="1666043" y="2547808"/>
              <a:chExt cx="2536803" cy="2879658"/>
            </a:xfrm>
          </p:grpSpPr>
          <p:sp>
            <p:nvSpPr>
              <p:cNvPr id="9" name="ComponentBackground2">
                <a:extLst>
                  <a:ext uri="{FF2B5EF4-FFF2-40B4-BE49-F238E27FC236}">
                    <a16:creationId xmlns:a16="http://schemas.microsoft.com/office/drawing/2014/main" id="{A5ACF3CA-9396-A8C5-DFEF-516764B8C275}"/>
                  </a:ext>
                </a:extLst>
              </p:cNvPr>
              <p:cNvSpPr/>
              <p:nvPr/>
            </p:nvSpPr>
            <p:spPr>
              <a:xfrm>
                <a:off x="1666043" y="2547808"/>
                <a:ext cx="2536803" cy="2756228"/>
              </a:xfrm>
              <a:prstGeom prst="roundRect">
                <a:avLst>
                  <a:gd name="adj" fmla="val 5321"/>
                </a:avLst>
              </a:prstGeom>
              <a:noFill/>
              <a:ln w="19050">
                <a:solidFill>
                  <a:schemeClr val="accent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10" name="Text2">
                <a:extLst>
                  <a:ext uri="{FF2B5EF4-FFF2-40B4-BE49-F238E27FC236}">
                    <a16:creationId xmlns:a16="http://schemas.microsoft.com/office/drawing/2014/main" id="{86AEF5EA-3918-03A1-4171-7F1CCD638726}"/>
                  </a:ext>
                </a:extLst>
              </p:cNvPr>
              <p:cNvSpPr txBox="1"/>
              <p:nvPr/>
            </p:nvSpPr>
            <p:spPr>
              <a:xfrm>
                <a:off x="1777217" y="3114738"/>
                <a:ext cx="2314454" cy="2312728"/>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altLang="zh-CN" sz="1600" b="1" dirty="0">
                    <a:solidFill>
                      <a:schemeClr val="tx1"/>
                    </a:solidFill>
                  </a:rPr>
                  <a:t>1. Generate consistent, concise, and faithful result that is aligned to the objective</a:t>
                </a:r>
              </a:p>
              <a:p>
                <a:pPr marL="342900" indent="-342900" algn="l">
                  <a:lnSpc>
                    <a:spcPct val="120000"/>
                  </a:lnSpc>
                  <a:buAutoNum type="arabicPeriod"/>
                </a:pPr>
                <a:endParaRPr lang="en-US" altLang="zh-CN" sz="1600" b="1" dirty="0">
                  <a:solidFill>
                    <a:schemeClr val="tx1"/>
                  </a:solidFill>
                </a:endParaRPr>
              </a:p>
              <a:p>
                <a:pPr algn="l">
                  <a:lnSpc>
                    <a:spcPct val="120000"/>
                  </a:lnSpc>
                </a:pPr>
                <a:r>
                  <a:rPr lang="en-US" altLang="zh-CN" sz="1600" b="1" dirty="0">
                    <a:solidFill>
                      <a:schemeClr val="tx1"/>
                    </a:solidFill>
                  </a:rPr>
                  <a:t>2. Clean and structured workflow</a:t>
                </a:r>
                <a:br>
                  <a:rPr lang="en-US" altLang="zh-CN" sz="1600" dirty="0">
                    <a:solidFill>
                      <a:schemeClr val="tx1"/>
                    </a:solidFill>
                  </a:rPr>
                </a:br>
                <a:br>
                  <a:rPr lang="en-US" altLang="zh-CN" sz="1600" dirty="0">
                    <a:solidFill>
                      <a:schemeClr val="tx1"/>
                    </a:solidFill>
                  </a:rPr>
                </a:br>
                <a:r>
                  <a:rPr lang="en-US" altLang="zh-CN" sz="1600" b="1" dirty="0">
                    <a:solidFill>
                      <a:schemeClr val="tx1"/>
                    </a:solidFill>
                  </a:rPr>
                  <a:t>3. Optimal level of granularity for each agent or workflow module, for ease of orchestration.</a:t>
                </a:r>
              </a:p>
              <a:p>
                <a:pPr algn="l">
                  <a:lnSpc>
                    <a:spcPct val="120000"/>
                  </a:lnSpc>
                </a:pPr>
                <a:endParaRPr lang="en-US" altLang="zh-CN" sz="1600" b="1" dirty="0">
                  <a:solidFill>
                    <a:schemeClr val="tx1"/>
                  </a:solidFill>
                </a:endParaRPr>
              </a:p>
              <a:p>
                <a:pPr algn="l">
                  <a:lnSpc>
                    <a:spcPct val="120000"/>
                  </a:lnSpc>
                </a:pPr>
                <a:r>
                  <a:rPr lang="en-US" altLang="zh-CN" sz="1600" b="1" dirty="0">
                    <a:solidFill>
                      <a:schemeClr val="tx1"/>
                    </a:solidFill>
                  </a:rPr>
                  <a:t>4. Transparency and Traceability</a:t>
                </a:r>
              </a:p>
            </p:txBody>
          </p:sp>
          <p:sp>
            <p:nvSpPr>
              <p:cNvPr id="11" name="Bullet2">
                <a:extLst>
                  <a:ext uri="{FF2B5EF4-FFF2-40B4-BE49-F238E27FC236}">
                    <a16:creationId xmlns:a16="http://schemas.microsoft.com/office/drawing/2014/main" id="{39D274D6-738D-F0CD-EE0E-FF6333E23D38}"/>
                  </a:ext>
                </a:extLst>
              </p:cNvPr>
              <p:cNvSpPr txBox="1"/>
              <p:nvPr/>
            </p:nvSpPr>
            <p:spPr>
              <a:xfrm>
                <a:off x="1777217" y="2635719"/>
                <a:ext cx="2314452" cy="572094"/>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altLang="zh-CN" sz="2000" b="1" dirty="0">
                    <a:solidFill>
                      <a:schemeClr val="accent1">
                        <a:lumMod val="50000"/>
                      </a:schemeClr>
                    </a:solidFill>
                  </a:rPr>
                  <a:t>2. LLM/Agent Principles</a:t>
                </a:r>
              </a:p>
            </p:txBody>
          </p:sp>
        </p:grpSp>
        <p:sp>
          <p:nvSpPr>
            <p:cNvPr id="7" name="矩形: 圆角 6">
              <a:extLst>
                <a:ext uri="{FF2B5EF4-FFF2-40B4-BE49-F238E27FC236}">
                  <a16:creationId xmlns:a16="http://schemas.microsoft.com/office/drawing/2014/main" id="{6A9A2DED-9111-E339-4F0B-C314AA767F51}"/>
                </a:ext>
              </a:extLst>
            </p:cNvPr>
            <p:cNvSpPr/>
            <p:nvPr/>
          </p:nvSpPr>
          <p:spPr>
            <a:xfrm>
              <a:off x="790327" y="2069305"/>
              <a:ext cx="673200" cy="105569"/>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AE8CE0DA-3E4F-7D15-3BA1-EB03A60FA45B}"/>
                </a:ext>
              </a:extLst>
            </p:cNvPr>
            <p:cNvSpPr/>
            <p:nvPr/>
          </p:nvSpPr>
          <p:spPr>
            <a:xfrm>
              <a:off x="6448692" y="2069305"/>
              <a:ext cx="673200" cy="105569"/>
            </a:xfrm>
            <a:prstGeom prst="round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a:extLst>
              <a:ext uri="{FF2B5EF4-FFF2-40B4-BE49-F238E27FC236}">
                <a16:creationId xmlns:a16="http://schemas.microsoft.com/office/drawing/2014/main" id="{BA8584CC-7A09-6CF0-3F4A-C6F28A4660A7}"/>
              </a:ext>
            </a:extLst>
          </p:cNvPr>
          <p:cNvSpPr>
            <a:spLocks noGrp="1"/>
          </p:cNvSpPr>
          <p:nvPr>
            <p:ph type="title"/>
          </p:nvPr>
        </p:nvSpPr>
        <p:spPr/>
        <p:txBody>
          <a:bodyPr>
            <a:normAutofit/>
          </a:bodyPr>
          <a:lstStyle/>
          <a:p>
            <a:r>
              <a:rPr lang="en-US" altLang="zh-CN" dirty="0"/>
              <a:t>Key Guiding Principles</a:t>
            </a:r>
            <a:endParaRPr lang="zh-CN" altLang="en-US" dirty="0"/>
          </a:p>
        </p:txBody>
      </p:sp>
    </p:spTree>
    <p:extLst>
      <p:ext uri="{BB962C8B-B14F-4D97-AF65-F5344CB8AC3E}">
        <p14:creationId xmlns:p14="http://schemas.microsoft.com/office/powerpoint/2010/main" val="3414147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54693-56E2-85AC-CD39-67B28B5FE850}"/>
            </a:ext>
          </a:extLst>
        </p:cNvPr>
        <p:cNvGrpSpPr/>
        <p:nvPr/>
      </p:nvGrpSpPr>
      <p:grpSpPr>
        <a:xfrm>
          <a:off x="0" y="0"/>
          <a:ext cx="0" cy="0"/>
          <a:chOff x="0" y="0"/>
          <a:chExt cx="0" cy="0"/>
        </a:xfrm>
      </p:grpSpPr>
      <p:sp>
        <p:nvSpPr>
          <p:cNvPr id="4" name="任意多边形: 形状 3">
            <a:extLst>
              <a:ext uri="{FF2B5EF4-FFF2-40B4-BE49-F238E27FC236}">
                <a16:creationId xmlns:a16="http://schemas.microsoft.com/office/drawing/2014/main" id="{E35F3BE2-C1A0-1976-2EFA-2347BAA14F05}"/>
              </a:ext>
            </a:extLst>
          </p:cNvPr>
          <p:cNvSpPr/>
          <p:nvPr/>
        </p:nvSpPr>
        <p:spPr>
          <a:xfrm>
            <a:off x="-635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flip="none" rotWithShape="1">
            <a:gsLst>
              <a:gs pos="3000">
                <a:schemeClr val="accent1">
                  <a:alpha val="0"/>
                </a:schemeClr>
              </a:gs>
              <a:gs pos="100000">
                <a:schemeClr val="accent1">
                  <a:alpha val="1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1" name="标题 10">
            <a:extLst>
              <a:ext uri="{FF2B5EF4-FFF2-40B4-BE49-F238E27FC236}">
                <a16:creationId xmlns:a16="http://schemas.microsoft.com/office/drawing/2014/main" id="{D34E42A0-0BE9-A133-AFC4-B37563C46CBC}"/>
              </a:ext>
            </a:extLst>
          </p:cNvPr>
          <p:cNvSpPr>
            <a:spLocks noGrp="1"/>
          </p:cNvSpPr>
          <p:nvPr>
            <p:ph type="title"/>
          </p:nvPr>
        </p:nvSpPr>
        <p:spPr/>
        <p:txBody>
          <a:bodyPr/>
          <a:lstStyle/>
          <a:p>
            <a:r>
              <a:rPr lang="en-US" altLang="zh-CN" dirty="0"/>
              <a:t>Workflow Design for LLM Report Generation</a:t>
            </a:r>
            <a:endParaRPr lang="zh-CN" altLang="en-US" dirty="0"/>
          </a:p>
        </p:txBody>
      </p:sp>
      <p:grpSp>
        <p:nvGrpSpPr>
          <p:cNvPr id="2" name="组合 1">
            <a:extLst>
              <a:ext uri="{FF2B5EF4-FFF2-40B4-BE49-F238E27FC236}">
                <a16:creationId xmlns:a16="http://schemas.microsoft.com/office/drawing/2014/main" id="{1E2F61AC-87B4-C425-D3AF-F2113C9C3D99}"/>
              </a:ext>
            </a:extLst>
          </p:cNvPr>
          <p:cNvGrpSpPr/>
          <p:nvPr/>
        </p:nvGrpSpPr>
        <p:grpSpPr>
          <a:xfrm>
            <a:off x="658812" y="804720"/>
            <a:ext cx="10874376" cy="4933501"/>
            <a:chOff x="658812" y="1130300"/>
            <a:chExt cx="10874376" cy="4933501"/>
          </a:xfrm>
        </p:grpSpPr>
        <p:sp>
          <p:nvSpPr>
            <p:cNvPr id="3" name="ïşļidè">
              <a:extLst>
                <a:ext uri="{FF2B5EF4-FFF2-40B4-BE49-F238E27FC236}">
                  <a16:creationId xmlns:a16="http://schemas.microsoft.com/office/drawing/2014/main" id="{C00A67CF-1CE4-20C7-F3F5-5C61785E8CC8}"/>
                </a:ext>
              </a:extLst>
            </p:cNvPr>
            <p:cNvSpPr/>
            <p:nvPr/>
          </p:nvSpPr>
          <p:spPr bwMode="auto">
            <a:xfrm>
              <a:off x="1065213" y="2466179"/>
              <a:ext cx="10061575" cy="3563938"/>
            </a:xfrm>
            <a:custGeom>
              <a:avLst/>
              <a:gdLst>
                <a:gd name="T0" fmla="*/ 370 w 3241"/>
                <a:gd name="T1" fmla="*/ 356 h 1146"/>
                <a:gd name="T2" fmla="*/ 276 w 3241"/>
                <a:gd name="T3" fmla="*/ 179 h 1146"/>
                <a:gd name="T4" fmla="*/ 387 w 3241"/>
                <a:gd name="T5" fmla="*/ 0 h 1146"/>
                <a:gd name="T6" fmla="*/ 598 w 3241"/>
                <a:gd name="T7" fmla="*/ 7 h 1146"/>
                <a:gd name="T8" fmla="*/ 698 w 3241"/>
                <a:gd name="T9" fmla="*/ 194 h 1146"/>
                <a:gd name="T10" fmla="*/ 965 w 3241"/>
                <a:gd name="T11" fmla="*/ 778 h 1146"/>
                <a:gd name="T12" fmla="*/ 872 w 3241"/>
                <a:gd name="T13" fmla="*/ 959 h 1146"/>
                <a:gd name="T14" fmla="*/ 1145 w 3241"/>
                <a:gd name="T15" fmla="*/ 1117 h 1146"/>
                <a:gd name="T16" fmla="*/ 1141 w 3241"/>
                <a:gd name="T17" fmla="*/ 794 h 1146"/>
                <a:gd name="T18" fmla="*/ 1505 w 3241"/>
                <a:gd name="T19" fmla="*/ 357 h 1146"/>
                <a:gd name="T20" fmla="*/ 1411 w 3241"/>
                <a:gd name="T21" fmla="*/ 179 h 1146"/>
                <a:gd name="T22" fmla="*/ 1522 w 3241"/>
                <a:gd name="T23" fmla="*/ 0 h 1146"/>
                <a:gd name="T24" fmla="*/ 1733 w 3241"/>
                <a:gd name="T25" fmla="*/ 7 h 1146"/>
                <a:gd name="T26" fmla="*/ 1833 w 3241"/>
                <a:gd name="T27" fmla="*/ 194 h 1146"/>
                <a:gd name="T28" fmla="*/ 2100 w 3241"/>
                <a:gd name="T29" fmla="*/ 778 h 1146"/>
                <a:gd name="T30" fmla="*/ 2007 w 3241"/>
                <a:gd name="T31" fmla="*/ 959 h 1146"/>
                <a:gd name="T32" fmla="*/ 2280 w 3241"/>
                <a:gd name="T33" fmla="*/ 1117 h 1146"/>
                <a:gd name="T34" fmla="*/ 2276 w 3241"/>
                <a:gd name="T35" fmla="*/ 794 h 1146"/>
                <a:gd name="T36" fmla="*/ 2640 w 3241"/>
                <a:gd name="T37" fmla="*/ 357 h 1146"/>
                <a:gd name="T38" fmla="*/ 2546 w 3241"/>
                <a:gd name="T39" fmla="*/ 179 h 1146"/>
                <a:gd name="T40" fmla="*/ 2657 w 3241"/>
                <a:gd name="T41" fmla="*/ 0 h 1146"/>
                <a:gd name="T42" fmla="*/ 2868 w 3241"/>
                <a:gd name="T43" fmla="*/ 7 h 1146"/>
                <a:gd name="T44" fmla="*/ 2968 w 3241"/>
                <a:gd name="T45" fmla="*/ 194 h 1146"/>
                <a:gd name="T46" fmla="*/ 3192 w 3241"/>
                <a:gd name="T47" fmla="*/ 675 h 1146"/>
                <a:gd name="T48" fmla="*/ 3205 w 3241"/>
                <a:gd name="T49" fmla="*/ 744 h 1146"/>
                <a:gd name="T50" fmla="*/ 2846 w 3241"/>
                <a:gd name="T51" fmla="*/ 369 h 1146"/>
                <a:gd name="T52" fmla="*/ 2939 w 3241"/>
                <a:gd name="T53" fmla="*/ 187 h 1146"/>
                <a:gd name="T54" fmla="*/ 2665 w 3241"/>
                <a:gd name="T55" fmla="*/ 28 h 1146"/>
                <a:gd name="T56" fmla="*/ 2670 w 3241"/>
                <a:gd name="T57" fmla="*/ 352 h 1146"/>
                <a:gd name="T58" fmla="*/ 2306 w 3241"/>
                <a:gd name="T59" fmla="*/ 789 h 1146"/>
                <a:gd name="T60" fmla="*/ 2400 w 3241"/>
                <a:gd name="T61" fmla="*/ 967 h 1146"/>
                <a:gd name="T62" fmla="*/ 2289 w 3241"/>
                <a:gd name="T63" fmla="*/ 1146 h 1146"/>
                <a:gd name="T64" fmla="*/ 2077 w 3241"/>
                <a:gd name="T65" fmla="*/ 1138 h 1146"/>
                <a:gd name="T66" fmla="*/ 1978 w 3241"/>
                <a:gd name="T67" fmla="*/ 952 h 1146"/>
                <a:gd name="T68" fmla="*/ 1710 w 3241"/>
                <a:gd name="T69" fmla="*/ 368 h 1146"/>
                <a:gd name="T70" fmla="*/ 1804 w 3241"/>
                <a:gd name="T71" fmla="*/ 187 h 1146"/>
                <a:gd name="T72" fmla="*/ 1530 w 3241"/>
                <a:gd name="T73" fmla="*/ 28 h 1146"/>
                <a:gd name="T74" fmla="*/ 1535 w 3241"/>
                <a:gd name="T75" fmla="*/ 352 h 1146"/>
                <a:gd name="T76" fmla="*/ 1171 w 3241"/>
                <a:gd name="T77" fmla="*/ 789 h 1146"/>
                <a:gd name="T78" fmla="*/ 1265 w 3241"/>
                <a:gd name="T79" fmla="*/ 967 h 1146"/>
                <a:gd name="T80" fmla="*/ 1154 w 3241"/>
                <a:gd name="T81" fmla="*/ 1146 h 1146"/>
                <a:gd name="T82" fmla="*/ 942 w 3241"/>
                <a:gd name="T83" fmla="*/ 1138 h 1146"/>
                <a:gd name="T84" fmla="*/ 843 w 3241"/>
                <a:gd name="T85" fmla="*/ 952 h 1146"/>
                <a:gd name="T86" fmla="*/ 575 w 3241"/>
                <a:gd name="T87" fmla="*/ 368 h 1146"/>
                <a:gd name="T88" fmla="*/ 669 w 3241"/>
                <a:gd name="T89" fmla="*/ 187 h 1146"/>
                <a:gd name="T90" fmla="*/ 395 w 3241"/>
                <a:gd name="T91" fmla="*/ 28 h 1146"/>
                <a:gd name="T92" fmla="*/ 400 w 3241"/>
                <a:gd name="T93" fmla="*/ 352 h 1146"/>
                <a:gd name="T94" fmla="*/ 69 w 3241"/>
                <a:gd name="T95" fmla="*/ 695 h 1146"/>
                <a:gd name="T96" fmla="*/ 0 w 3241"/>
                <a:gd name="T97" fmla="*/ 708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241" h="1146">
                  <a:moveTo>
                    <a:pt x="49" y="675"/>
                  </a:moveTo>
                  <a:cubicBezTo>
                    <a:pt x="370" y="356"/>
                    <a:pt x="370" y="356"/>
                    <a:pt x="370" y="356"/>
                  </a:cubicBezTo>
                  <a:cubicBezTo>
                    <a:pt x="276" y="194"/>
                    <a:pt x="276" y="194"/>
                    <a:pt x="276" y="194"/>
                  </a:cubicBezTo>
                  <a:cubicBezTo>
                    <a:pt x="273" y="190"/>
                    <a:pt x="273" y="184"/>
                    <a:pt x="276" y="179"/>
                  </a:cubicBezTo>
                  <a:cubicBezTo>
                    <a:pt x="375" y="7"/>
                    <a:pt x="375" y="7"/>
                    <a:pt x="375" y="7"/>
                  </a:cubicBezTo>
                  <a:cubicBezTo>
                    <a:pt x="378" y="3"/>
                    <a:pt x="382" y="0"/>
                    <a:pt x="387" y="0"/>
                  </a:cubicBezTo>
                  <a:cubicBezTo>
                    <a:pt x="585" y="0"/>
                    <a:pt x="585" y="0"/>
                    <a:pt x="585" y="0"/>
                  </a:cubicBezTo>
                  <a:cubicBezTo>
                    <a:pt x="590" y="0"/>
                    <a:pt x="596" y="2"/>
                    <a:pt x="598" y="7"/>
                  </a:cubicBezTo>
                  <a:cubicBezTo>
                    <a:pt x="698" y="179"/>
                    <a:pt x="698" y="179"/>
                    <a:pt x="698" y="179"/>
                  </a:cubicBezTo>
                  <a:cubicBezTo>
                    <a:pt x="700" y="184"/>
                    <a:pt x="700" y="189"/>
                    <a:pt x="698" y="194"/>
                  </a:cubicBezTo>
                  <a:cubicBezTo>
                    <a:pt x="603" y="357"/>
                    <a:pt x="603" y="357"/>
                    <a:pt x="603" y="357"/>
                  </a:cubicBezTo>
                  <a:cubicBezTo>
                    <a:pt x="965" y="778"/>
                    <a:pt x="965" y="778"/>
                    <a:pt x="965" y="778"/>
                  </a:cubicBezTo>
                  <a:cubicBezTo>
                    <a:pt x="969" y="782"/>
                    <a:pt x="970" y="789"/>
                    <a:pt x="967" y="794"/>
                  </a:cubicBezTo>
                  <a:cubicBezTo>
                    <a:pt x="872" y="959"/>
                    <a:pt x="872" y="959"/>
                    <a:pt x="872" y="959"/>
                  </a:cubicBezTo>
                  <a:cubicBezTo>
                    <a:pt x="963" y="1117"/>
                    <a:pt x="963" y="1117"/>
                    <a:pt x="963" y="1117"/>
                  </a:cubicBezTo>
                  <a:cubicBezTo>
                    <a:pt x="1145" y="1117"/>
                    <a:pt x="1145" y="1117"/>
                    <a:pt x="1145" y="1117"/>
                  </a:cubicBezTo>
                  <a:cubicBezTo>
                    <a:pt x="1237" y="959"/>
                    <a:pt x="1237" y="959"/>
                    <a:pt x="1237" y="959"/>
                  </a:cubicBezTo>
                  <a:cubicBezTo>
                    <a:pt x="1141" y="794"/>
                    <a:pt x="1141" y="794"/>
                    <a:pt x="1141" y="794"/>
                  </a:cubicBezTo>
                  <a:cubicBezTo>
                    <a:pt x="1138" y="789"/>
                    <a:pt x="1139" y="783"/>
                    <a:pt x="1143" y="778"/>
                  </a:cubicBezTo>
                  <a:cubicBezTo>
                    <a:pt x="1505" y="357"/>
                    <a:pt x="1505" y="357"/>
                    <a:pt x="1505" y="357"/>
                  </a:cubicBezTo>
                  <a:cubicBezTo>
                    <a:pt x="1411" y="194"/>
                    <a:pt x="1411" y="194"/>
                    <a:pt x="1411" y="194"/>
                  </a:cubicBezTo>
                  <a:cubicBezTo>
                    <a:pt x="1408" y="190"/>
                    <a:pt x="1408" y="184"/>
                    <a:pt x="1411" y="179"/>
                  </a:cubicBezTo>
                  <a:cubicBezTo>
                    <a:pt x="1510" y="7"/>
                    <a:pt x="1510" y="7"/>
                    <a:pt x="1510" y="7"/>
                  </a:cubicBezTo>
                  <a:cubicBezTo>
                    <a:pt x="1513" y="3"/>
                    <a:pt x="1517" y="0"/>
                    <a:pt x="1522" y="0"/>
                  </a:cubicBezTo>
                  <a:cubicBezTo>
                    <a:pt x="1720" y="0"/>
                    <a:pt x="1720" y="0"/>
                    <a:pt x="1720" y="0"/>
                  </a:cubicBezTo>
                  <a:cubicBezTo>
                    <a:pt x="1725" y="0"/>
                    <a:pt x="1731" y="2"/>
                    <a:pt x="1733" y="7"/>
                  </a:cubicBezTo>
                  <a:cubicBezTo>
                    <a:pt x="1833" y="179"/>
                    <a:pt x="1833" y="179"/>
                    <a:pt x="1833" y="179"/>
                  </a:cubicBezTo>
                  <a:cubicBezTo>
                    <a:pt x="1835" y="184"/>
                    <a:pt x="1835" y="189"/>
                    <a:pt x="1833" y="194"/>
                  </a:cubicBezTo>
                  <a:cubicBezTo>
                    <a:pt x="1738" y="357"/>
                    <a:pt x="1738" y="357"/>
                    <a:pt x="1738" y="357"/>
                  </a:cubicBezTo>
                  <a:cubicBezTo>
                    <a:pt x="2100" y="778"/>
                    <a:pt x="2100" y="778"/>
                    <a:pt x="2100" y="778"/>
                  </a:cubicBezTo>
                  <a:cubicBezTo>
                    <a:pt x="2104" y="782"/>
                    <a:pt x="2105" y="789"/>
                    <a:pt x="2102" y="794"/>
                  </a:cubicBezTo>
                  <a:cubicBezTo>
                    <a:pt x="2007" y="959"/>
                    <a:pt x="2007" y="959"/>
                    <a:pt x="2007" y="959"/>
                  </a:cubicBezTo>
                  <a:cubicBezTo>
                    <a:pt x="2098" y="1117"/>
                    <a:pt x="2098" y="1117"/>
                    <a:pt x="2098" y="1117"/>
                  </a:cubicBezTo>
                  <a:cubicBezTo>
                    <a:pt x="2280" y="1117"/>
                    <a:pt x="2280" y="1117"/>
                    <a:pt x="2280" y="1117"/>
                  </a:cubicBezTo>
                  <a:cubicBezTo>
                    <a:pt x="2372" y="959"/>
                    <a:pt x="2372" y="959"/>
                    <a:pt x="2372" y="959"/>
                  </a:cubicBezTo>
                  <a:cubicBezTo>
                    <a:pt x="2276" y="794"/>
                    <a:pt x="2276" y="794"/>
                    <a:pt x="2276" y="794"/>
                  </a:cubicBezTo>
                  <a:cubicBezTo>
                    <a:pt x="2273" y="789"/>
                    <a:pt x="2274" y="783"/>
                    <a:pt x="2278" y="778"/>
                  </a:cubicBezTo>
                  <a:cubicBezTo>
                    <a:pt x="2640" y="357"/>
                    <a:pt x="2640" y="357"/>
                    <a:pt x="2640" y="357"/>
                  </a:cubicBezTo>
                  <a:cubicBezTo>
                    <a:pt x="2546" y="194"/>
                    <a:pt x="2546" y="194"/>
                    <a:pt x="2546" y="194"/>
                  </a:cubicBezTo>
                  <a:cubicBezTo>
                    <a:pt x="2543" y="190"/>
                    <a:pt x="2543" y="184"/>
                    <a:pt x="2546" y="179"/>
                  </a:cubicBezTo>
                  <a:cubicBezTo>
                    <a:pt x="2645" y="7"/>
                    <a:pt x="2645" y="7"/>
                    <a:pt x="2645" y="7"/>
                  </a:cubicBezTo>
                  <a:cubicBezTo>
                    <a:pt x="2648" y="3"/>
                    <a:pt x="2652" y="0"/>
                    <a:pt x="2657" y="0"/>
                  </a:cubicBezTo>
                  <a:cubicBezTo>
                    <a:pt x="2855" y="0"/>
                    <a:pt x="2855" y="0"/>
                    <a:pt x="2855" y="0"/>
                  </a:cubicBezTo>
                  <a:cubicBezTo>
                    <a:pt x="2860" y="0"/>
                    <a:pt x="2866" y="2"/>
                    <a:pt x="2868" y="7"/>
                  </a:cubicBezTo>
                  <a:cubicBezTo>
                    <a:pt x="2968" y="179"/>
                    <a:pt x="2968" y="179"/>
                    <a:pt x="2968" y="179"/>
                  </a:cubicBezTo>
                  <a:cubicBezTo>
                    <a:pt x="2970" y="184"/>
                    <a:pt x="2970" y="189"/>
                    <a:pt x="2968" y="194"/>
                  </a:cubicBezTo>
                  <a:cubicBezTo>
                    <a:pt x="2874" y="356"/>
                    <a:pt x="2874" y="356"/>
                    <a:pt x="2874" y="356"/>
                  </a:cubicBezTo>
                  <a:cubicBezTo>
                    <a:pt x="3192" y="675"/>
                    <a:pt x="3192" y="675"/>
                    <a:pt x="3192" y="675"/>
                  </a:cubicBezTo>
                  <a:cubicBezTo>
                    <a:pt x="3215" y="666"/>
                    <a:pt x="3241" y="683"/>
                    <a:pt x="3241" y="708"/>
                  </a:cubicBezTo>
                  <a:cubicBezTo>
                    <a:pt x="3241" y="728"/>
                    <a:pt x="3225" y="744"/>
                    <a:pt x="3205" y="744"/>
                  </a:cubicBezTo>
                  <a:cubicBezTo>
                    <a:pt x="3180" y="744"/>
                    <a:pt x="3163" y="718"/>
                    <a:pt x="3172" y="695"/>
                  </a:cubicBezTo>
                  <a:cubicBezTo>
                    <a:pt x="2846" y="369"/>
                    <a:pt x="2846" y="369"/>
                    <a:pt x="2846" y="369"/>
                  </a:cubicBezTo>
                  <a:cubicBezTo>
                    <a:pt x="2841" y="364"/>
                    <a:pt x="2841" y="356"/>
                    <a:pt x="2844" y="351"/>
                  </a:cubicBezTo>
                  <a:cubicBezTo>
                    <a:pt x="2939" y="187"/>
                    <a:pt x="2939" y="187"/>
                    <a:pt x="2939" y="187"/>
                  </a:cubicBezTo>
                  <a:cubicBezTo>
                    <a:pt x="2848" y="28"/>
                    <a:pt x="2848" y="28"/>
                    <a:pt x="2848" y="28"/>
                  </a:cubicBezTo>
                  <a:cubicBezTo>
                    <a:pt x="2665" y="28"/>
                    <a:pt x="2665" y="28"/>
                    <a:pt x="2665" y="28"/>
                  </a:cubicBezTo>
                  <a:cubicBezTo>
                    <a:pt x="2574" y="187"/>
                    <a:pt x="2574" y="187"/>
                    <a:pt x="2574" y="187"/>
                  </a:cubicBezTo>
                  <a:cubicBezTo>
                    <a:pt x="2670" y="352"/>
                    <a:pt x="2670" y="352"/>
                    <a:pt x="2670" y="352"/>
                  </a:cubicBezTo>
                  <a:cubicBezTo>
                    <a:pt x="2673" y="357"/>
                    <a:pt x="2672" y="364"/>
                    <a:pt x="2668" y="368"/>
                  </a:cubicBezTo>
                  <a:cubicBezTo>
                    <a:pt x="2306" y="789"/>
                    <a:pt x="2306" y="789"/>
                    <a:pt x="2306" y="789"/>
                  </a:cubicBezTo>
                  <a:cubicBezTo>
                    <a:pt x="2400" y="952"/>
                    <a:pt x="2400" y="952"/>
                    <a:pt x="2400" y="952"/>
                  </a:cubicBezTo>
                  <a:cubicBezTo>
                    <a:pt x="2403" y="957"/>
                    <a:pt x="2403" y="962"/>
                    <a:pt x="2400" y="967"/>
                  </a:cubicBezTo>
                  <a:cubicBezTo>
                    <a:pt x="2301" y="1139"/>
                    <a:pt x="2301" y="1139"/>
                    <a:pt x="2301" y="1139"/>
                  </a:cubicBezTo>
                  <a:cubicBezTo>
                    <a:pt x="2298" y="1143"/>
                    <a:pt x="2293" y="1146"/>
                    <a:pt x="2289" y="1146"/>
                  </a:cubicBezTo>
                  <a:cubicBezTo>
                    <a:pt x="2090" y="1146"/>
                    <a:pt x="2090" y="1146"/>
                    <a:pt x="2090" y="1146"/>
                  </a:cubicBezTo>
                  <a:cubicBezTo>
                    <a:pt x="2084" y="1146"/>
                    <a:pt x="2079" y="1142"/>
                    <a:pt x="2077" y="1138"/>
                  </a:cubicBezTo>
                  <a:cubicBezTo>
                    <a:pt x="1978" y="966"/>
                    <a:pt x="1978" y="966"/>
                    <a:pt x="1978" y="966"/>
                  </a:cubicBezTo>
                  <a:cubicBezTo>
                    <a:pt x="1975" y="962"/>
                    <a:pt x="1976" y="956"/>
                    <a:pt x="1978" y="952"/>
                  </a:cubicBezTo>
                  <a:cubicBezTo>
                    <a:pt x="2073" y="789"/>
                    <a:pt x="2073" y="789"/>
                    <a:pt x="2073" y="789"/>
                  </a:cubicBezTo>
                  <a:cubicBezTo>
                    <a:pt x="1710" y="368"/>
                    <a:pt x="1710" y="368"/>
                    <a:pt x="1710" y="368"/>
                  </a:cubicBezTo>
                  <a:cubicBezTo>
                    <a:pt x="1706" y="363"/>
                    <a:pt x="1706" y="357"/>
                    <a:pt x="1709" y="352"/>
                  </a:cubicBezTo>
                  <a:cubicBezTo>
                    <a:pt x="1804" y="187"/>
                    <a:pt x="1804" y="187"/>
                    <a:pt x="1804" y="187"/>
                  </a:cubicBezTo>
                  <a:cubicBezTo>
                    <a:pt x="1713" y="28"/>
                    <a:pt x="1713" y="28"/>
                    <a:pt x="1713" y="28"/>
                  </a:cubicBezTo>
                  <a:cubicBezTo>
                    <a:pt x="1530" y="28"/>
                    <a:pt x="1530" y="28"/>
                    <a:pt x="1530" y="28"/>
                  </a:cubicBezTo>
                  <a:cubicBezTo>
                    <a:pt x="1439" y="187"/>
                    <a:pt x="1439" y="187"/>
                    <a:pt x="1439" y="187"/>
                  </a:cubicBezTo>
                  <a:cubicBezTo>
                    <a:pt x="1535" y="352"/>
                    <a:pt x="1535" y="352"/>
                    <a:pt x="1535" y="352"/>
                  </a:cubicBezTo>
                  <a:cubicBezTo>
                    <a:pt x="1538" y="357"/>
                    <a:pt x="1537" y="364"/>
                    <a:pt x="1533" y="368"/>
                  </a:cubicBezTo>
                  <a:cubicBezTo>
                    <a:pt x="1171" y="789"/>
                    <a:pt x="1171" y="789"/>
                    <a:pt x="1171" y="789"/>
                  </a:cubicBezTo>
                  <a:cubicBezTo>
                    <a:pt x="1265" y="952"/>
                    <a:pt x="1265" y="952"/>
                    <a:pt x="1265" y="952"/>
                  </a:cubicBezTo>
                  <a:cubicBezTo>
                    <a:pt x="1268" y="957"/>
                    <a:pt x="1268" y="963"/>
                    <a:pt x="1265" y="967"/>
                  </a:cubicBezTo>
                  <a:cubicBezTo>
                    <a:pt x="1166" y="1139"/>
                    <a:pt x="1166" y="1139"/>
                    <a:pt x="1166" y="1139"/>
                  </a:cubicBezTo>
                  <a:cubicBezTo>
                    <a:pt x="1163" y="1143"/>
                    <a:pt x="1158" y="1146"/>
                    <a:pt x="1154" y="1146"/>
                  </a:cubicBezTo>
                  <a:cubicBezTo>
                    <a:pt x="955" y="1146"/>
                    <a:pt x="955" y="1146"/>
                    <a:pt x="955" y="1146"/>
                  </a:cubicBezTo>
                  <a:cubicBezTo>
                    <a:pt x="949" y="1146"/>
                    <a:pt x="944" y="1142"/>
                    <a:pt x="942" y="1138"/>
                  </a:cubicBezTo>
                  <a:cubicBezTo>
                    <a:pt x="843" y="966"/>
                    <a:pt x="843" y="966"/>
                    <a:pt x="843" y="966"/>
                  </a:cubicBezTo>
                  <a:cubicBezTo>
                    <a:pt x="840" y="962"/>
                    <a:pt x="841" y="956"/>
                    <a:pt x="843" y="952"/>
                  </a:cubicBezTo>
                  <a:cubicBezTo>
                    <a:pt x="938" y="789"/>
                    <a:pt x="938" y="789"/>
                    <a:pt x="938" y="789"/>
                  </a:cubicBezTo>
                  <a:cubicBezTo>
                    <a:pt x="575" y="368"/>
                    <a:pt x="575" y="368"/>
                    <a:pt x="575" y="368"/>
                  </a:cubicBezTo>
                  <a:cubicBezTo>
                    <a:pt x="571" y="363"/>
                    <a:pt x="571" y="357"/>
                    <a:pt x="574" y="352"/>
                  </a:cubicBezTo>
                  <a:cubicBezTo>
                    <a:pt x="669" y="187"/>
                    <a:pt x="669" y="187"/>
                    <a:pt x="669" y="187"/>
                  </a:cubicBezTo>
                  <a:cubicBezTo>
                    <a:pt x="578" y="28"/>
                    <a:pt x="578" y="28"/>
                    <a:pt x="578" y="28"/>
                  </a:cubicBezTo>
                  <a:cubicBezTo>
                    <a:pt x="395" y="28"/>
                    <a:pt x="395" y="28"/>
                    <a:pt x="395" y="28"/>
                  </a:cubicBezTo>
                  <a:cubicBezTo>
                    <a:pt x="304" y="187"/>
                    <a:pt x="304" y="187"/>
                    <a:pt x="304" y="187"/>
                  </a:cubicBezTo>
                  <a:cubicBezTo>
                    <a:pt x="400" y="352"/>
                    <a:pt x="400" y="352"/>
                    <a:pt x="400" y="352"/>
                  </a:cubicBezTo>
                  <a:cubicBezTo>
                    <a:pt x="403" y="357"/>
                    <a:pt x="402" y="365"/>
                    <a:pt x="397" y="369"/>
                  </a:cubicBezTo>
                  <a:cubicBezTo>
                    <a:pt x="69" y="695"/>
                    <a:pt x="69" y="695"/>
                    <a:pt x="69" y="695"/>
                  </a:cubicBezTo>
                  <a:cubicBezTo>
                    <a:pt x="78" y="718"/>
                    <a:pt x="61" y="744"/>
                    <a:pt x="36" y="744"/>
                  </a:cubicBezTo>
                  <a:cubicBezTo>
                    <a:pt x="16" y="744"/>
                    <a:pt x="0" y="728"/>
                    <a:pt x="0" y="708"/>
                  </a:cubicBezTo>
                  <a:cubicBezTo>
                    <a:pt x="0" y="683"/>
                    <a:pt x="26" y="666"/>
                    <a:pt x="49" y="675"/>
                  </a:cubicBezTo>
                  <a:close/>
                </a:path>
              </a:pathLst>
            </a:custGeom>
            <a:solidFill>
              <a:schemeClr val="tx2">
                <a:lumMod val="20000"/>
                <a:lumOff val="80000"/>
              </a:schemeClr>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grpSp>
          <p:nvGrpSpPr>
            <p:cNvPr id="5" name="组合 4">
              <a:extLst>
                <a:ext uri="{FF2B5EF4-FFF2-40B4-BE49-F238E27FC236}">
                  <a16:creationId xmlns:a16="http://schemas.microsoft.com/office/drawing/2014/main" id="{5C681998-C76A-A789-A011-343F29BC024F}"/>
                </a:ext>
              </a:extLst>
            </p:cNvPr>
            <p:cNvGrpSpPr/>
            <p:nvPr/>
          </p:nvGrpSpPr>
          <p:grpSpPr>
            <a:xfrm>
              <a:off x="1491850" y="2688593"/>
              <a:ext cx="2167739" cy="3375208"/>
              <a:chOff x="1491850" y="2688593"/>
              <a:chExt cx="2167739" cy="3375208"/>
            </a:xfrm>
          </p:grpSpPr>
          <p:sp>
            <p:nvSpPr>
              <p:cNvPr id="28" name="IconBackground1">
                <a:extLst>
                  <a:ext uri="{FF2B5EF4-FFF2-40B4-BE49-F238E27FC236}">
                    <a16:creationId xmlns:a16="http://schemas.microsoft.com/office/drawing/2014/main" id="{1F0358F3-7C93-EBC5-92F3-464632D50DE8}"/>
                  </a:ext>
                </a:extLst>
              </p:cNvPr>
              <p:cNvSpPr/>
              <p:nvPr/>
            </p:nvSpPr>
            <p:spPr bwMode="auto">
              <a:xfrm>
                <a:off x="2151877" y="2688593"/>
                <a:ext cx="844318" cy="714048"/>
              </a:xfrm>
              <a:prstGeom prst="hexagon">
                <a:avLst/>
              </a:prstGeom>
              <a:solidFill>
                <a:schemeClr val="accent1"/>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9" name="Icon1">
                <a:extLst>
                  <a:ext uri="{FF2B5EF4-FFF2-40B4-BE49-F238E27FC236}">
                    <a16:creationId xmlns:a16="http://schemas.microsoft.com/office/drawing/2014/main" id="{F7173B49-42A0-E758-E322-62CC857A54C4}"/>
                  </a:ext>
                </a:extLst>
              </p:cNvPr>
              <p:cNvSpPr/>
              <p:nvPr/>
            </p:nvSpPr>
            <p:spPr bwMode="auto">
              <a:xfrm>
                <a:off x="2424675" y="2871936"/>
                <a:ext cx="298722" cy="347362"/>
              </a:xfrm>
              <a:custGeom>
                <a:avLst/>
                <a:gdLst>
                  <a:gd name="connsiteX0" fmla="*/ 378023 w 518913"/>
                  <a:gd name="connsiteY0" fmla="*/ 295528 h 603405"/>
                  <a:gd name="connsiteX1" fmla="*/ 389714 w 518913"/>
                  <a:gd name="connsiteY1" fmla="*/ 297650 h 603405"/>
                  <a:gd name="connsiteX2" fmla="*/ 497817 w 518913"/>
                  <a:gd name="connsiteY2" fmla="*/ 338882 h 603405"/>
                  <a:gd name="connsiteX3" fmla="*/ 518770 w 518913"/>
                  <a:gd name="connsiteY3" fmla="*/ 372687 h 603405"/>
                  <a:gd name="connsiteX4" fmla="*/ 378023 w 518913"/>
                  <a:gd name="connsiteY4" fmla="*/ 603405 h 603405"/>
                  <a:gd name="connsiteX5" fmla="*/ 237276 w 518913"/>
                  <a:gd name="connsiteY5" fmla="*/ 372687 h 603405"/>
                  <a:gd name="connsiteX6" fmla="*/ 258076 w 518913"/>
                  <a:gd name="connsiteY6" fmla="*/ 338882 h 603405"/>
                  <a:gd name="connsiteX7" fmla="*/ 366332 w 518913"/>
                  <a:gd name="connsiteY7" fmla="*/ 297650 h 603405"/>
                  <a:gd name="connsiteX8" fmla="*/ 378023 w 518913"/>
                  <a:gd name="connsiteY8" fmla="*/ 295528 h 603405"/>
                  <a:gd name="connsiteX9" fmla="*/ 125844 w 518913"/>
                  <a:gd name="connsiteY9" fmla="*/ 247120 h 603405"/>
                  <a:gd name="connsiteX10" fmla="*/ 193856 w 518913"/>
                  <a:gd name="connsiteY10" fmla="*/ 267286 h 603405"/>
                  <a:gd name="connsiteX11" fmla="*/ 261716 w 518913"/>
                  <a:gd name="connsiteY11" fmla="*/ 247120 h 603405"/>
                  <a:gd name="connsiteX12" fmla="*/ 309992 w 518913"/>
                  <a:gd name="connsiteY12" fmla="*/ 275777 h 603405"/>
                  <a:gd name="connsiteX13" fmla="*/ 243650 w 518913"/>
                  <a:gd name="connsiteY13" fmla="*/ 301098 h 603405"/>
                  <a:gd name="connsiteX14" fmla="*/ 196892 w 518913"/>
                  <a:gd name="connsiteY14" fmla="*/ 376607 h 603405"/>
                  <a:gd name="connsiteX15" fmla="*/ 246687 w 518913"/>
                  <a:gd name="connsiteY15" fmla="*/ 539755 h 603405"/>
                  <a:gd name="connsiteX16" fmla="*/ 28988 w 518913"/>
                  <a:gd name="connsiteY16" fmla="*/ 539755 h 603405"/>
                  <a:gd name="connsiteX17" fmla="*/ 7127 w 518913"/>
                  <a:gd name="connsiteY17" fmla="*/ 529899 h 603405"/>
                  <a:gd name="connsiteX18" fmla="*/ 295 w 518913"/>
                  <a:gd name="connsiteY18" fmla="*/ 507004 h 603405"/>
                  <a:gd name="connsiteX19" fmla="*/ 16236 w 518913"/>
                  <a:gd name="connsiteY19" fmla="*/ 387069 h 603405"/>
                  <a:gd name="connsiteX20" fmla="*/ 125844 w 518913"/>
                  <a:gd name="connsiteY20" fmla="*/ 247120 h 603405"/>
                  <a:gd name="connsiteX21" fmla="*/ 193771 w 518913"/>
                  <a:gd name="connsiteY21" fmla="*/ 0 h 603405"/>
                  <a:gd name="connsiteX22" fmla="*/ 289952 w 518913"/>
                  <a:gd name="connsiteY22" fmla="*/ 113399 h 603405"/>
                  <a:gd name="connsiteX23" fmla="*/ 193771 w 518913"/>
                  <a:gd name="connsiteY23" fmla="*/ 226798 h 603405"/>
                  <a:gd name="connsiteX24" fmla="*/ 97590 w 518913"/>
                  <a:gd name="connsiteY24" fmla="*/ 113399 h 603405"/>
                  <a:gd name="connsiteX25" fmla="*/ 193771 w 518913"/>
                  <a:gd name="connsiteY25" fmla="*/ 0 h 603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8913" h="603405">
                    <a:moveTo>
                      <a:pt x="378023" y="295528"/>
                    </a:moveTo>
                    <a:cubicBezTo>
                      <a:pt x="381970" y="295528"/>
                      <a:pt x="385918" y="296134"/>
                      <a:pt x="389714" y="297650"/>
                    </a:cubicBezTo>
                    <a:lnTo>
                      <a:pt x="497817" y="338882"/>
                    </a:lnTo>
                    <a:cubicBezTo>
                      <a:pt x="511634" y="344188"/>
                      <a:pt x="520136" y="357983"/>
                      <a:pt x="518770" y="372687"/>
                    </a:cubicBezTo>
                    <a:cubicBezTo>
                      <a:pt x="509356" y="468491"/>
                      <a:pt x="449990" y="603405"/>
                      <a:pt x="378023" y="603405"/>
                    </a:cubicBezTo>
                    <a:cubicBezTo>
                      <a:pt x="305903" y="603405"/>
                      <a:pt x="246689" y="468491"/>
                      <a:pt x="237276" y="372687"/>
                    </a:cubicBezTo>
                    <a:cubicBezTo>
                      <a:pt x="235757" y="357983"/>
                      <a:pt x="244260" y="344188"/>
                      <a:pt x="258076" y="338882"/>
                    </a:cubicBezTo>
                    <a:lnTo>
                      <a:pt x="366332" y="297650"/>
                    </a:lnTo>
                    <a:cubicBezTo>
                      <a:pt x="370127" y="296134"/>
                      <a:pt x="374075" y="295528"/>
                      <a:pt x="378023" y="295528"/>
                    </a:cubicBezTo>
                    <a:close/>
                    <a:moveTo>
                      <a:pt x="125844" y="247120"/>
                    </a:moveTo>
                    <a:cubicBezTo>
                      <a:pt x="146338" y="260160"/>
                      <a:pt x="169414" y="267286"/>
                      <a:pt x="193856" y="267286"/>
                    </a:cubicBezTo>
                    <a:cubicBezTo>
                      <a:pt x="218145" y="267286"/>
                      <a:pt x="241373" y="260160"/>
                      <a:pt x="261716" y="247120"/>
                    </a:cubicBezTo>
                    <a:cubicBezTo>
                      <a:pt x="279326" y="253943"/>
                      <a:pt x="295570" y="263799"/>
                      <a:pt x="309992" y="275777"/>
                    </a:cubicBezTo>
                    <a:lnTo>
                      <a:pt x="243650" y="301098"/>
                    </a:lnTo>
                    <a:cubicBezTo>
                      <a:pt x="212832" y="312773"/>
                      <a:pt x="193704" y="343856"/>
                      <a:pt x="196892" y="376607"/>
                    </a:cubicBezTo>
                    <a:cubicBezTo>
                      <a:pt x="202205" y="430434"/>
                      <a:pt x="220726" y="491084"/>
                      <a:pt x="246687" y="539755"/>
                    </a:cubicBezTo>
                    <a:lnTo>
                      <a:pt x="28988" y="539755"/>
                    </a:lnTo>
                    <a:cubicBezTo>
                      <a:pt x="20638" y="539755"/>
                      <a:pt x="12744" y="536116"/>
                      <a:pt x="7127" y="529899"/>
                    </a:cubicBezTo>
                    <a:cubicBezTo>
                      <a:pt x="1662" y="523683"/>
                      <a:pt x="-919" y="515343"/>
                      <a:pt x="295" y="507004"/>
                    </a:cubicBezTo>
                    <a:lnTo>
                      <a:pt x="16236" y="387069"/>
                    </a:lnTo>
                    <a:cubicBezTo>
                      <a:pt x="24737" y="322326"/>
                      <a:pt x="68155" y="269712"/>
                      <a:pt x="125844" y="247120"/>
                    </a:cubicBezTo>
                    <a:close/>
                    <a:moveTo>
                      <a:pt x="193771" y="0"/>
                    </a:moveTo>
                    <a:cubicBezTo>
                      <a:pt x="246890" y="0"/>
                      <a:pt x="289952" y="50770"/>
                      <a:pt x="289952" y="113399"/>
                    </a:cubicBezTo>
                    <a:cubicBezTo>
                      <a:pt x="289952" y="176028"/>
                      <a:pt x="246890" y="226798"/>
                      <a:pt x="193771" y="226798"/>
                    </a:cubicBezTo>
                    <a:cubicBezTo>
                      <a:pt x="140652" y="226798"/>
                      <a:pt x="97590" y="176028"/>
                      <a:pt x="97590" y="113399"/>
                    </a:cubicBezTo>
                    <a:cubicBezTo>
                      <a:pt x="97590" y="50770"/>
                      <a:pt x="140652" y="0"/>
                      <a:pt x="193771" y="0"/>
                    </a:cubicBezTo>
                    <a:close/>
                  </a:path>
                </a:pathLst>
              </a:custGeom>
              <a:solidFill>
                <a:srgbClr val="FFFFFF"/>
              </a:solidFill>
              <a:ln>
                <a:noFill/>
              </a:ln>
            </p:spPr>
            <p:txBody>
              <a:bodyPr vert="horz" wrap="square" lIns="91440" tIns="45720" rIns="91440" bIns="45720" numCol="1" anchor="t" anchorCtr="0" compatLnSpc="1">
                <a:prstTxWarp prst="textNoShape">
                  <a:avLst/>
                </a:prstTxWarp>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30" name="Bullet1">
                <a:extLst>
                  <a:ext uri="{FF2B5EF4-FFF2-40B4-BE49-F238E27FC236}">
                    <a16:creationId xmlns:a16="http://schemas.microsoft.com/office/drawing/2014/main" id="{D59F4F28-DBE2-8CB2-E9ED-F4376761DE10}"/>
                  </a:ext>
                </a:extLst>
              </p:cNvPr>
              <p:cNvSpPr txBox="1"/>
              <p:nvPr/>
            </p:nvSpPr>
            <p:spPr bwMode="auto">
              <a:xfrm>
                <a:off x="1491850" y="4909688"/>
                <a:ext cx="21677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spcBef>
                    <a:spcPct val="0"/>
                  </a:spcBef>
                  <a:buFontTx/>
                  <a:buNone/>
                </a:pPr>
                <a:r>
                  <a:rPr lang="en-US" altLang="zh-CN" b="1" dirty="0"/>
                  <a:t>1. Planning</a:t>
                </a:r>
              </a:p>
            </p:txBody>
          </p:sp>
          <p:sp>
            <p:nvSpPr>
              <p:cNvPr id="31" name="Text1">
                <a:extLst>
                  <a:ext uri="{FF2B5EF4-FFF2-40B4-BE49-F238E27FC236}">
                    <a16:creationId xmlns:a16="http://schemas.microsoft.com/office/drawing/2014/main" id="{12BFF7DF-B914-B10A-374C-730E4AD27C42}"/>
                  </a:ext>
                </a:extLst>
              </p:cNvPr>
              <p:cNvSpPr/>
              <p:nvPr/>
            </p:nvSpPr>
            <p:spPr bwMode="auto">
              <a:xfrm>
                <a:off x="1491850" y="5279020"/>
                <a:ext cx="2167739" cy="784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pPr>
                <a:r>
                  <a:rPr lang="en-US" altLang="zh-CN" sz="1200" dirty="0"/>
                  <a:t>Decompose business questions into smaller orthogonal subtasks</a:t>
                </a:r>
              </a:p>
            </p:txBody>
          </p:sp>
        </p:grpSp>
        <p:grpSp>
          <p:nvGrpSpPr>
            <p:cNvPr id="6" name="组合 5">
              <a:extLst>
                <a:ext uri="{FF2B5EF4-FFF2-40B4-BE49-F238E27FC236}">
                  <a16:creationId xmlns:a16="http://schemas.microsoft.com/office/drawing/2014/main" id="{13AA35F4-1D68-C090-28D6-41369D37C38F}"/>
                </a:ext>
              </a:extLst>
            </p:cNvPr>
            <p:cNvGrpSpPr/>
            <p:nvPr/>
          </p:nvGrpSpPr>
          <p:grpSpPr>
            <a:xfrm>
              <a:off x="3253578" y="2499863"/>
              <a:ext cx="2167739" cy="3312672"/>
              <a:chOff x="3253578" y="2499863"/>
              <a:chExt cx="2167739" cy="3312672"/>
            </a:xfrm>
          </p:grpSpPr>
          <p:sp>
            <p:nvSpPr>
              <p:cNvPr id="24" name="Bullet2">
                <a:extLst>
                  <a:ext uri="{FF2B5EF4-FFF2-40B4-BE49-F238E27FC236}">
                    <a16:creationId xmlns:a16="http://schemas.microsoft.com/office/drawing/2014/main" id="{09FE1567-32C9-B18C-A782-A02B77E5EEB1}"/>
                  </a:ext>
                </a:extLst>
              </p:cNvPr>
              <p:cNvSpPr txBox="1"/>
              <p:nvPr/>
            </p:nvSpPr>
            <p:spPr bwMode="auto">
              <a:xfrm>
                <a:off x="3253578" y="2499863"/>
                <a:ext cx="21677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spcBef>
                    <a:spcPct val="0"/>
                  </a:spcBef>
                  <a:buFontTx/>
                  <a:buNone/>
                </a:pPr>
                <a:r>
                  <a:rPr lang="en-US" altLang="zh-CN" b="1" dirty="0"/>
                  <a:t>2. Execution</a:t>
                </a:r>
              </a:p>
            </p:txBody>
          </p:sp>
          <p:sp>
            <p:nvSpPr>
              <p:cNvPr id="25" name="Text2">
                <a:extLst>
                  <a:ext uri="{FF2B5EF4-FFF2-40B4-BE49-F238E27FC236}">
                    <a16:creationId xmlns:a16="http://schemas.microsoft.com/office/drawing/2014/main" id="{95991E46-99D5-179C-8F9D-4EB1DE0DA760}"/>
                  </a:ext>
                </a:extLst>
              </p:cNvPr>
              <p:cNvSpPr/>
              <p:nvPr/>
            </p:nvSpPr>
            <p:spPr bwMode="auto">
              <a:xfrm>
                <a:off x="3253578" y="2869195"/>
                <a:ext cx="2167739" cy="784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1">
                <a:normAutofit fontScale="9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pPr>
                <a:r>
                  <a:rPr lang="en-US" altLang="zh-CN" sz="1200" dirty="0"/>
                  <a:t>Based on the subtask, uses LLM to compute aggregated data, plot, and findings. All these artifacts are saved.</a:t>
                </a:r>
              </a:p>
            </p:txBody>
          </p:sp>
          <p:sp>
            <p:nvSpPr>
              <p:cNvPr id="26" name="IconBackground2">
                <a:extLst>
                  <a:ext uri="{FF2B5EF4-FFF2-40B4-BE49-F238E27FC236}">
                    <a16:creationId xmlns:a16="http://schemas.microsoft.com/office/drawing/2014/main" id="{B6F58EF7-4DCE-C514-45DA-CF57F3DCB725}"/>
                  </a:ext>
                </a:extLst>
              </p:cNvPr>
              <p:cNvSpPr/>
              <p:nvPr/>
            </p:nvSpPr>
            <p:spPr bwMode="auto">
              <a:xfrm>
                <a:off x="3913605" y="5099937"/>
                <a:ext cx="844318" cy="712598"/>
              </a:xfrm>
              <a:prstGeom prst="hexagon">
                <a:avLst/>
              </a:prstGeom>
              <a:solidFill>
                <a:schemeClr val="tx2">
                  <a:alpha val="80000"/>
                </a:schemeClr>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7" name="Icon2">
                <a:extLst>
                  <a:ext uri="{FF2B5EF4-FFF2-40B4-BE49-F238E27FC236}">
                    <a16:creationId xmlns:a16="http://schemas.microsoft.com/office/drawing/2014/main" id="{DF004F4F-7282-E137-332B-D9164E81FEBE}"/>
                  </a:ext>
                </a:extLst>
              </p:cNvPr>
              <p:cNvSpPr/>
              <p:nvPr/>
            </p:nvSpPr>
            <p:spPr bwMode="auto">
              <a:xfrm>
                <a:off x="4163766" y="5282815"/>
                <a:ext cx="347362" cy="346840"/>
              </a:xfrm>
              <a:custGeom>
                <a:avLst/>
                <a:gdLst>
                  <a:gd name="T0" fmla="*/ 5847 w 6130"/>
                  <a:gd name="T1" fmla="*/ 4531 h 6130"/>
                  <a:gd name="T2" fmla="*/ 5530 w 6130"/>
                  <a:gd name="T3" fmla="*/ 4531 h 6130"/>
                  <a:gd name="T4" fmla="*/ 5530 w 6130"/>
                  <a:gd name="T5" fmla="*/ 4463 h 6130"/>
                  <a:gd name="T6" fmla="*/ 4132 w 6130"/>
                  <a:gd name="T7" fmla="*/ 3065 h 6130"/>
                  <a:gd name="T8" fmla="*/ 3265 w 6130"/>
                  <a:gd name="T9" fmla="*/ 3065 h 6130"/>
                  <a:gd name="T10" fmla="*/ 3265 w 6130"/>
                  <a:gd name="T11" fmla="*/ 1599 h 6130"/>
                  <a:gd name="T12" fmla="*/ 3581 w 6130"/>
                  <a:gd name="T13" fmla="*/ 1599 h 6130"/>
                  <a:gd name="T14" fmla="*/ 3864 w 6130"/>
                  <a:gd name="T15" fmla="*/ 1316 h 6130"/>
                  <a:gd name="T16" fmla="*/ 3864 w 6130"/>
                  <a:gd name="T17" fmla="*/ 283 h 6130"/>
                  <a:gd name="T18" fmla="*/ 3581 w 6130"/>
                  <a:gd name="T19" fmla="*/ 0 h 6130"/>
                  <a:gd name="T20" fmla="*/ 2549 w 6130"/>
                  <a:gd name="T21" fmla="*/ 0 h 6130"/>
                  <a:gd name="T22" fmla="*/ 2265 w 6130"/>
                  <a:gd name="T23" fmla="*/ 283 h 6130"/>
                  <a:gd name="T24" fmla="*/ 2265 w 6130"/>
                  <a:gd name="T25" fmla="*/ 1316 h 6130"/>
                  <a:gd name="T26" fmla="*/ 2549 w 6130"/>
                  <a:gd name="T27" fmla="*/ 1599 h 6130"/>
                  <a:gd name="T28" fmla="*/ 2865 w 6130"/>
                  <a:gd name="T29" fmla="*/ 1599 h 6130"/>
                  <a:gd name="T30" fmla="*/ 2865 w 6130"/>
                  <a:gd name="T31" fmla="*/ 3065 h 6130"/>
                  <a:gd name="T32" fmla="*/ 1998 w 6130"/>
                  <a:gd name="T33" fmla="*/ 3065 h 6130"/>
                  <a:gd name="T34" fmla="*/ 600 w 6130"/>
                  <a:gd name="T35" fmla="*/ 4463 h 6130"/>
                  <a:gd name="T36" fmla="*/ 600 w 6130"/>
                  <a:gd name="T37" fmla="*/ 4531 h 6130"/>
                  <a:gd name="T38" fmla="*/ 283 w 6130"/>
                  <a:gd name="T39" fmla="*/ 4531 h 6130"/>
                  <a:gd name="T40" fmla="*/ 0 w 6130"/>
                  <a:gd name="T41" fmla="*/ 4814 h 6130"/>
                  <a:gd name="T42" fmla="*/ 0 w 6130"/>
                  <a:gd name="T43" fmla="*/ 5847 h 6130"/>
                  <a:gd name="T44" fmla="*/ 283 w 6130"/>
                  <a:gd name="T45" fmla="*/ 6130 h 6130"/>
                  <a:gd name="T46" fmla="*/ 1316 w 6130"/>
                  <a:gd name="T47" fmla="*/ 6130 h 6130"/>
                  <a:gd name="T48" fmla="*/ 1599 w 6130"/>
                  <a:gd name="T49" fmla="*/ 5847 h 6130"/>
                  <a:gd name="T50" fmla="*/ 1599 w 6130"/>
                  <a:gd name="T51" fmla="*/ 4814 h 6130"/>
                  <a:gd name="T52" fmla="*/ 1316 w 6130"/>
                  <a:gd name="T53" fmla="*/ 4531 h 6130"/>
                  <a:gd name="T54" fmla="*/ 999 w 6130"/>
                  <a:gd name="T55" fmla="*/ 4531 h 6130"/>
                  <a:gd name="T56" fmla="*/ 999 w 6130"/>
                  <a:gd name="T57" fmla="*/ 4463 h 6130"/>
                  <a:gd name="T58" fmla="*/ 1998 w 6130"/>
                  <a:gd name="T59" fmla="*/ 3465 h 6130"/>
                  <a:gd name="T60" fmla="*/ 2865 w 6130"/>
                  <a:gd name="T61" fmla="*/ 3465 h 6130"/>
                  <a:gd name="T62" fmla="*/ 2865 w 6130"/>
                  <a:gd name="T63" fmla="*/ 4531 h 6130"/>
                  <a:gd name="T64" fmla="*/ 2549 w 6130"/>
                  <a:gd name="T65" fmla="*/ 4531 h 6130"/>
                  <a:gd name="T66" fmla="*/ 2265 w 6130"/>
                  <a:gd name="T67" fmla="*/ 4814 h 6130"/>
                  <a:gd name="T68" fmla="*/ 2265 w 6130"/>
                  <a:gd name="T69" fmla="*/ 5847 h 6130"/>
                  <a:gd name="T70" fmla="*/ 2549 w 6130"/>
                  <a:gd name="T71" fmla="*/ 6130 h 6130"/>
                  <a:gd name="T72" fmla="*/ 3581 w 6130"/>
                  <a:gd name="T73" fmla="*/ 6130 h 6130"/>
                  <a:gd name="T74" fmla="*/ 3864 w 6130"/>
                  <a:gd name="T75" fmla="*/ 5847 h 6130"/>
                  <a:gd name="T76" fmla="*/ 3864 w 6130"/>
                  <a:gd name="T77" fmla="*/ 4814 h 6130"/>
                  <a:gd name="T78" fmla="*/ 3581 w 6130"/>
                  <a:gd name="T79" fmla="*/ 4531 h 6130"/>
                  <a:gd name="T80" fmla="*/ 3265 w 6130"/>
                  <a:gd name="T81" fmla="*/ 4531 h 6130"/>
                  <a:gd name="T82" fmla="*/ 3265 w 6130"/>
                  <a:gd name="T83" fmla="*/ 3465 h 6130"/>
                  <a:gd name="T84" fmla="*/ 4132 w 6130"/>
                  <a:gd name="T85" fmla="*/ 3465 h 6130"/>
                  <a:gd name="T86" fmla="*/ 5130 w 6130"/>
                  <a:gd name="T87" fmla="*/ 4463 h 6130"/>
                  <a:gd name="T88" fmla="*/ 5130 w 6130"/>
                  <a:gd name="T89" fmla="*/ 4531 h 6130"/>
                  <a:gd name="T90" fmla="*/ 4814 w 6130"/>
                  <a:gd name="T91" fmla="*/ 4531 h 6130"/>
                  <a:gd name="T92" fmla="*/ 4531 w 6130"/>
                  <a:gd name="T93" fmla="*/ 4814 h 6130"/>
                  <a:gd name="T94" fmla="*/ 4531 w 6130"/>
                  <a:gd name="T95" fmla="*/ 5847 h 6130"/>
                  <a:gd name="T96" fmla="*/ 4814 w 6130"/>
                  <a:gd name="T97" fmla="*/ 6130 h 6130"/>
                  <a:gd name="T98" fmla="*/ 5847 w 6130"/>
                  <a:gd name="T99" fmla="*/ 6130 h 6130"/>
                  <a:gd name="T100" fmla="*/ 6130 w 6130"/>
                  <a:gd name="T101" fmla="*/ 5847 h 6130"/>
                  <a:gd name="T102" fmla="*/ 6130 w 6130"/>
                  <a:gd name="T103" fmla="*/ 4814 h 6130"/>
                  <a:gd name="T104" fmla="*/ 5847 w 6130"/>
                  <a:gd name="T105" fmla="*/ 4531 h 6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30" h="6130">
                    <a:moveTo>
                      <a:pt x="5847" y="4531"/>
                    </a:moveTo>
                    <a:lnTo>
                      <a:pt x="5530" y="4531"/>
                    </a:lnTo>
                    <a:lnTo>
                      <a:pt x="5530" y="4463"/>
                    </a:lnTo>
                    <a:cubicBezTo>
                      <a:pt x="5530" y="3692"/>
                      <a:pt x="4903" y="3065"/>
                      <a:pt x="4132" y="3065"/>
                    </a:cubicBezTo>
                    <a:lnTo>
                      <a:pt x="3265" y="3065"/>
                    </a:lnTo>
                    <a:lnTo>
                      <a:pt x="3265" y="1599"/>
                    </a:lnTo>
                    <a:lnTo>
                      <a:pt x="3581" y="1599"/>
                    </a:lnTo>
                    <a:cubicBezTo>
                      <a:pt x="3738" y="1599"/>
                      <a:pt x="3864" y="1472"/>
                      <a:pt x="3864" y="1316"/>
                    </a:cubicBezTo>
                    <a:lnTo>
                      <a:pt x="3864" y="283"/>
                    </a:lnTo>
                    <a:cubicBezTo>
                      <a:pt x="3864" y="127"/>
                      <a:pt x="3738" y="0"/>
                      <a:pt x="3581" y="0"/>
                    </a:cubicBezTo>
                    <a:lnTo>
                      <a:pt x="2549" y="0"/>
                    </a:lnTo>
                    <a:cubicBezTo>
                      <a:pt x="2392" y="0"/>
                      <a:pt x="2265" y="127"/>
                      <a:pt x="2265" y="283"/>
                    </a:cubicBezTo>
                    <a:lnTo>
                      <a:pt x="2265" y="1316"/>
                    </a:lnTo>
                    <a:cubicBezTo>
                      <a:pt x="2265" y="1472"/>
                      <a:pt x="2392" y="1599"/>
                      <a:pt x="2549" y="1599"/>
                    </a:cubicBezTo>
                    <a:lnTo>
                      <a:pt x="2865" y="1599"/>
                    </a:lnTo>
                    <a:lnTo>
                      <a:pt x="2865" y="3065"/>
                    </a:lnTo>
                    <a:lnTo>
                      <a:pt x="1998" y="3065"/>
                    </a:lnTo>
                    <a:cubicBezTo>
                      <a:pt x="1227" y="3065"/>
                      <a:pt x="600" y="3692"/>
                      <a:pt x="600" y="4463"/>
                    </a:cubicBezTo>
                    <a:lnTo>
                      <a:pt x="600" y="4531"/>
                    </a:lnTo>
                    <a:lnTo>
                      <a:pt x="283" y="4531"/>
                    </a:lnTo>
                    <a:cubicBezTo>
                      <a:pt x="127" y="4531"/>
                      <a:pt x="0" y="4658"/>
                      <a:pt x="0" y="4814"/>
                    </a:cubicBezTo>
                    <a:lnTo>
                      <a:pt x="0" y="5847"/>
                    </a:lnTo>
                    <a:cubicBezTo>
                      <a:pt x="0" y="6003"/>
                      <a:pt x="127" y="6130"/>
                      <a:pt x="283" y="6130"/>
                    </a:cubicBezTo>
                    <a:lnTo>
                      <a:pt x="1316" y="6130"/>
                    </a:lnTo>
                    <a:cubicBezTo>
                      <a:pt x="1472" y="6130"/>
                      <a:pt x="1599" y="6003"/>
                      <a:pt x="1599" y="5847"/>
                    </a:cubicBezTo>
                    <a:lnTo>
                      <a:pt x="1599" y="4814"/>
                    </a:lnTo>
                    <a:cubicBezTo>
                      <a:pt x="1599" y="4658"/>
                      <a:pt x="1472" y="4531"/>
                      <a:pt x="1316" y="4531"/>
                    </a:cubicBezTo>
                    <a:lnTo>
                      <a:pt x="999" y="4531"/>
                    </a:lnTo>
                    <a:lnTo>
                      <a:pt x="999" y="4463"/>
                    </a:lnTo>
                    <a:cubicBezTo>
                      <a:pt x="999" y="3913"/>
                      <a:pt x="1447" y="3465"/>
                      <a:pt x="1998" y="3465"/>
                    </a:cubicBezTo>
                    <a:lnTo>
                      <a:pt x="2865" y="3465"/>
                    </a:lnTo>
                    <a:lnTo>
                      <a:pt x="2865" y="4531"/>
                    </a:lnTo>
                    <a:lnTo>
                      <a:pt x="2549" y="4531"/>
                    </a:lnTo>
                    <a:cubicBezTo>
                      <a:pt x="2392" y="4531"/>
                      <a:pt x="2265" y="4658"/>
                      <a:pt x="2265" y="4814"/>
                    </a:cubicBezTo>
                    <a:lnTo>
                      <a:pt x="2265" y="5847"/>
                    </a:lnTo>
                    <a:cubicBezTo>
                      <a:pt x="2265" y="6003"/>
                      <a:pt x="2392" y="6130"/>
                      <a:pt x="2549" y="6130"/>
                    </a:cubicBezTo>
                    <a:lnTo>
                      <a:pt x="3581" y="6130"/>
                    </a:lnTo>
                    <a:cubicBezTo>
                      <a:pt x="3738" y="6130"/>
                      <a:pt x="3864" y="6003"/>
                      <a:pt x="3864" y="5847"/>
                    </a:cubicBezTo>
                    <a:lnTo>
                      <a:pt x="3864" y="4814"/>
                    </a:lnTo>
                    <a:cubicBezTo>
                      <a:pt x="3864" y="4658"/>
                      <a:pt x="3738" y="4531"/>
                      <a:pt x="3581" y="4531"/>
                    </a:cubicBezTo>
                    <a:lnTo>
                      <a:pt x="3265" y="4531"/>
                    </a:lnTo>
                    <a:lnTo>
                      <a:pt x="3265" y="3465"/>
                    </a:lnTo>
                    <a:lnTo>
                      <a:pt x="4132" y="3465"/>
                    </a:lnTo>
                    <a:cubicBezTo>
                      <a:pt x="4683" y="3465"/>
                      <a:pt x="5130" y="3913"/>
                      <a:pt x="5130" y="4463"/>
                    </a:cubicBezTo>
                    <a:lnTo>
                      <a:pt x="5130" y="4531"/>
                    </a:lnTo>
                    <a:lnTo>
                      <a:pt x="4814" y="4531"/>
                    </a:lnTo>
                    <a:cubicBezTo>
                      <a:pt x="4657" y="4531"/>
                      <a:pt x="4531" y="4658"/>
                      <a:pt x="4531" y="4814"/>
                    </a:cubicBezTo>
                    <a:lnTo>
                      <a:pt x="4531" y="5847"/>
                    </a:lnTo>
                    <a:cubicBezTo>
                      <a:pt x="4531" y="6003"/>
                      <a:pt x="4657" y="6130"/>
                      <a:pt x="4814" y="6130"/>
                    </a:cubicBezTo>
                    <a:lnTo>
                      <a:pt x="5847" y="6130"/>
                    </a:lnTo>
                    <a:cubicBezTo>
                      <a:pt x="6003" y="6130"/>
                      <a:pt x="6130" y="6003"/>
                      <a:pt x="6130" y="5847"/>
                    </a:cubicBezTo>
                    <a:lnTo>
                      <a:pt x="6130" y="4814"/>
                    </a:lnTo>
                    <a:cubicBezTo>
                      <a:pt x="6130" y="4658"/>
                      <a:pt x="6003" y="4531"/>
                      <a:pt x="5847" y="4531"/>
                    </a:cubicBezTo>
                    <a:close/>
                  </a:path>
                </a:pathLst>
              </a:custGeom>
              <a:solidFill>
                <a:srgbClr val="FFFFFF"/>
              </a:solidFill>
              <a:ln>
                <a:noFill/>
              </a:ln>
            </p:spPr>
            <p:txBody>
              <a:bodyPr vert="horz" wrap="square" lIns="91440" tIns="45720" rIns="91440" bIns="45720" numCol="1" anchor="t" anchorCtr="0" compatLnSpc="1">
                <a:prstTxWarp prst="textNoShape">
                  <a:avLst/>
                </a:prstTxWarp>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grpSp>
        <p:grpSp>
          <p:nvGrpSpPr>
            <p:cNvPr id="7" name="组合 6">
              <a:extLst>
                <a:ext uri="{FF2B5EF4-FFF2-40B4-BE49-F238E27FC236}">
                  <a16:creationId xmlns:a16="http://schemas.microsoft.com/office/drawing/2014/main" id="{13050484-AE8A-87E9-BE99-CBE91A72B9FD}"/>
                </a:ext>
              </a:extLst>
            </p:cNvPr>
            <p:cNvGrpSpPr/>
            <p:nvPr/>
          </p:nvGrpSpPr>
          <p:grpSpPr>
            <a:xfrm>
              <a:off x="5015306" y="2688593"/>
              <a:ext cx="2167739" cy="3375208"/>
              <a:chOff x="5015306" y="2688593"/>
              <a:chExt cx="2167739" cy="3375208"/>
            </a:xfrm>
          </p:grpSpPr>
          <p:sp>
            <p:nvSpPr>
              <p:cNvPr id="20" name="Bullet3">
                <a:extLst>
                  <a:ext uri="{FF2B5EF4-FFF2-40B4-BE49-F238E27FC236}">
                    <a16:creationId xmlns:a16="http://schemas.microsoft.com/office/drawing/2014/main" id="{A70BA667-DB69-CC34-78DC-A0A8483498F3}"/>
                  </a:ext>
                </a:extLst>
              </p:cNvPr>
              <p:cNvSpPr txBox="1"/>
              <p:nvPr/>
            </p:nvSpPr>
            <p:spPr bwMode="auto">
              <a:xfrm>
                <a:off x="5015306" y="4909688"/>
                <a:ext cx="21677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spcBef>
                    <a:spcPct val="0"/>
                  </a:spcBef>
                  <a:buFontTx/>
                  <a:buNone/>
                </a:pPr>
                <a:r>
                  <a:rPr lang="en-US" altLang="zh-CN" b="1" dirty="0"/>
                  <a:t>3. Consolidation</a:t>
                </a:r>
              </a:p>
            </p:txBody>
          </p:sp>
          <p:sp>
            <p:nvSpPr>
              <p:cNvPr id="21" name="Text3">
                <a:extLst>
                  <a:ext uri="{FF2B5EF4-FFF2-40B4-BE49-F238E27FC236}">
                    <a16:creationId xmlns:a16="http://schemas.microsoft.com/office/drawing/2014/main" id="{70AF0F85-57CE-C957-7095-DD3B62790D8F}"/>
                  </a:ext>
                </a:extLst>
              </p:cNvPr>
              <p:cNvSpPr/>
              <p:nvPr/>
            </p:nvSpPr>
            <p:spPr bwMode="auto">
              <a:xfrm>
                <a:off x="5015306" y="5279020"/>
                <a:ext cx="2167739" cy="784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1">
                <a:normAutofit fontScale="9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pPr>
                <a:r>
                  <a:rPr lang="en-US" altLang="zh-CN" sz="1200" dirty="0"/>
                  <a:t>Consolidate and organize all findings into a concise and cohesive narrative for each business question.</a:t>
                </a:r>
              </a:p>
            </p:txBody>
          </p:sp>
          <p:sp>
            <p:nvSpPr>
              <p:cNvPr id="22" name="IconBackground3">
                <a:extLst>
                  <a:ext uri="{FF2B5EF4-FFF2-40B4-BE49-F238E27FC236}">
                    <a16:creationId xmlns:a16="http://schemas.microsoft.com/office/drawing/2014/main" id="{FBD0C919-C125-80B9-E1BA-81DF74FF23F4}"/>
                  </a:ext>
                </a:extLst>
              </p:cNvPr>
              <p:cNvSpPr/>
              <p:nvPr/>
            </p:nvSpPr>
            <p:spPr bwMode="auto">
              <a:xfrm>
                <a:off x="5675333" y="2688593"/>
                <a:ext cx="844318" cy="714048"/>
              </a:xfrm>
              <a:prstGeom prst="hexagon">
                <a:avLst/>
              </a:prstGeom>
              <a:solidFill>
                <a:schemeClr val="accent1"/>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3" name="Icon3">
                <a:extLst>
                  <a:ext uri="{FF2B5EF4-FFF2-40B4-BE49-F238E27FC236}">
                    <a16:creationId xmlns:a16="http://schemas.microsoft.com/office/drawing/2014/main" id="{294F579D-AC03-8F29-48AB-518B5B6632F2}"/>
                  </a:ext>
                </a:extLst>
              </p:cNvPr>
              <p:cNvSpPr/>
              <p:nvPr/>
            </p:nvSpPr>
            <p:spPr bwMode="auto">
              <a:xfrm>
                <a:off x="5941574" y="2885089"/>
                <a:ext cx="315202" cy="321056"/>
              </a:xfrm>
              <a:custGeom>
                <a:avLst/>
                <a:gdLst>
                  <a:gd name="T0" fmla="*/ 420 w 3882"/>
                  <a:gd name="T1" fmla="*/ 2714 h 3960"/>
                  <a:gd name="T2" fmla="*/ 970 w 3882"/>
                  <a:gd name="T3" fmla="*/ 3268 h 3960"/>
                  <a:gd name="T4" fmla="*/ 766 w 3882"/>
                  <a:gd name="T5" fmla="*/ 3595 h 3960"/>
                  <a:gd name="T6" fmla="*/ 1131 w 3882"/>
                  <a:gd name="T7" fmla="*/ 3960 h 3960"/>
                  <a:gd name="T8" fmla="*/ 1495 w 3882"/>
                  <a:gd name="T9" fmla="*/ 3595 h 3960"/>
                  <a:gd name="T10" fmla="*/ 1291 w 3882"/>
                  <a:gd name="T11" fmla="*/ 3268 h 3960"/>
                  <a:gd name="T12" fmla="*/ 2700 w 3882"/>
                  <a:gd name="T13" fmla="*/ 3268 h 3960"/>
                  <a:gd name="T14" fmla="*/ 2496 w 3882"/>
                  <a:gd name="T15" fmla="*/ 3595 h 3960"/>
                  <a:gd name="T16" fmla="*/ 2861 w 3882"/>
                  <a:gd name="T17" fmla="*/ 3960 h 3960"/>
                  <a:gd name="T18" fmla="*/ 3226 w 3882"/>
                  <a:gd name="T19" fmla="*/ 3595 h 3960"/>
                  <a:gd name="T20" fmla="*/ 3022 w 3882"/>
                  <a:gd name="T21" fmla="*/ 3268 h 3960"/>
                  <a:gd name="T22" fmla="*/ 3322 w 3882"/>
                  <a:gd name="T23" fmla="*/ 3268 h 3960"/>
                  <a:gd name="T24" fmla="*/ 3456 w 3882"/>
                  <a:gd name="T25" fmla="*/ 3134 h 3960"/>
                  <a:gd name="T26" fmla="*/ 3322 w 3882"/>
                  <a:gd name="T27" fmla="*/ 3000 h 3960"/>
                  <a:gd name="T28" fmla="*/ 973 w 3882"/>
                  <a:gd name="T29" fmla="*/ 3000 h 3960"/>
                  <a:gd name="T30" fmla="*/ 688 w 3882"/>
                  <a:gd name="T31" fmla="*/ 2714 h 3960"/>
                  <a:gd name="T32" fmla="*/ 688 w 3882"/>
                  <a:gd name="T33" fmla="*/ 2496 h 3960"/>
                  <a:gd name="T34" fmla="*/ 973 w 3882"/>
                  <a:gd name="T35" fmla="*/ 2576 h 3960"/>
                  <a:gd name="T36" fmla="*/ 2861 w 3882"/>
                  <a:gd name="T37" fmla="*/ 2576 h 3960"/>
                  <a:gd name="T38" fmla="*/ 3524 w 3882"/>
                  <a:gd name="T39" fmla="*/ 2075 h 3960"/>
                  <a:gd name="T40" fmla="*/ 3871 w 3882"/>
                  <a:gd name="T41" fmla="*/ 863 h 3960"/>
                  <a:gd name="T42" fmla="*/ 3849 w 3882"/>
                  <a:gd name="T43" fmla="*/ 746 h 3960"/>
                  <a:gd name="T44" fmla="*/ 3742 w 3882"/>
                  <a:gd name="T45" fmla="*/ 692 h 3960"/>
                  <a:gd name="T46" fmla="*/ 688 w 3882"/>
                  <a:gd name="T47" fmla="*/ 692 h 3960"/>
                  <a:gd name="T48" fmla="*/ 688 w 3882"/>
                  <a:gd name="T49" fmla="*/ 554 h 3960"/>
                  <a:gd name="T50" fmla="*/ 134 w 3882"/>
                  <a:gd name="T51" fmla="*/ 0 h 3960"/>
                  <a:gd name="T52" fmla="*/ 0 w 3882"/>
                  <a:gd name="T53" fmla="*/ 134 h 3960"/>
                  <a:gd name="T54" fmla="*/ 134 w 3882"/>
                  <a:gd name="T55" fmla="*/ 268 h 3960"/>
                  <a:gd name="T56" fmla="*/ 420 w 3882"/>
                  <a:gd name="T57" fmla="*/ 554 h 3960"/>
                  <a:gd name="T58" fmla="*/ 420 w 3882"/>
                  <a:gd name="T59" fmla="*/ 2714 h 3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882" h="3960">
                    <a:moveTo>
                      <a:pt x="420" y="2714"/>
                    </a:moveTo>
                    <a:cubicBezTo>
                      <a:pt x="420" y="3018"/>
                      <a:pt x="666" y="3266"/>
                      <a:pt x="970" y="3268"/>
                    </a:cubicBezTo>
                    <a:cubicBezTo>
                      <a:pt x="849" y="3327"/>
                      <a:pt x="766" y="3452"/>
                      <a:pt x="766" y="3595"/>
                    </a:cubicBezTo>
                    <a:cubicBezTo>
                      <a:pt x="766" y="3796"/>
                      <a:pt x="930" y="3960"/>
                      <a:pt x="1131" y="3960"/>
                    </a:cubicBezTo>
                    <a:cubicBezTo>
                      <a:pt x="1332" y="3960"/>
                      <a:pt x="1495" y="3796"/>
                      <a:pt x="1495" y="3595"/>
                    </a:cubicBezTo>
                    <a:cubicBezTo>
                      <a:pt x="1495" y="3452"/>
                      <a:pt x="1412" y="3327"/>
                      <a:pt x="1291" y="3268"/>
                    </a:cubicBezTo>
                    <a:lnTo>
                      <a:pt x="2700" y="3268"/>
                    </a:lnTo>
                    <a:cubicBezTo>
                      <a:pt x="2579" y="3327"/>
                      <a:pt x="2496" y="3452"/>
                      <a:pt x="2496" y="3595"/>
                    </a:cubicBezTo>
                    <a:cubicBezTo>
                      <a:pt x="2496" y="3796"/>
                      <a:pt x="2660" y="3960"/>
                      <a:pt x="2861" y="3960"/>
                    </a:cubicBezTo>
                    <a:cubicBezTo>
                      <a:pt x="3062" y="3960"/>
                      <a:pt x="3226" y="3796"/>
                      <a:pt x="3226" y="3595"/>
                    </a:cubicBezTo>
                    <a:cubicBezTo>
                      <a:pt x="3226" y="3452"/>
                      <a:pt x="3142" y="3327"/>
                      <a:pt x="3022" y="3268"/>
                    </a:cubicBezTo>
                    <a:lnTo>
                      <a:pt x="3322" y="3268"/>
                    </a:lnTo>
                    <a:cubicBezTo>
                      <a:pt x="3396" y="3268"/>
                      <a:pt x="3456" y="3208"/>
                      <a:pt x="3456" y="3134"/>
                    </a:cubicBezTo>
                    <a:cubicBezTo>
                      <a:pt x="3456" y="3060"/>
                      <a:pt x="3396" y="3000"/>
                      <a:pt x="3322" y="3000"/>
                    </a:cubicBezTo>
                    <a:lnTo>
                      <a:pt x="973" y="3000"/>
                    </a:lnTo>
                    <a:cubicBezTo>
                      <a:pt x="816" y="3000"/>
                      <a:pt x="688" y="2872"/>
                      <a:pt x="688" y="2714"/>
                    </a:cubicBezTo>
                    <a:lnTo>
                      <a:pt x="688" y="2496"/>
                    </a:lnTo>
                    <a:cubicBezTo>
                      <a:pt x="771" y="2547"/>
                      <a:pt x="869" y="2576"/>
                      <a:pt x="973" y="2576"/>
                    </a:cubicBezTo>
                    <a:lnTo>
                      <a:pt x="2861" y="2576"/>
                    </a:lnTo>
                    <a:cubicBezTo>
                      <a:pt x="3153" y="2576"/>
                      <a:pt x="3444" y="2356"/>
                      <a:pt x="3524" y="2075"/>
                    </a:cubicBezTo>
                    <a:lnTo>
                      <a:pt x="3871" y="863"/>
                    </a:lnTo>
                    <a:cubicBezTo>
                      <a:pt x="3882" y="823"/>
                      <a:pt x="3874" y="779"/>
                      <a:pt x="3849" y="746"/>
                    </a:cubicBezTo>
                    <a:cubicBezTo>
                      <a:pt x="3823" y="712"/>
                      <a:pt x="3784" y="692"/>
                      <a:pt x="3742" y="692"/>
                    </a:cubicBezTo>
                    <a:lnTo>
                      <a:pt x="688" y="692"/>
                    </a:lnTo>
                    <a:lnTo>
                      <a:pt x="688" y="554"/>
                    </a:lnTo>
                    <a:cubicBezTo>
                      <a:pt x="688" y="248"/>
                      <a:pt x="440" y="0"/>
                      <a:pt x="134" y="0"/>
                    </a:cubicBezTo>
                    <a:cubicBezTo>
                      <a:pt x="60" y="0"/>
                      <a:pt x="0" y="60"/>
                      <a:pt x="0" y="134"/>
                    </a:cubicBezTo>
                    <a:cubicBezTo>
                      <a:pt x="0" y="208"/>
                      <a:pt x="60" y="268"/>
                      <a:pt x="134" y="268"/>
                    </a:cubicBezTo>
                    <a:cubicBezTo>
                      <a:pt x="292" y="268"/>
                      <a:pt x="420" y="396"/>
                      <a:pt x="420" y="554"/>
                    </a:cubicBezTo>
                    <a:lnTo>
                      <a:pt x="420" y="2714"/>
                    </a:lnTo>
                    <a:close/>
                  </a:path>
                </a:pathLst>
              </a:custGeom>
              <a:solidFill>
                <a:srgbClr val="FFFFFF"/>
              </a:solidFill>
              <a:ln>
                <a:noFill/>
              </a:ln>
            </p:spPr>
            <p:txBody>
              <a:bodyPr vert="horz" wrap="square" lIns="91440" tIns="45720" rIns="91440" bIns="45720" numCol="1" anchor="t" anchorCtr="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grpSp>
        <p:grpSp>
          <p:nvGrpSpPr>
            <p:cNvPr id="8" name="组合 7">
              <a:extLst>
                <a:ext uri="{FF2B5EF4-FFF2-40B4-BE49-F238E27FC236}">
                  <a16:creationId xmlns:a16="http://schemas.microsoft.com/office/drawing/2014/main" id="{5E2592D6-45E9-0A70-F6A6-50DFD7702696}"/>
                </a:ext>
              </a:extLst>
            </p:cNvPr>
            <p:cNvGrpSpPr/>
            <p:nvPr/>
          </p:nvGrpSpPr>
          <p:grpSpPr>
            <a:xfrm>
              <a:off x="6777034" y="2499863"/>
              <a:ext cx="2167739" cy="3312672"/>
              <a:chOff x="6777034" y="2499863"/>
              <a:chExt cx="2167739" cy="3312672"/>
            </a:xfrm>
          </p:grpSpPr>
          <p:sp>
            <p:nvSpPr>
              <p:cNvPr id="16" name="Bullet4">
                <a:extLst>
                  <a:ext uri="{FF2B5EF4-FFF2-40B4-BE49-F238E27FC236}">
                    <a16:creationId xmlns:a16="http://schemas.microsoft.com/office/drawing/2014/main" id="{FEDC54A0-9325-5472-3901-DF952D598365}"/>
                  </a:ext>
                </a:extLst>
              </p:cNvPr>
              <p:cNvSpPr txBox="1"/>
              <p:nvPr/>
            </p:nvSpPr>
            <p:spPr bwMode="auto">
              <a:xfrm>
                <a:off x="6777034" y="2499863"/>
                <a:ext cx="21677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spcBef>
                    <a:spcPct val="0"/>
                  </a:spcBef>
                  <a:buFontTx/>
                  <a:buNone/>
                </a:pPr>
                <a:r>
                  <a:rPr lang="en-US" altLang="zh-CN" b="1" dirty="0"/>
                  <a:t>4. Formatting</a:t>
                </a:r>
              </a:p>
            </p:txBody>
          </p:sp>
          <p:sp>
            <p:nvSpPr>
              <p:cNvPr id="17" name="Text4">
                <a:extLst>
                  <a:ext uri="{FF2B5EF4-FFF2-40B4-BE49-F238E27FC236}">
                    <a16:creationId xmlns:a16="http://schemas.microsoft.com/office/drawing/2014/main" id="{8911D83F-C14F-A75A-4123-704C5D52B274}"/>
                  </a:ext>
                </a:extLst>
              </p:cNvPr>
              <p:cNvSpPr/>
              <p:nvPr/>
            </p:nvSpPr>
            <p:spPr bwMode="auto">
              <a:xfrm>
                <a:off x="6777034" y="2869195"/>
                <a:ext cx="2167739" cy="784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1">
                <a:normAutofit fontScale="9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pPr>
                <a:r>
                  <a:rPr lang="pt-BR" altLang="zh-CN" sz="1200" dirty="0"/>
                  <a:t>Select relevant supporting figures, and generate the consolidate results in markdown format.</a:t>
                </a:r>
                <a:endParaRPr lang="en-US" altLang="zh-CN" sz="1200" dirty="0"/>
              </a:p>
            </p:txBody>
          </p:sp>
          <p:sp>
            <p:nvSpPr>
              <p:cNvPr id="18" name="IconBackground4">
                <a:extLst>
                  <a:ext uri="{FF2B5EF4-FFF2-40B4-BE49-F238E27FC236}">
                    <a16:creationId xmlns:a16="http://schemas.microsoft.com/office/drawing/2014/main" id="{B05E30C6-FEF0-FB36-769C-1294661E22BF}"/>
                  </a:ext>
                </a:extLst>
              </p:cNvPr>
              <p:cNvSpPr/>
              <p:nvPr/>
            </p:nvSpPr>
            <p:spPr bwMode="auto">
              <a:xfrm>
                <a:off x="7437061" y="5099937"/>
                <a:ext cx="844318" cy="712598"/>
              </a:xfrm>
              <a:prstGeom prst="hexagon">
                <a:avLst/>
              </a:prstGeom>
              <a:solidFill>
                <a:schemeClr val="tx2">
                  <a:alpha val="80000"/>
                </a:schemeClr>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19" name="Icon4">
                <a:extLst>
                  <a:ext uri="{FF2B5EF4-FFF2-40B4-BE49-F238E27FC236}">
                    <a16:creationId xmlns:a16="http://schemas.microsoft.com/office/drawing/2014/main" id="{E4B2DAF5-B45F-3AEE-8FB2-06F0B255FBC6}"/>
                  </a:ext>
                </a:extLst>
              </p:cNvPr>
              <p:cNvSpPr/>
              <p:nvPr/>
            </p:nvSpPr>
            <p:spPr bwMode="auto">
              <a:xfrm>
                <a:off x="7687222" y="5297468"/>
                <a:ext cx="347362" cy="317534"/>
              </a:xfrm>
              <a:custGeom>
                <a:avLst/>
                <a:gdLst>
                  <a:gd name="connsiteX0" fmla="*/ 304348 w 608697"/>
                  <a:gd name="connsiteY0" fmla="*/ 180877 h 556426"/>
                  <a:gd name="connsiteX1" fmla="*/ 366093 w 608697"/>
                  <a:gd name="connsiteY1" fmla="*/ 242550 h 556426"/>
                  <a:gd name="connsiteX2" fmla="*/ 327540 w 608697"/>
                  <a:gd name="connsiteY2" fmla="*/ 299754 h 556426"/>
                  <a:gd name="connsiteX3" fmla="*/ 327540 w 608697"/>
                  <a:gd name="connsiteY3" fmla="*/ 556426 h 556426"/>
                  <a:gd name="connsiteX4" fmla="*/ 281157 w 608697"/>
                  <a:gd name="connsiteY4" fmla="*/ 556426 h 556426"/>
                  <a:gd name="connsiteX5" fmla="*/ 281157 w 608697"/>
                  <a:gd name="connsiteY5" fmla="*/ 299754 h 556426"/>
                  <a:gd name="connsiteX6" fmla="*/ 242604 w 608697"/>
                  <a:gd name="connsiteY6" fmla="*/ 242550 h 556426"/>
                  <a:gd name="connsiteX7" fmla="*/ 304348 w 608697"/>
                  <a:gd name="connsiteY7" fmla="*/ 180877 h 556426"/>
                  <a:gd name="connsiteX8" fmla="*/ 369923 w 608697"/>
                  <a:gd name="connsiteY8" fmla="*/ 79057 h 556426"/>
                  <a:gd name="connsiteX9" fmla="*/ 393558 w 608697"/>
                  <a:gd name="connsiteY9" fmla="*/ 80137 h 556426"/>
                  <a:gd name="connsiteX10" fmla="*/ 495934 w 608697"/>
                  <a:gd name="connsiteY10" fmla="*/ 240793 h 556426"/>
                  <a:gd name="connsiteX11" fmla="*/ 393558 w 608697"/>
                  <a:gd name="connsiteY11" fmla="*/ 401449 h 556426"/>
                  <a:gd name="connsiteX12" fmla="*/ 380426 w 608697"/>
                  <a:gd name="connsiteY12" fmla="*/ 404428 h 556426"/>
                  <a:gd name="connsiteX13" fmla="*/ 352444 w 608697"/>
                  <a:gd name="connsiteY13" fmla="*/ 386627 h 556426"/>
                  <a:gd name="connsiteX14" fmla="*/ 367293 w 608697"/>
                  <a:gd name="connsiteY14" fmla="*/ 345588 h 556426"/>
                  <a:gd name="connsiteX15" fmla="*/ 434150 w 608697"/>
                  <a:gd name="connsiteY15" fmla="*/ 240793 h 556426"/>
                  <a:gd name="connsiteX16" fmla="*/ 367293 w 608697"/>
                  <a:gd name="connsiteY16" fmla="*/ 135998 h 556426"/>
                  <a:gd name="connsiteX17" fmla="*/ 352444 w 608697"/>
                  <a:gd name="connsiteY17" fmla="*/ 94958 h 556426"/>
                  <a:gd name="connsiteX18" fmla="*/ 369923 w 608697"/>
                  <a:gd name="connsiteY18" fmla="*/ 79057 h 556426"/>
                  <a:gd name="connsiteX19" fmla="*/ 239303 w 608697"/>
                  <a:gd name="connsiteY19" fmla="*/ 78821 h 556426"/>
                  <a:gd name="connsiteX20" fmla="*/ 256752 w 608697"/>
                  <a:gd name="connsiteY20" fmla="*/ 94828 h 556426"/>
                  <a:gd name="connsiteX21" fmla="*/ 241682 w 608697"/>
                  <a:gd name="connsiteY21" fmla="*/ 135799 h 556426"/>
                  <a:gd name="connsiteX22" fmla="*/ 174536 w 608697"/>
                  <a:gd name="connsiteY22" fmla="*/ 240759 h 556426"/>
                  <a:gd name="connsiteX23" fmla="*/ 241682 w 608697"/>
                  <a:gd name="connsiteY23" fmla="*/ 345720 h 556426"/>
                  <a:gd name="connsiteX24" fmla="*/ 256752 w 608697"/>
                  <a:gd name="connsiteY24" fmla="*/ 386765 h 556426"/>
                  <a:gd name="connsiteX25" fmla="*/ 228700 w 608697"/>
                  <a:gd name="connsiteY25" fmla="*/ 404569 h 556426"/>
                  <a:gd name="connsiteX26" fmla="*/ 215644 w 608697"/>
                  <a:gd name="connsiteY26" fmla="*/ 401738 h 556426"/>
                  <a:gd name="connsiteX27" fmla="*/ 112763 w 608697"/>
                  <a:gd name="connsiteY27" fmla="*/ 240759 h 556426"/>
                  <a:gd name="connsiteX28" fmla="*/ 215644 w 608697"/>
                  <a:gd name="connsiteY28" fmla="*/ 79855 h 556426"/>
                  <a:gd name="connsiteX29" fmla="*/ 239303 w 608697"/>
                  <a:gd name="connsiteY29" fmla="*/ 78821 h 556426"/>
                  <a:gd name="connsiteX30" fmla="*/ 433751 w 608697"/>
                  <a:gd name="connsiteY30" fmla="*/ 2149 h 556426"/>
                  <a:gd name="connsiteX31" fmla="*/ 457409 w 608697"/>
                  <a:gd name="connsiteY31" fmla="*/ 3220 h 556426"/>
                  <a:gd name="connsiteX32" fmla="*/ 566548 w 608697"/>
                  <a:gd name="connsiteY32" fmla="*/ 98265 h 556426"/>
                  <a:gd name="connsiteX33" fmla="*/ 608697 w 608697"/>
                  <a:gd name="connsiteY33" fmla="*/ 240757 h 556426"/>
                  <a:gd name="connsiteX34" fmla="*/ 566548 w 608697"/>
                  <a:gd name="connsiteY34" fmla="*/ 383324 h 556426"/>
                  <a:gd name="connsiteX35" fmla="*/ 457409 w 608697"/>
                  <a:gd name="connsiteY35" fmla="*/ 478295 h 556426"/>
                  <a:gd name="connsiteX36" fmla="*/ 444279 w 608697"/>
                  <a:gd name="connsiteY36" fmla="*/ 481274 h 556426"/>
                  <a:gd name="connsiteX37" fmla="*/ 416304 w 608697"/>
                  <a:gd name="connsiteY37" fmla="*/ 463472 h 556426"/>
                  <a:gd name="connsiteX38" fmla="*/ 431150 w 608697"/>
                  <a:gd name="connsiteY38" fmla="*/ 422430 h 556426"/>
                  <a:gd name="connsiteX39" fmla="*/ 546928 w 608697"/>
                  <a:gd name="connsiteY39" fmla="*/ 240757 h 556426"/>
                  <a:gd name="connsiteX40" fmla="*/ 431150 w 608697"/>
                  <a:gd name="connsiteY40" fmla="*/ 59085 h 556426"/>
                  <a:gd name="connsiteX41" fmla="*/ 416304 w 608697"/>
                  <a:gd name="connsiteY41" fmla="*/ 18117 h 556426"/>
                  <a:gd name="connsiteX42" fmla="*/ 433751 w 608697"/>
                  <a:gd name="connsiteY42" fmla="*/ 2149 h 556426"/>
                  <a:gd name="connsiteX43" fmla="*/ 175731 w 608697"/>
                  <a:gd name="connsiteY43" fmla="*/ 1886 h 556426"/>
                  <a:gd name="connsiteX44" fmla="*/ 193175 w 608697"/>
                  <a:gd name="connsiteY44" fmla="*/ 17837 h 556426"/>
                  <a:gd name="connsiteX45" fmla="*/ 178109 w 608697"/>
                  <a:gd name="connsiteY45" fmla="*/ 58883 h 556426"/>
                  <a:gd name="connsiteX46" fmla="*/ 61756 w 608697"/>
                  <a:gd name="connsiteY46" fmla="*/ 240793 h 556426"/>
                  <a:gd name="connsiteX47" fmla="*/ 178109 w 608697"/>
                  <a:gd name="connsiteY47" fmla="*/ 422778 h 556426"/>
                  <a:gd name="connsiteX48" fmla="*/ 193175 w 608697"/>
                  <a:gd name="connsiteY48" fmla="*/ 463749 h 556426"/>
                  <a:gd name="connsiteX49" fmla="*/ 165131 w 608697"/>
                  <a:gd name="connsiteY49" fmla="*/ 481627 h 556426"/>
                  <a:gd name="connsiteX50" fmla="*/ 152079 w 608697"/>
                  <a:gd name="connsiteY50" fmla="*/ 478722 h 556426"/>
                  <a:gd name="connsiteX51" fmla="*/ 42439 w 608697"/>
                  <a:gd name="connsiteY51" fmla="*/ 383744 h 556426"/>
                  <a:gd name="connsiteX52" fmla="*/ 0 w 608697"/>
                  <a:gd name="connsiteY52" fmla="*/ 240793 h 556426"/>
                  <a:gd name="connsiteX53" fmla="*/ 42439 w 608697"/>
                  <a:gd name="connsiteY53" fmla="*/ 97917 h 556426"/>
                  <a:gd name="connsiteX54" fmla="*/ 152079 w 608697"/>
                  <a:gd name="connsiteY54" fmla="*/ 2864 h 556426"/>
                  <a:gd name="connsiteX55" fmla="*/ 175731 w 608697"/>
                  <a:gd name="connsiteY55" fmla="*/ 1886 h 556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608697" h="556426">
                    <a:moveTo>
                      <a:pt x="304348" y="180877"/>
                    </a:moveTo>
                    <a:cubicBezTo>
                      <a:pt x="338502" y="180877"/>
                      <a:pt x="366093" y="208436"/>
                      <a:pt x="366093" y="242550"/>
                    </a:cubicBezTo>
                    <a:cubicBezTo>
                      <a:pt x="366093" y="268470"/>
                      <a:pt x="350135" y="290592"/>
                      <a:pt x="327540" y="299754"/>
                    </a:cubicBezTo>
                    <a:lnTo>
                      <a:pt x="327540" y="556426"/>
                    </a:lnTo>
                    <a:lnTo>
                      <a:pt x="281157" y="556426"/>
                    </a:lnTo>
                    <a:lnTo>
                      <a:pt x="281157" y="299754"/>
                    </a:lnTo>
                    <a:cubicBezTo>
                      <a:pt x="258562" y="290592"/>
                      <a:pt x="242604" y="268470"/>
                      <a:pt x="242604" y="242550"/>
                    </a:cubicBezTo>
                    <a:cubicBezTo>
                      <a:pt x="242604" y="208436"/>
                      <a:pt x="270195" y="180877"/>
                      <a:pt x="304348" y="180877"/>
                    </a:cubicBezTo>
                    <a:close/>
                    <a:moveTo>
                      <a:pt x="369923" y="79057"/>
                    </a:moveTo>
                    <a:cubicBezTo>
                      <a:pt x="377366" y="76376"/>
                      <a:pt x="385835" y="76525"/>
                      <a:pt x="393558" y="80137"/>
                    </a:cubicBezTo>
                    <a:cubicBezTo>
                      <a:pt x="455790" y="109259"/>
                      <a:pt x="495934" y="172344"/>
                      <a:pt x="495934" y="240793"/>
                    </a:cubicBezTo>
                    <a:cubicBezTo>
                      <a:pt x="495934" y="309315"/>
                      <a:pt x="455790" y="372401"/>
                      <a:pt x="393558" y="401449"/>
                    </a:cubicBezTo>
                    <a:cubicBezTo>
                      <a:pt x="389305" y="403460"/>
                      <a:pt x="384828" y="404428"/>
                      <a:pt x="380426" y="404428"/>
                    </a:cubicBezTo>
                    <a:cubicBezTo>
                      <a:pt x="368860" y="404428"/>
                      <a:pt x="357742" y="397799"/>
                      <a:pt x="352444" y="386627"/>
                    </a:cubicBezTo>
                    <a:cubicBezTo>
                      <a:pt x="345206" y="371209"/>
                      <a:pt x="351847" y="352813"/>
                      <a:pt x="367293" y="345588"/>
                    </a:cubicBezTo>
                    <a:cubicBezTo>
                      <a:pt x="407885" y="326595"/>
                      <a:pt x="434150" y="285481"/>
                      <a:pt x="434150" y="240793"/>
                    </a:cubicBezTo>
                    <a:cubicBezTo>
                      <a:pt x="434150" y="196104"/>
                      <a:pt x="407885" y="154990"/>
                      <a:pt x="367293" y="135998"/>
                    </a:cubicBezTo>
                    <a:cubicBezTo>
                      <a:pt x="351847" y="128773"/>
                      <a:pt x="345206" y="110376"/>
                      <a:pt x="352444" y="94958"/>
                    </a:cubicBezTo>
                    <a:cubicBezTo>
                      <a:pt x="356063" y="87250"/>
                      <a:pt x="362480" y="81738"/>
                      <a:pt x="369923" y="79057"/>
                    </a:cubicBezTo>
                    <a:close/>
                    <a:moveTo>
                      <a:pt x="239303" y="78821"/>
                    </a:moveTo>
                    <a:cubicBezTo>
                      <a:pt x="246736" y="81531"/>
                      <a:pt x="253134" y="87081"/>
                      <a:pt x="256752" y="94828"/>
                    </a:cubicBezTo>
                    <a:cubicBezTo>
                      <a:pt x="263914" y="110248"/>
                      <a:pt x="257200" y="128648"/>
                      <a:pt x="241682" y="135799"/>
                    </a:cubicBezTo>
                    <a:cubicBezTo>
                      <a:pt x="200947" y="154720"/>
                      <a:pt x="174536" y="195915"/>
                      <a:pt x="174536" y="240759"/>
                    </a:cubicBezTo>
                    <a:cubicBezTo>
                      <a:pt x="174536" y="285604"/>
                      <a:pt x="200947" y="326873"/>
                      <a:pt x="241682" y="345720"/>
                    </a:cubicBezTo>
                    <a:cubicBezTo>
                      <a:pt x="257200" y="352945"/>
                      <a:pt x="263914" y="371271"/>
                      <a:pt x="256752" y="386765"/>
                    </a:cubicBezTo>
                    <a:cubicBezTo>
                      <a:pt x="251455" y="398014"/>
                      <a:pt x="240339" y="404569"/>
                      <a:pt x="228700" y="404569"/>
                    </a:cubicBezTo>
                    <a:cubicBezTo>
                      <a:pt x="224298" y="404569"/>
                      <a:pt x="219897" y="403675"/>
                      <a:pt x="215644" y="401738"/>
                    </a:cubicBezTo>
                    <a:cubicBezTo>
                      <a:pt x="153125" y="372761"/>
                      <a:pt x="112763" y="309516"/>
                      <a:pt x="112763" y="240759"/>
                    </a:cubicBezTo>
                    <a:cubicBezTo>
                      <a:pt x="112763" y="172002"/>
                      <a:pt x="153125" y="108833"/>
                      <a:pt x="215644" y="79855"/>
                    </a:cubicBezTo>
                    <a:cubicBezTo>
                      <a:pt x="223403" y="76242"/>
                      <a:pt x="231871" y="76112"/>
                      <a:pt x="239303" y="78821"/>
                    </a:cubicBezTo>
                    <a:close/>
                    <a:moveTo>
                      <a:pt x="433751" y="2149"/>
                    </a:moveTo>
                    <a:cubicBezTo>
                      <a:pt x="441183" y="-541"/>
                      <a:pt x="449650" y="-392"/>
                      <a:pt x="457409" y="3220"/>
                    </a:cubicBezTo>
                    <a:cubicBezTo>
                      <a:pt x="501945" y="24076"/>
                      <a:pt x="539692" y="56925"/>
                      <a:pt x="566548" y="98265"/>
                    </a:cubicBezTo>
                    <a:cubicBezTo>
                      <a:pt x="594150" y="140722"/>
                      <a:pt x="608697" y="189958"/>
                      <a:pt x="608697" y="240757"/>
                    </a:cubicBezTo>
                    <a:cubicBezTo>
                      <a:pt x="608697" y="291557"/>
                      <a:pt x="594150" y="340867"/>
                      <a:pt x="566548" y="383324"/>
                    </a:cubicBezTo>
                    <a:cubicBezTo>
                      <a:pt x="539692" y="424590"/>
                      <a:pt x="501945" y="457438"/>
                      <a:pt x="457409" y="478295"/>
                    </a:cubicBezTo>
                    <a:cubicBezTo>
                      <a:pt x="453156" y="480306"/>
                      <a:pt x="448680" y="481274"/>
                      <a:pt x="444279" y="481274"/>
                    </a:cubicBezTo>
                    <a:cubicBezTo>
                      <a:pt x="432642" y="481274"/>
                      <a:pt x="421526" y="474645"/>
                      <a:pt x="416304" y="463472"/>
                    </a:cubicBezTo>
                    <a:cubicBezTo>
                      <a:pt x="409068" y="448053"/>
                      <a:pt x="415707" y="429655"/>
                      <a:pt x="431150" y="422430"/>
                    </a:cubicBezTo>
                    <a:cubicBezTo>
                      <a:pt x="501497" y="389507"/>
                      <a:pt x="546928" y="318223"/>
                      <a:pt x="546928" y="240757"/>
                    </a:cubicBezTo>
                    <a:cubicBezTo>
                      <a:pt x="546928" y="163291"/>
                      <a:pt x="501497" y="92008"/>
                      <a:pt x="431150" y="59085"/>
                    </a:cubicBezTo>
                    <a:cubicBezTo>
                      <a:pt x="415707" y="51860"/>
                      <a:pt x="409068" y="33536"/>
                      <a:pt x="416304" y="18117"/>
                    </a:cubicBezTo>
                    <a:cubicBezTo>
                      <a:pt x="419922" y="10371"/>
                      <a:pt x="426319" y="4840"/>
                      <a:pt x="433751" y="2149"/>
                    </a:cubicBezTo>
                    <a:close/>
                    <a:moveTo>
                      <a:pt x="175731" y="1886"/>
                    </a:moveTo>
                    <a:cubicBezTo>
                      <a:pt x="183162" y="4596"/>
                      <a:pt x="189558" y="10127"/>
                      <a:pt x="193175" y="17837"/>
                    </a:cubicBezTo>
                    <a:cubicBezTo>
                      <a:pt x="200335" y="33332"/>
                      <a:pt x="193622" y="51657"/>
                      <a:pt x="178109" y="58883"/>
                    </a:cubicBezTo>
                    <a:cubicBezTo>
                      <a:pt x="107477" y="91659"/>
                      <a:pt x="61756" y="163097"/>
                      <a:pt x="61756" y="240793"/>
                    </a:cubicBezTo>
                    <a:cubicBezTo>
                      <a:pt x="61756" y="318563"/>
                      <a:pt x="107477" y="390001"/>
                      <a:pt x="178109" y="422778"/>
                    </a:cubicBezTo>
                    <a:cubicBezTo>
                      <a:pt x="193622" y="429929"/>
                      <a:pt x="200335" y="448329"/>
                      <a:pt x="193175" y="463749"/>
                    </a:cubicBezTo>
                    <a:cubicBezTo>
                      <a:pt x="187879" y="474997"/>
                      <a:pt x="176766" y="481627"/>
                      <a:pt x="165131" y="481627"/>
                    </a:cubicBezTo>
                    <a:cubicBezTo>
                      <a:pt x="160730" y="481627"/>
                      <a:pt x="156330" y="480659"/>
                      <a:pt x="152079" y="478722"/>
                    </a:cubicBezTo>
                    <a:cubicBezTo>
                      <a:pt x="107328" y="457938"/>
                      <a:pt x="69364" y="425087"/>
                      <a:pt x="42439" y="383744"/>
                    </a:cubicBezTo>
                    <a:cubicBezTo>
                      <a:pt x="14693" y="341209"/>
                      <a:pt x="0" y="291746"/>
                      <a:pt x="0" y="240793"/>
                    </a:cubicBezTo>
                    <a:cubicBezTo>
                      <a:pt x="0" y="189840"/>
                      <a:pt x="14693" y="140452"/>
                      <a:pt x="42439" y="97917"/>
                    </a:cubicBezTo>
                    <a:cubicBezTo>
                      <a:pt x="69364" y="56499"/>
                      <a:pt x="107328" y="23648"/>
                      <a:pt x="152079" y="2864"/>
                    </a:cubicBezTo>
                    <a:cubicBezTo>
                      <a:pt x="159835" y="-711"/>
                      <a:pt x="168301" y="-823"/>
                      <a:pt x="175731" y="1886"/>
                    </a:cubicBezTo>
                    <a:close/>
                  </a:path>
                </a:pathLst>
              </a:custGeom>
              <a:solidFill>
                <a:srgbClr val="FFFFFF"/>
              </a:solidFill>
              <a:ln>
                <a:noFill/>
              </a:ln>
            </p:spPr>
            <p:txBody>
              <a:bodyPr vert="horz" wrap="square" lIns="91440" tIns="45720" rIns="91440" bIns="45720" numCol="1" anchor="t" anchorCtr="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grpSp>
        <p:grpSp>
          <p:nvGrpSpPr>
            <p:cNvPr id="9" name="组合 8">
              <a:extLst>
                <a:ext uri="{FF2B5EF4-FFF2-40B4-BE49-F238E27FC236}">
                  <a16:creationId xmlns:a16="http://schemas.microsoft.com/office/drawing/2014/main" id="{C4C42747-4CA2-DC90-4DFE-A0DD0B8EC4A2}"/>
                </a:ext>
              </a:extLst>
            </p:cNvPr>
            <p:cNvGrpSpPr/>
            <p:nvPr/>
          </p:nvGrpSpPr>
          <p:grpSpPr>
            <a:xfrm>
              <a:off x="8538761" y="2688593"/>
              <a:ext cx="2167739" cy="3375208"/>
              <a:chOff x="8538761" y="2688593"/>
              <a:chExt cx="2167739" cy="3375208"/>
            </a:xfrm>
          </p:grpSpPr>
          <p:sp>
            <p:nvSpPr>
              <p:cNvPr id="12" name="Bullet5">
                <a:extLst>
                  <a:ext uri="{FF2B5EF4-FFF2-40B4-BE49-F238E27FC236}">
                    <a16:creationId xmlns:a16="http://schemas.microsoft.com/office/drawing/2014/main" id="{4FBCAEAE-45DD-5ADC-4C7E-D6FAEC1A220C}"/>
                  </a:ext>
                </a:extLst>
              </p:cNvPr>
              <p:cNvSpPr txBox="1"/>
              <p:nvPr/>
            </p:nvSpPr>
            <p:spPr bwMode="auto">
              <a:xfrm>
                <a:off x="8538761" y="4909688"/>
                <a:ext cx="21677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spcBef>
                    <a:spcPct val="0"/>
                  </a:spcBef>
                  <a:buFontTx/>
                  <a:buNone/>
                </a:pPr>
                <a:r>
                  <a:rPr lang="en-US" altLang="zh-CN" b="1" dirty="0"/>
                  <a:t>5. Conclude</a:t>
                </a:r>
              </a:p>
            </p:txBody>
          </p:sp>
          <p:sp>
            <p:nvSpPr>
              <p:cNvPr id="13" name="Text5">
                <a:extLst>
                  <a:ext uri="{FF2B5EF4-FFF2-40B4-BE49-F238E27FC236}">
                    <a16:creationId xmlns:a16="http://schemas.microsoft.com/office/drawing/2014/main" id="{0BC02C5D-196A-0A6D-D51E-EA38983F72E0}"/>
                  </a:ext>
                </a:extLst>
              </p:cNvPr>
              <p:cNvSpPr/>
              <p:nvPr/>
            </p:nvSpPr>
            <p:spPr bwMode="auto">
              <a:xfrm>
                <a:off x="8538761" y="5279020"/>
                <a:ext cx="2167739" cy="784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1">
                <a:normAutofit fontScale="9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pPr>
                <a:r>
                  <a:rPr lang="it-IT" altLang="zh-CN" sz="1200" dirty="0"/>
                  <a:t>Generate conclusion and actionable insights. Perform one round of refinement to all findings to ensure coherence.</a:t>
                </a:r>
                <a:endParaRPr lang="en-US" altLang="zh-CN" sz="1200" dirty="0"/>
              </a:p>
            </p:txBody>
          </p:sp>
          <p:sp>
            <p:nvSpPr>
              <p:cNvPr id="14" name="IconBackground5">
                <a:extLst>
                  <a:ext uri="{FF2B5EF4-FFF2-40B4-BE49-F238E27FC236}">
                    <a16:creationId xmlns:a16="http://schemas.microsoft.com/office/drawing/2014/main" id="{9EEF2AE4-48F6-B87D-11C7-0EB91FCA8991}"/>
                  </a:ext>
                </a:extLst>
              </p:cNvPr>
              <p:cNvSpPr/>
              <p:nvPr/>
            </p:nvSpPr>
            <p:spPr bwMode="auto">
              <a:xfrm>
                <a:off x="9198789" y="2688593"/>
                <a:ext cx="844318" cy="714048"/>
              </a:xfrm>
              <a:prstGeom prst="hexagon">
                <a:avLst/>
              </a:prstGeom>
              <a:solidFill>
                <a:schemeClr val="accent1"/>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15" name="Icon5">
                <a:extLst>
                  <a:ext uri="{FF2B5EF4-FFF2-40B4-BE49-F238E27FC236}">
                    <a16:creationId xmlns:a16="http://schemas.microsoft.com/office/drawing/2014/main" id="{F6C520B6-0564-B1EF-4C04-E8E9D00E75F7}"/>
                  </a:ext>
                </a:extLst>
              </p:cNvPr>
              <p:cNvSpPr/>
              <p:nvPr/>
            </p:nvSpPr>
            <p:spPr bwMode="auto">
              <a:xfrm>
                <a:off x="9448950" y="2872218"/>
                <a:ext cx="347362" cy="346798"/>
              </a:xfrm>
              <a:custGeom>
                <a:avLst/>
                <a:gdLst>
                  <a:gd name="T0" fmla="*/ 5265 w 6536"/>
                  <a:gd name="T1" fmla="*/ 3041 h 6536"/>
                  <a:gd name="T2" fmla="*/ 4284 w 6536"/>
                  <a:gd name="T3" fmla="*/ 2572 h 6536"/>
                  <a:gd name="T4" fmla="*/ 5579 w 6536"/>
                  <a:gd name="T5" fmla="*/ 1885 h 6536"/>
                  <a:gd name="T6" fmla="*/ 4651 w 6536"/>
                  <a:gd name="T7" fmla="*/ 957 h 6536"/>
                  <a:gd name="T8" fmla="*/ 3964 w 6536"/>
                  <a:gd name="T9" fmla="*/ 2252 h 6536"/>
                  <a:gd name="T10" fmla="*/ 3495 w 6536"/>
                  <a:gd name="T11" fmla="*/ 1271 h 6536"/>
                  <a:gd name="T12" fmla="*/ 3268 w 6536"/>
                  <a:gd name="T13" fmla="*/ 0 h 6536"/>
                  <a:gd name="T14" fmla="*/ 3041 w 6536"/>
                  <a:gd name="T15" fmla="*/ 1271 h 6536"/>
                  <a:gd name="T16" fmla="*/ 2572 w 6536"/>
                  <a:gd name="T17" fmla="*/ 2252 h 6536"/>
                  <a:gd name="T18" fmla="*/ 1885 w 6536"/>
                  <a:gd name="T19" fmla="*/ 957 h 6536"/>
                  <a:gd name="T20" fmla="*/ 957 w 6536"/>
                  <a:gd name="T21" fmla="*/ 1885 h 6536"/>
                  <a:gd name="T22" fmla="*/ 2252 w 6536"/>
                  <a:gd name="T23" fmla="*/ 2572 h 6536"/>
                  <a:gd name="T24" fmla="*/ 1271 w 6536"/>
                  <a:gd name="T25" fmla="*/ 3041 h 6536"/>
                  <a:gd name="T26" fmla="*/ 0 w 6536"/>
                  <a:gd name="T27" fmla="*/ 3268 h 6536"/>
                  <a:gd name="T28" fmla="*/ 1271 w 6536"/>
                  <a:gd name="T29" fmla="*/ 3495 h 6536"/>
                  <a:gd name="T30" fmla="*/ 2252 w 6536"/>
                  <a:gd name="T31" fmla="*/ 3964 h 6536"/>
                  <a:gd name="T32" fmla="*/ 957 w 6536"/>
                  <a:gd name="T33" fmla="*/ 4651 h 6536"/>
                  <a:gd name="T34" fmla="*/ 1885 w 6536"/>
                  <a:gd name="T35" fmla="*/ 5579 h 6536"/>
                  <a:gd name="T36" fmla="*/ 2572 w 6536"/>
                  <a:gd name="T37" fmla="*/ 4284 h 6536"/>
                  <a:gd name="T38" fmla="*/ 3041 w 6536"/>
                  <a:gd name="T39" fmla="*/ 5265 h 6536"/>
                  <a:gd name="T40" fmla="*/ 3268 w 6536"/>
                  <a:gd name="T41" fmla="*/ 6536 h 6536"/>
                  <a:gd name="T42" fmla="*/ 3495 w 6536"/>
                  <a:gd name="T43" fmla="*/ 5265 h 6536"/>
                  <a:gd name="T44" fmla="*/ 3964 w 6536"/>
                  <a:gd name="T45" fmla="*/ 4284 h 6536"/>
                  <a:gd name="T46" fmla="*/ 4651 w 6536"/>
                  <a:gd name="T47" fmla="*/ 5579 h 6536"/>
                  <a:gd name="T48" fmla="*/ 5579 w 6536"/>
                  <a:gd name="T49" fmla="*/ 4651 h 6536"/>
                  <a:gd name="T50" fmla="*/ 4284 w 6536"/>
                  <a:gd name="T51" fmla="*/ 3964 h 6536"/>
                  <a:gd name="T52" fmla="*/ 5265 w 6536"/>
                  <a:gd name="T53" fmla="*/ 3495 h 6536"/>
                  <a:gd name="T54" fmla="*/ 6536 w 6536"/>
                  <a:gd name="T55" fmla="*/ 3268 h 6536"/>
                  <a:gd name="T56" fmla="*/ 3677 w 6536"/>
                  <a:gd name="T57" fmla="*/ 3679 h 6536"/>
                  <a:gd name="T58" fmla="*/ 2856 w 6536"/>
                  <a:gd name="T59" fmla="*/ 3679 h 6536"/>
                  <a:gd name="T60" fmla="*/ 2856 w 6536"/>
                  <a:gd name="T61" fmla="*/ 2857 h 6536"/>
                  <a:gd name="T62" fmla="*/ 3677 w 6536"/>
                  <a:gd name="T63" fmla="*/ 2857 h 6536"/>
                  <a:gd name="T64" fmla="*/ 3677 w 6536"/>
                  <a:gd name="T65" fmla="*/ 3679 h 6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536" h="6536">
                    <a:moveTo>
                      <a:pt x="5880" y="2612"/>
                    </a:moveTo>
                    <a:cubicBezTo>
                      <a:pt x="5597" y="2612"/>
                      <a:pt x="5357" y="2791"/>
                      <a:pt x="5265" y="3041"/>
                    </a:cubicBezTo>
                    <a:lnTo>
                      <a:pt x="4479" y="3041"/>
                    </a:lnTo>
                    <a:cubicBezTo>
                      <a:pt x="4448" y="2872"/>
                      <a:pt x="4381" y="2713"/>
                      <a:pt x="4284" y="2572"/>
                    </a:cubicBezTo>
                    <a:lnTo>
                      <a:pt x="4840" y="2016"/>
                    </a:lnTo>
                    <a:cubicBezTo>
                      <a:pt x="5083" y="2128"/>
                      <a:pt x="5379" y="2085"/>
                      <a:pt x="5579" y="1885"/>
                    </a:cubicBezTo>
                    <a:cubicBezTo>
                      <a:pt x="5835" y="1629"/>
                      <a:pt x="5835" y="1213"/>
                      <a:pt x="5579" y="957"/>
                    </a:cubicBezTo>
                    <a:cubicBezTo>
                      <a:pt x="5323" y="701"/>
                      <a:pt x="4907" y="701"/>
                      <a:pt x="4651" y="957"/>
                    </a:cubicBezTo>
                    <a:cubicBezTo>
                      <a:pt x="4451" y="1157"/>
                      <a:pt x="4408" y="1453"/>
                      <a:pt x="4520" y="1696"/>
                    </a:cubicBezTo>
                    <a:lnTo>
                      <a:pt x="3964" y="2252"/>
                    </a:lnTo>
                    <a:cubicBezTo>
                      <a:pt x="3823" y="2155"/>
                      <a:pt x="3664" y="2089"/>
                      <a:pt x="3495" y="2057"/>
                    </a:cubicBezTo>
                    <a:lnTo>
                      <a:pt x="3495" y="1271"/>
                    </a:lnTo>
                    <a:cubicBezTo>
                      <a:pt x="3745" y="1179"/>
                      <a:pt x="3924" y="939"/>
                      <a:pt x="3924" y="656"/>
                    </a:cubicBezTo>
                    <a:cubicBezTo>
                      <a:pt x="3924" y="293"/>
                      <a:pt x="3631" y="0"/>
                      <a:pt x="3268" y="0"/>
                    </a:cubicBezTo>
                    <a:cubicBezTo>
                      <a:pt x="2905" y="0"/>
                      <a:pt x="2612" y="293"/>
                      <a:pt x="2612" y="656"/>
                    </a:cubicBezTo>
                    <a:cubicBezTo>
                      <a:pt x="2612" y="939"/>
                      <a:pt x="2791" y="1179"/>
                      <a:pt x="3041" y="1271"/>
                    </a:cubicBezTo>
                    <a:lnTo>
                      <a:pt x="3041" y="2057"/>
                    </a:lnTo>
                    <a:cubicBezTo>
                      <a:pt x="2872" y="2088"/>
                      <a:pt x="2713" y="2155"/>
                      <a:pt x="2572" y="2252"/>
                    </a:cubicBezTo>
                    <a:lnTo>
                      <a:pt x="2016" y="1696"/>
                    </a:lnTo>
                    <a:cubicBezTo>
                      <a:pt x="2128" y="1453"/>
                      <a:pt x="2085" y="1157"/>
                      <a:pt x="1885" y="957"/>
                    </a:cubicBezTo>
                    <a:cubicBezTo>
                      <a:pt x="1629" y="701"/>
                      <a:pt x="1213" y="701"/>
                      <a:pt x="957" y="957"/>
                    </a:cubicBezTo>
                    <a:cubicBezTo>
                      <a:pt x="701" y="1213"/>
                      <a:pt x="701" y="1629"/>
                      <a:pt x="957" y="1885"/>
                    </a:cubicBezTo>
                    <a:cubicBezTo>
                      <a:pt x="1157" y="2085"/>
                      <a:pt x="1453" y="2128"/>
                      <a:pt x="1696" y="2016"/>
                    </a:cubicBezTo>
                    <a:lnTo>
                      <a:pt x="2252" y="2572"/>
                    </a:lnTo>
                    <a:cubicBezTo>
                      <a:pt x="2155" y="2713"/>
                      <a:pt x="2089" y="2872"/>
                      <a:pt x="2057" y="3041"/>
                    </a:cubicBezTo>
                    <a:lnTo>
                      <a:pt x="1271" y="3041"/>
                    </a:lnTo>
                    <a:cubicBezTo>
                      <a:pt x="1179" y="2791"/>
                      <a:pt x="939" y="2612"/>
                      <a:pt x="656" y="2612"/>
                    </a:cubicBezTo>
                    <a:cubicBezTo>
                      <a:pt x="293" y="2612"/>
                      <a:pt x="0" y="2905"/>
                      <a:pt x="0" y="3268"/>
                    </a:cubicBezTo>
                    <a:cubicBezTo>
                      <a:pt x="0" y="3631"/>
                      <a:pt x="293" y="3924"/>
                      <a:pt x="656" y="3924"/>
                    </a:cubicBezTo>
                    <a:cubicBezTo>
                      <a:pt x="939" y="3924"/>
                      <a:pt x="1179" y="3745"/>
                      <a:pt x="1271" y="3495"/>
                    </a:cubicBezTo>
                    <a:lnTo>
                      <a:pt x="2057" y="3495"/>
                    </a:lnTo>
                    <a:cubicBezTo>
                      <a:pt x="2088" y="3663"/>
                      <a:pt x="2155" y="3823"/>
                      <a:pt x="2252" y="3964"/>
                    </a:cubicBezTo>
                    <a:lnTo>
                      <a:pt x="1696" y="4520"/>
                    </a:lnTo>
                    <a:cubicBezTo>
                      <a:pt x="1453" y="4408"/>
                      <a:pt x="1157" y="4451"/>
                      <a:pt x="957" y="4651"/>
                    </a:cubicBezTo>
                    <a:cubicBezTo>
                      <a:pt x="701" y="4907"/>
                      <a:pt x="701" y="5323"/>
                      <a:pt x="957" y="5579"/>
                    </a:cubicBezTo>
                    <a:cubicBezTo>
                      <a:pt x="1213" y="5835"/>
                      <a:pt x="1629" y="5835"/>
                      <a:pt x="1885" y="5579"/>
                    </a:cubicBezTo>
                    <a:cubicBezTo>
                      <a:pt x="2085" y="5379"/>
                      <a:pt x="2128" y="5083"/>
                      <a:pt x="2016" y="4840"/>
                    </a:cubicBezTo>
                    <a:lnTo>
                      <a:pt x="2572" y="4284"/>
                    </a:lnTo>
                    <a:cubicBezTo>
                      <a:pt x="2713" y="4381"/>
                      <a:pt x="2872" y="4447"/>
                      <a:pt x="3041" y="4479"/>
                    </a:cubicBezTo>
                    <a:lnTo>
                      <a:pt x="3041" y="5265"/>
                    </a:lnTo>
                    <a:cubicBezTo>
                      <a:pt x="2791" y="5357"/>
                      <a:pt x="2612" y="5597"/>
                      <a:pt x="2612" y="5880"/>
                    </a:cubicBezTo>
                    <a:cubicBezTo>
                      <a:pt x="2612" y="6243"/>
                      <a:pt x="2905" y="6536"/>
                      <a:pt x="3268" y="6536"/>
                    </a:cubicBezTo>
                    <a:cubicBezTo>
                      <a:pt x="3631" y="6536"/>
                      <a:pt x="3924" y="6243"/>
                      <a:pt x="3924" y="5880"/>
                    </a:cubicBezTo>
                    <a:cubicBezTo>
                      <a:pt x="3924" y="5597"/>
                      <a:pt x="3745" y="5357"/>
                      <a:pt x="3495" y="5265"/>
                    </a:cubicBezTo>
                    <a:lnTo>
                      <a:pt x="3495" y="4479"/>
                    </a:lnTo>
                    <a:cubicBezTo>
                      <a:pt x="3663" y="4448"/>
                      <a:pt x="3823" y="4381"/>
                      <a:pt x="3964" y="4284"/>
                    </a:cubicBezTo>
                    <a:lnTo>
                      <a:pt x="4520" y="4840"/>
                    </a:lnTo>
                    <a:cubicBezTo>
                      <a:pt x="4408" y="5083"/>
                      <a:pt x="4451" y="5379"/>
                      <a:pt x="4651" y="5579"/>
                    </a:cubicBezTo>
                    <a:cubicBezTo>
                      <a:pt x="4907" y="5835"/>
                      <a:pt x="5323" y="5835"/>
                      <a:pt x="5579" y="5579"/>
                    </a:cubicBezTo>
                    <a:cubicBezTo>
                      <a:pt x="5835" y="5323"/>
                      <a:pt x="5835" y="4907"/>
                      <a:pt x="5579" y="4651"/>
                    </a:cubicBezTo>
                    <a:cubicBezTo>
                      <a:pt x="5379" y="4451"/>
                      <a:pt x="5083" y="4408"/>
                      <a:pt x="4840" y="4520"/>
                    </a:cubicBezTo>
                    <a:lnTo>
                      <a:pt x="4284" y="3964"/>
                    </a:lnTo>
                    <a:cubicBezTo>
                      <a:pt x="4381" y="3823"/>
                      <a:pt x="4447" y="3664"/>
                      <a:pt x="4479" y="3495"/>
                    </a:cubicBezTo>
                    <a:lnTo>
                      <a:pt x="5265" y="3495"/>
                    </a:lnTo>
                    <a:cubicBezTo>
                      <a:pt x="5357" y="3745"/>
                      <a:pt x="5597" y="3924"/>
                      <a:pt x="5880" y="3924"/>
                    </a:cubicBezTo>
                    <a:cubicBezTo>
                      <a:pt x="6243" y="3924"/>
                      <a:pt x="6536" y="3631"/>
                      <a:pt x="6536" y="3268"/>
                    </a:cubicBezTo>
                    <a:cubicBezTo>
                      <a:pt x="6536" y="2905"/>
                      <a:pt x="6243" y="2612"/>
                      <a:pt x="5880" y="2612"/>
                    </a:cubicBezTo>
                    <a:close/>
                    <a:moveTo>
                      <a:pt x="3677" y="3679"/>
                    </a:moveTo>
                    <a:cubicBezTo>
                      <a:pt x="3568" y="3788"/>
                      <a:pt x="3421" y="3849"/>
                      <a:pt x="3267" y="3849"/>
                    </a:cubicBezTo>
                    <a:cubicBezTo>
                      <a:pt x="3112" y="3849"/>
                      <a:pt x="2965" y="3789"/>
                      <a:pt x="2856" y="3679"/>
                    </a:cubicBezTo>
                    <a:cubicBezTo>
                      <a:pt x="2747" y="3569"/>
                      <a:pt x="2685" y="3423"/>
                      <a:pt x="2685" y="3268"/>
                    </a:cubicBezTo>
                    <a:cubicBezTo>
                      <a:pt x="2685" y="3112"/>
                      <a:pt x="2745" y="2967"/>
                      <a:pt x="2856" y="2857"/>
                    </a:cubicBezTo>
                    <a:cubicBezTo>
                      <a:pt x="2965" y="2748"/>
                      <a:pt x="3112" y="2687"/>
                      <a:pt x="3267" y="2687"/>
                    </a:cubicBezTo>
                    <a:cubicBezTo>
                      <a:pt x="3421" y="2687"/>
                      <a:pt x="3568" y="2747"/>
                      <a:pt x="3677" y="2857"/>
                    </a:cubicBezTo>
                    <a:cubicBezTo>
                      <a:pt x="3787" y="2967"/>
                      <a:pt x="3848" y="3113"/>
                      <a:pt x="3848" y="3268"/>
                    </a:cubicBezTo>
                    <a:cubicBezTo>
                      <a:pt x="3848" y="3423"/>
                      <a:pt x="3788" y="3569"/>
                      <a:pt x="3677" y="3679"/>
                    </a:cubicBezTo>
                    <a:close/>
                  </a:path>
                </a:pathLst>
              </a:custGeom>
              <a:solidFill>
                <a:srgbClr val="FFFFFF"/>
              </a:solidFill>
              <a:ln>
                <a:noFill/>
              </a:ln>
            </p:spPr>
            <p:txBody>
              <a:bodyPr vert="horz" wrap="square" lIns="91440" tIns="45720" rIns="91440" bIns="45720" numCol="1" anchor="t" anchorCtr="0" compatLnSpc="1">
                <a:prstTxWarp prst="textNoShape">
                  <a:avLst/>
                </a:prstTxWarp>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grpSp>
        <p:sp>
          <p:nvSpPr>
            <p:cNvPr id="10" name="Title">
              <a:extLst>
                <a:ext uri="{FF2B5EF4-FFF2-40B4-BE49-F238E27FC236}">
                  <a16:creationId xmlns:a16="http://schemas.microsoft.com/office/drawing/2014/main" id="{11C893DC-AA0F-DAC0-017A-6FDFFB0183E4}"/>
                </a:ext>
              </a:extLst>
            </p:cNvPr>
            <p:cNvSpPr txBox="1"/>
            <p:nvPr/>
          </p:nvSpPr>
          <p:spPr bwMode="auto">
            <a:xfrm>
              <a:off x="658812" y="1130300"/>
              <a:ext cx="10874376" cy="991346"/>
            </a:xfrm>
            <a:prstGeom prst="rect">
              <a:avLst/>
            </a:prstGeom>
            <a:noFill/>
            <a:ln>
              <a:noFill/>
            </a:ln>
          </p:spPr>
          <p:txBody>
            <a:bodyPr vert="horz" wrap="square" lIns="91440" tIns="45720" rIns="91440" bIns="45720" rtlCol="0" anchor="t" anchorCtr="1">
              <a:normAutofit/>
            </a:bodyPr>
            <a:lstStyle/>
            <a:p>
              <a:pPr algn="ctr" eaLnBrk="1" hangingPunct="1"/>
              <a:endParaRPr lang="zh-CN" altLang="en-US" sz="2400" b="1" dirty="0"/>
            </a:p>
          </p:txBody>
        </p:sp>
      </p:grpSp>
      <p:sp>
        <p:nvSpPr>
          <p:cNvPr id="32" name="文本框 31">
            <a:extLst>
              <a:ext uri="{FF2B5EF4-FFF2-40B4-BE49-F238E27FC236}">
                <a16:creationId xmlns:a16="http://schemas.microsoft.com/office/drawing/2014/main" id="{E8DB27BE-EB98-1F56-5FF9-14154ED3760A}"/>
              </a:ext>
            </a:extLst>
          </p:cNvPr>
          <p:cNvSpPr txBox="1"/>
          <p:nvPr/>
        </p:nvSpPr>
        <p:spPr>
          <a:xfrm>
            <a:off x="969680" y="1185897"/>
            <a:ext cx="5287096" cy="738664"/>
          </a:xfrm>
          <a:prstGeom prst="rect">
            <a:avLst/>
          </a:prstGeom>
          <a:noFill/>
          <a:ln>
            <a:solidFill>
              <a:schemeClr val="accent1">
                <a:lumMod val="40000"/>
                <a:lumOff val="60000"/>
              </a:schemeClr>
            </a:solidFill>
          </a:ln>
        </p:spPr>
        <p:txBody>
          <a:bodyPr wrap="square" rtlCol="0">
            <a:spAutoFit/>
          </a:bodyPr>
          <a:lstStyle/>
          <a:p>
            <a:r>
              <a:rPr lang="en-US" altLang="zh-CN" sz="1400" b="1" dirty="0"/>
              <a:t>Workflow Phase 1 (Steps 1 to 3):</a:t>
            </a:r>
            <a:br>
              <a:rPr lang="en-US" altLang="zh-CN" sz="1400" b="1" dirty="0"/>
            </a:br>
            <a:r>
              <a:rPr lang="en-US" altLang="zh-CN" sz="1400" dirty="0"/>
              <a:t>Focus on decomposing one business question into smaller subtasks, then perform task execution and consolidation.</a:t>
            </a:r>
            <a:endParaRPr lang="zh-CN" altLang="en-US" sz="1400" dirty="0"/>
          </a:p>
        </p:txBody>
      </p:sp>
      <p:sp>
        <p:nvSpPr>
          <p:cNvPr id="33" name="文本框 32">
            <a:extLst>
              <a:ext uri="{FF2B5EF4-FFF2-40B4-BE49-F238E27FC236}">
                <a16:creationId xmlns:a16="http://schemas.microsoft.com/office/drawing/2014/main" id="{AB80B56F-D848-2F40-1FE9-391CA7A2553B}"/>
              </a:ext>
            </a:extLst>
          </p:cNvPr>
          <p:cNvSpPr txBox="1"/>
          <p:nvPr/>
        </p:nvSpPr>
        <p:spPr>
          <a:xfrm>
            <a:off x="6301225" y="1191390"/>
            <a:ext cx="5287096" cy="738664"/>
          </a:xfrm>
          <a:prstGeom prst="rect">
            <a:avLst/>
          </a:prstGeom>
          <a:noFill/>
          <a:ln>
            <a:solidFill>
              <a:schemeClr val="accent1">
                <a:lumMod val="40000"/>
                <a:lumOff val="60000"/>
              </a:schemeClr>
            </a:solidFill>
          </a:ln>
        </p:spPr>
        <p:txBody>
          <a:bodyPr wrap="square" rtlCol="0">
            <a:spAutoFit/>
          </a:bodyPr>
          <a:lstStyle/>
          <a:p>
            <a:r>
              <a:rPr lang="en-US" altLang="zh-CN" sz="1400" b="1" dirty="0"/>
              <a:t>Workflow Phase 2 (Steps 4 to 5):</a:t>
            </a:r>
            <a:br>
              <a:rPr lang="en-US" altLang="zh-CN" sz="1400" b="1" dirty="0"/>
            </a:br>
            <a:r>
              <a:rPr lang="en-US" altLang="zh-CN" sz="1400" dirty="0"/>
              <a:t>After all business questions have been addressed, generate the result in markdown format, and introduce concluding remarks.</a:t>
            </a:r>
            <a:endParaRPr lang="zh-CN" altLang="en-US" sz="1400" dirty="0"/>
          </a:p>
        </p:txBody>
      </p:sp>
      <p:sp>
        <p:nvSpPr>
          <p:cNvPr id="34" name="文本框 33">
            <a:extLst>
              <a:ext uri="{FF2B5EF4-FFF2-40B4-BE49-F238E27FC236}">
                <a16:creationId xmlns:a16="http://schemas.microsoft.com/office/drawing/2014/main" id="{AE404FD3-4756-E2AD-FE93-538C76CBA7FE}"/>
              </a:ext>
            </a:extLst>
          </p:cNvPr>
          <p:cNvSpPr txBox="1"/>
          <p:nvPr/>
        </p:nvSpPr>
        <p:spPr>
          <a:xfrm>
            <a:off x="200168" y="2135106"/>
            <a:ext cx="1371095" cy="954107"/>
          </a:xfrm>
          <a:prstGeom prst="rect">
            <a:avLst/>
          </a:prstGeom>
          <a:noFill/>
          <a:ln>
            <a:solidFill>
              <a:schemeClr val="accent1">
                <a:lumMod val="40000"/>
                <a:lumOff val="60000"/>
              </a:schemeClr>
            </a:solidFill>
          </a:ln>
        </p:spPr>
        <p:txBody>
          <a:bodyPr wrap="square" rtlCol="0">
            <a:spAutoFit/>
          </a:bodyPr>
          <a:lstStyle/>
          <a:p>
            <a:r>
              <a:rPr lang="en-US" altLang="zh-CN" sz="1400" b="1" dirty="0"/>
              <a:t>Input</a:t>
            </a:r>
            <a:br>
              <a:rPr lang="en-US" altLang="zh-CN" sz="1400" b="1" dirty="0"/>
            </a:br>
            <a:r>
              <a:rPr lang="en-US" altLang="zh-CN" sz="1400" dirty="0"/>
              <a:t>Raw data and business questions</a:t>
            </a:r>
            <a:endParaRPr lang="zh-CN" altLang="en-US" sz="1400" dirty="0"/>
          </a:p>
        </p:txBody>
      </p:sp>
      <p:sp>
        <p:nvSpPr>
          <p:cNvPr id="35" name="文本框 34">
            <a:extLst>
              <a:ext uri="{FF2B5EF4-FFF2-40B4-BE49-F238E27FC236}">
                <a16:creationId xmlns:a16="http://schemas.microsoft.com/office/drawing/2014/main" id="{7362FBD6-4712-E953-5AAC-E3EE7A7532F8}"/>
              </a:ext>
            </a:extLst>
          </p:cNvPr>
          <p:cNvSpPr txBox="1"/>
          <p:nvPr/>
        </p:nvSpPr>
        <p:spPr>
          <a:xfrm>
            <a:off x="10867186" y="2144160"/>
            <a:ext cx="1204060" cy="954107"/>
          </a:xfrm>
          <a:prstGeom prst="rect">
            <a:avLst/>
          </a:prstGeom>
          <a:noFill/>
          <a:ln>
            <a:solidFill>
              <a:schemeClr val="accent1">
                <a:lumMod val="40000"/>
                <a:lumOff val="60000"/>
              </a:schemeClr>
            </a:solidFill>
          </a:ln>
        </p:spPr>
        <p:txBody>
          <a:bodyPr wrap="square" rtlCol="0">
            <a:spAutoFit/>
          </a:bodyPr>
          <a:lstStyle/>
          <a:p>
            <a:r>
              <a:rPr lang="en-US" altLang="zh-CN" sz="1400" b="1" dirty="0"/>
              <a:t>Output</a:t>
            </a:r>
            <a:br>
              <a:rPr lang="en-US" altLang="zh-CN" sz="1400" b="1" dirty="0"/>
            </a:br>
            <a:r>
              <a:rPr lang="en-US" altLang="zh-CN" sz="1400" dirty="0"/>
              <a:t>Report and intermediate artifacts</a:t>
            </a:r>
            <a:endParaRPr lang="zh-CN" altLang="en-US" sz="1400" dirty="0"/>
          </a:p>
        </p:txBody>
      </p:sp>
      <p:sp>
        <p:nvSpPr>
          <p:cNvPr id="37" name="箭头: 右 36">
            <a:extLst>
              <a:ext uri="{FF2B5EF4-FFF2-40B4-BE49-F238E27FC236}">
                <a16:creationId xmlns:a16="http://schemas.microsoft.com/office/drawing/2014/main" id="{43F6504A-1453-D926-AB19-7CE3EEA14C88}"/>
              </a:ext>
            </a:extLst>
          </p:cNvPr>
          <p:cNvSpPr/>
          <p:nvPr/>
        </p:nvSpPr>
        <p:spPr>
          <a:xfrm rot="18673664">
            <a:off x="998299" y="1917220"/>
            <a:ext cx="228462" cy="2978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右 37">
            <a:extLst>
              <a:ext uri="{FF2B5EF4-FFF2-40B4-BE49-F238E27FC236}">
                <a16:creationId xmlns:a16="http://schemas.microsoft.com/office/drawing/2014/main" id="{8ED985C4-7D96-76E2-4CBD-CD198ECF0574}"/>
              </a:ext>
            </a:extLst>
          </p:cNvPr>
          <p:cNvSpPr/>
          <p:nvPr/>
        </p:nvSpPr>
        <p:spPr>
          <a:xfrm>
            <a:off x="6167147" y="1376524"/>
            <a:ext cx="228462" cy="2978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箭头: 右 38">
            <a:extLst>
              <a:ext uri="{FF2B5EF4-FFF2-40B4-BE49-F238E27FC236}">
                <a16:creationId xmlns:a16="http://schemas.microsoft.com/office/drawing/2014/main" id="{2FDEBF78-CD51-E906-D22E-B2E6AF2E1FB8}"/>
              </a:ext>
            </a:extLst>
          </p:cNvPr>
          <p:cNvSpPr/>
          <p:nvPr/>
        </p:nvSpPr>
        <p:spPr>
          <a:xfrm rot="2738435">
            <a:off x="10957592" y="1934150"/>
            <a:ext cx="228462" cy="2978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93503B8C-A88A-287A-43C8-CAFF9963B635}"/>
              </a:ext>
            </a:extLst>
          </p:cNvPr>
          <p:cNvSpPr txBox="1"/>
          <p:nvPr/>
        </p:nvSpPr>
        <p:spPr>
          <a:xfrm>
            <a:off x="1065213" y="6144638"/>
            <a:ext cx="11147493" cy="523220"/>
          </a:xfrm>
          <a:prstGeom prst="rect">
            <a:avLst/>
          </a:prstGeom>
          <a:noFill/>
        </p:spPr>
        <p:txBody>
          <a:bodyPr wrap="square" rtlCol="0">
            <a:spAutoFit/>
          </a:bodyPr>
          <a:lstStyle/>
          <a:p>
            <a:pPr>
              <a:buSzPct val="25000"/>
              <a:tabLst>
                <a:tab pos="5472113" algn="l"/>
              </a:tabLst>
            </a:pPr>
            <a:r>
              <a:rPr lang="en-US" altLang="zh-CN" sz="1400" b="1" dirty="0">
                <a:latin typeface="Arial" panose="020B0604020202020204" pitchFamily="34" charset="0"/>
                <a:ea typeface="微软雅黑" panose="020B0503020204020204" pitchFamily="34" charset="-122"/>
                <a:cs typeface="+mn-ea"/>
                <a:sym typeface="Arial" panose="020B0604020202020204" pitchFamily="34" charset="0"/>
              </a:rPr>
              <a:t>***LLM Specification: </a:t>
            </a:r>
            <a:br>
              <a:rPr lang="en-US" altLang="zh-CN" sz="1400" b="1" dirty="0">
                <a:latin typeface="Arial" panose="020B0604020202020204" pitchFamily="34" charset="0"/>
                <a:ea typeface="微软雅黑" panose="020B0503020204020204" pitchFamily="34" charset="-122"/>
                <a:cs typeface="+mn-ea"/>
                <a:sym typeface="Arial" panose="020B0604020202020204" pitchFamily="34" charset="0"/>
              </a:rPr>
            </a:br>
            <a:r>
              <a:rPr lang="en-US" altLang="zh-CN" sz="1400" dirty="0">
                <a:latin typeface="Arial" panose="020B0604020202020204" pitchFamily="34" charset="0"/>
                <a:ea typeface="微软雅黑" panose="020B0503020204020204" pitchFamily="34" charset="-122"/>
                <a:cs typeface="+mn-ea"/>
                <a:sym typeface="Arial" panose="020B0604020202020204" pitchFamily="34" charset="0"/>
              </a:rPr>
              <a:t>OpenAI GPT4o, with 0.1 temperature parameter and 0.1 Top-p sampling for generation </a:t>
            </a:r>
            <a:endParaRPr lang="en-US" altLang="zh-CN" sz="1400" dirty="0"/>
          </a:p>
        </p:txBody>
      </p:sp>
    </p:spTree>
    <p:extLst>
      <p:ext uri="{BB962C8B-B14F-4D97-AF65-F5344CB8AC3E}">
        <p14:creationId xmlns:p14="http://schemas.microsoft.com/office/powerpoint/2010/main" val="964742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D13C9-E289-387B-876F-2118B0B54418}"/>
            </a:ext>
          </a:extLst>
        </p:cNvPr>
        <p:cNvGrpSpPr/>
        <p:nvPr/>
      </p:nvGrpSpPr>
      <p:grpSpPr>
        <a:xfrm>
          <a:off x="0" y="0"/>
          <a:ext cx="0" cy="0"/>
          <a:chOff x="0" y="0"/>
          <a:chExt cx="0" cy="0"/>
        </a:xfrm>
      </p:grpSpPr>
      <p:sp>
        <p:nvSpPr>
          <p:cNvPr id="4" name="任意多边形: 形状 3">
            <a:extLst>
              <a:ext uri="{FF2B5EF4-FFF2-40B4-BE49-F238E27FC236}">
                <a16:creationId xmlns:a16="http://schemas.microsoft.com/office/drawing/2014/main" id="{25781F9F-F70C-4A47-57D4-37A18818AAF4}"/>
              </a:ext>
            </a:extLst>
          </p:cNvPr>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flip="none" rotWithShape="1">
            <a:gsLst>
              <a:gs pos="3000">
                <a:schemeClr val="accent1">
                  <a:alpha val="0"/>
                </a:schemeClr>
              </a:gs>
              <a:gs pos="100000">
                <a:schemeClr val="accent1">
                  <a:alpha val="1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1" name="标题 1">
            <a:extLst>
              <a:ext uri="{FF2B5EF4-FFF2-40B4-BE49-F238E27FC236}">
                <a16:creationId xmlns:a16="http://schemas.microsoft.com/office/drawing/2014/main" id="{7D5B4BC8-5E59-9DBA-B524-3D2AFA981FA8}"/>
              </a:ext>
            </a:extLst>
          </p:cNvPr>
          <p:cNvSpPr>
            <a:spLocks noGrp="1"/>
          </p:cNvSpPr>
          <p:nvPr>
            <p:ph type="title"/>
          </p:nvPr>
        </p:nvSpPr>
        <p:spPr>
          <a:xfrm>
            <a:off x="660400" y="128587"/>
            <a:ext cx="10858500" cy="900112"/>
          </a:xfrm>
        </p:spPr>
        <p:txBody>
          <a:bodyPr/>
          <a:lstStyle/>
          <a:p>
            <a:r>
              <a:rPr lang="en-US" altLang="zh-CN" dirty="0"/>
              <a:t>Prompt Design</a:t>
            </a:r>
            <a:endParaRPr lang="zh-CN" altLang="en-US" dirty="0"/>
          </a:p>
        </p:txBody>
      </p:sp>
      <p:sp>
        <p:nvSpPr>
          <p:cNvPr id="11" name="文本框 10">
            <a:extLst>
              <a:ext uri="{FF2B5EF4-FFF2-40B4-BE49-F238E27FC236}">
                <a16:creationId xmlns:a16="http://schemas.microsoft.com/office/drawing/2014/main" id="{618741D3-D1A7-2672-C779-258C2464CD49}"/>
              </a:ext>
            </a:extLst>
          </p:cNvPr>
          <p:cNvSpPr txBox="1"/>
          <p:nvPr/>
        </p:nvSpPr>
        <p:spPr>
          <a:xfrm>
            <a:off x="638107" y="1157286"/>
            <a:ext cx="11147493" cy="1477328"/>
          </a:xfrm>
          <a:prstGeom prst="rect">
            <a:avLst/>
          </a:prstGeom>
          <a:noFill/>
        </p:spPr>
        <p:txBody>
          <a:bodyPr wrap="square" rtlCol="0">
            <a:spAutoFit/>
          </a:bodyPr>
          <a:lstStyle/>
          <a:p>
            <a:pPr>
              <a:buSzPct val="25000"/>
              <a:tabLst>
                <a:tab pos="5472113" algn="l"/>
              </a:tabLst>
            </a:pPr>
            <a:r>
              <a:rPr lang="en-US" altLang="zh-CN" b="1" dirty="0">
                <a:latin typeface="Arial" panose="020B0604020202020204" pitchFamily="34" charset="0"/>
                <a:ea typeface="微软雅黑" panose="020B0503020204020204" pitchFamily="34" charset="-122"/>
                <a:cs typeface="+mn-ea"/>
                <a:sym typeface="Arial" panose="020B0604020202020204" pitchFamily="34" charset="0"/>
              </a:rPr>
              <a:t>Key principles for prompt design:</a:t>
            </a:r>
            <a:br>
              <a:rPr lang="en-US" altLang="zh-CN" dirty="0">
                <a:latin typeface="Arial" panose="020B0604020202020204" pitchFamily="34" charset="0"/>
                <a:ea typeface="微软雅黑" panose="020B0503020204020204" pitchFamily="34" charset="-122"/>
                <a:cs typeface="+mn-ea"/>
                <a:sym typeface="Arial" panose="020B0604020202020204" pitchFamily="34" charset="0"/>
              </a:rPr>
            </a:br>
            <a:r>
              <a:rPr lang="en-US" altLang="zh-CN" dirty="0">
                <a:latin typeface="Arial" panose="020B0604020202020204" pitchFamily="34" charset="0"/>
                <a:ea typeface="微软雅黑" panose="020B0503020204020204" pitchFamily="34" charset="-122"/>
                <a:cs typeface="+mn-ea"/>
                <a:sym typeface="Arial" panose="020B0604020202020204" pitchFamily="34" charset="0"/>
              </a:rPr>
              <a:t>1.</a:t>
            </a:r>
            <a:r>
              <a:rPr lang="zh-CN" altLang="en-US" dirty="0">
                <a:latin typeface="Arial" panose="020B0604020202020204" pitchFamily="34" charset="0"/>
                <a:ea typeface="微软雅黑" panose="020B0503020204020204" pitchFamily="34" charset="-122"/>
                <a:cs typeface="+mn-ea"/>
                <a:sym typeface="Arial" panose="020B0604020202020204" pitchFamily="34" charset="0"/>
              </a:rPr>
              <a:t> </a:t>
            </a:r>
            <a:r>
              <a:rPr lang="en-US" altLang="zh-CN" dirty="0">
                <a:latin typeface="Arial" panose="020B0604020202020204" pitchFamily="34" charset="0"/>
                <a:ea typeface="微软雅黑" panose="020B0503020204020204" pitchFamily="34" charset="-122"/>
                <a:cs typeface="+mn-ea"/>
                <a:sym typeface="Arial" panose="020B0604020202020204" pitchFamily="34" charset="0"/>
              </a:rPr>
              <a:t>Prompts have to be structured, concise, clear, and goal-oriented.</a:t>
            </a:r>
          </a:p>
          <a:p>
            <a:pPr>
              <a:buSzPct val="25000"/>
              <a:tabLst>
                <a:tab pos="5472113" algn="l"/>
              </a:tabLst>
            </a:pPr>
            <a:r>
              <a:rPr lang="en-US" altLang="zh-CN" dirty="0">
                <a:latin typeface="Arial" panose="020B0604020202020204" pitchFamily="34" charset="0"/>
                <a:ea typeface="微软雅黑" panose="020B0503020204020204" pitchFamily="34" charset="-122"/>
                <a:cs typeface="+mn-ea"/>
                <a:sym typeface="Arial" panose="020B0604020202020204" pitchFamily="34" charset="0"/>
              </a:rPr>
              <a:t>2. </a:t>
            </a:r>
            <a:r>
              <a:rPr lang="en-US" altLang="zh-CN" dirty="0">
                <a:latin typeface="Arial" panose="020B0604020202020204" pitchFamily="34" charset="0"/>
                <a:ea typeface="微软雅黑" panose="020B0503020204020204" pitchFamily="34" charset="-122"/>
                <a:cs typeface="+mn-ea"/>
              </a:rPr>
              <a:t>Prompts should be used for one task or closely related tasks only, avoid combining unrelated objectives.</a:t>
            </a:r>
            <a:endParaRPr lang="en-US" altLang="zh-CN" dirty="0">
              <a:latin typeface="Arial" panose="020B0604020202020204" pitchFamily="34" charset="0"/>
              <a:ea typeface="微软雅黑" panose="020B0503020204020204" pitchFamily="34" charset="-122"/>
              <a:cs typeface="+mn-ea"/>
              <a:sym typeface="Arial" panose="020B0604020202020204" pitchFamily="34" charset="0"/>
            </a:endParaRPr>
          </a:p>
          <a:p>
            <a:pPr>
              <a:buSzPct val="25000"/>
              <a:tabLst>
                <a:tab pos="5472113" algn="l"/>
              </a:tabLst>
            </a:pPr>
            <a:r>
              <a:rPr lang="en-US" altLang="zh-CN" dirty="0">
                <a:latin typeface="Arial" panose="020B0604020202020204" pitchFamily="34" charset="0"/>
                <a:ea typeface="微软雅黑" panose="020B0503020204020204" pitchFamily="34" charset="-122"/>
                <a:cs typeface="+mn-ea"/>
                <a:sym typeface="Arial" panose="020B0604020202020204" pitchFamily="34" charset="0"/>
              </a:rPr>
              <a:t>3. The structure of a prompt should include role, task, and instruction (optional: output format and examples).</a:t>
            </a:r>
          </a:p>
          <a:p>
            <a:endParaRPr lang="en-US" altLang="zh-CN" dirty="0"/>
          </a:p>
        </p:txBody>
      </p:sp>
      <p:pic>
        <p:nvPicPr>
          <p:cNvPr id="27" name="图片 26" descr="文本&#10;&#10;AI 生成的内容可能不正确。">
            <a:extLst>
              <a:ext uri="{FF2B5EF4-FFF2-40B4-BE49-F238E27FC236}">
                <a16:creationId xmlns:a16="http://schemas.microsoft.com/office/drawing/2014/main" id="{9235196B-9E24-D49D-7781-537BB7144768}"/>
              </a:ext>
            </a:extLst>
          </p:cNvPr>
          <p:cNvPicPr>
            <a:picLocks noChangeAspect="1"/>
          </p:cNvPicPr>
          <p:nvPr/>
        </p:nvPicPr>
        <p:blipFill>
          <a:blip r:embed="rId3"/>
          <a:stretch>
            <a:fillRect/>
          </a:stretch>
        </p:blipFill>
        <p:spPr>
          <a:xfrm>
            <a:off x="721135" y="2520774"/>
            <a:ext cx="10737029" cy="3789540"/>
          </a:xfrm>
          <a:prstGeom prst="rect">
            <a:avLst/>
          </a:prstGeom>
        </p:spPr>
      </p:pic>
      <p:sp>
        <p:nvSpPr>
          <p:cNvPr id="28" name="文本框 27">
            <a:extLst>
              <a:ext uri="{FF2B5EF4-FFF2-40B4-BE49-F238E27FC236}">
                <a16:creationId xmlns:a16="http://schemas.microsoft.com/office/drawing/2014/main" id="{7230F2F5-5E84-A5A9-08C4-548E2955E8CC}"/>
              </a:ext>
            </a:extLst>
          </p:cNvPr>
          <p:cNvSpPr txBox="1"/>
          <p:nvPr/>
        </p:nvSpPr>
        <p:spPr>
          <a:xfrm>
            <a:off x="638107" y="6310314"/>
            <a:ext cx="7769031" cy="307777"/>
          </a:xfrm>
          <a:prstGeom prst="rect">
            <a:avLst/>
          </a:prstGeom>
          <a:noFill/>
        </p:spPr>
        <p:txBody>
          <a:bodyPr wrap="square" rtlCol="0">
            <a:spAutoFit/>
          </a:bodyPr>
          <a:lstStyle/>
          <a:p>
            <a:r>
              <a:rPr lang="en-US" altLang="zh-CN" sz="1400" b="1" dirty="0"/>
              <a:t>Figure: Sample Prompt for Subtask Findings Consolidation and Organization</a:t>
            </a:r>
            <a:endParaRPr lang="zh-CN" altLang="en-US" sz="1400" b="1" dirty="0"/>
          </a:p>
        </p:txBody>
      </p:sp>
    </p:spTree>
    <p:extLst>
      <p:ext uri="{BB962C8B-B14F-4D97-AF65-F5344CB8AC3E}">
        <p14:creationId xmlns:p14="http://schemas.microsoft.com/office/powerpoint/2010/main" val="2233650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8D7DE-5F7F-CEF8-5A1E-1CCB7986E05A}"/>
            </a:ext>
          </a:extLst>
        </p:cNvPr>
        <p:cNvGrpSpPr/>
        <p:nvPr/>
      </p:nvGrpSpPr>
      <p:grpSpPr>
        <a:xfrm>
          <a:off x="0" y="0"/>
          <a:ext cx="0" cy="0"/>
          <a:chOff x="0" y="0"/>
          <a:chExt cx="0" cy="0"/>
        </a:xfrm>
      </p:grpSpPr>
      <p:sp>
        <p:nvSpPr>
          <p:cNvPr id="4" name="任意多边形: 形状 3">
            <a:extLst>
              <a:ext uri="{FF2B5EF4-FFF2-40B4-BE49-F238E27FC236}">
                <a16:creationId xmlns:a16="http://schemas.microsoft.com/office/drawing/2014/main" id="{6C925693-3FA6-5D6E-F10D-3F2EEA1194F6}"/>
              </a:ext>
            </a:extLst>
          </p:cNvPr>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flip="none" rotWithShape="1">
            <a:gsLst>
              <a:gs pos="3000">
                <a:schemeClr val="accent1">
                  <a:alpha val="0"/>
                </a:schemeClr>
              </a:gs>
              <a:gs pos="100000">
                <a:schemeClr val="accent1">
                  <a:alpha val="1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1" name="标题 1">
            <a:extLst>
              <a:ext uri="{FF2B5EF4-FFF2-40B4-BE49-F238E27FC236}">
                <a16:creationId xmlns:a16="http://schemas.microsoft.com/office/drawing/2014/main" id="{A2093099-0B41-EAEB-CAD8-B01895461038}"/>
              </a:ext>
            </a:extLst>
          </p:cNvPr>
          <p:cNvSpPr>
            <a:spLocks noGrp="1"/>
          </p:cNvSpPr>
          <p:nvPr>
            <p:ph type="title"/>
          </p:nvPr>
        </p:nvSpPr>
        <p:spPr>
          <a:xfrm>
            <a:off x="660400" y="128587"/>
            <a:ext cx="10858500" cy="900112"/>
          </a:xfrm>
        </p:spPr>
        <p:txBody>
          <a:bodyPr/>
          <a:lstStyle/>
          <a:p>
            <a:r>
              <a:rPr lang="en-US" altLang="zh-CN" dirty="0"/>
              <a:t>File System and Documentation</a:t>
            </a:r>
            <a:endParaRPr lang="zh-CN" altLang="en-US" dirty="0"/>
          </a:p>
        </p:txBody>
      </p:sp>
      <p:sp>
        <p:nvSpPr>
          <p:cNvPr id="11" name="文本框 10">
            <a:extLst>
              <a:ext uri="{FF2B5EF4-FFF2-40B4-BE49-F238E27FC236}">
                <a16:creationId xmlns:a16="http://schemas.microsoft.com/office/drawing/2014/main" id="{7495F0D9-9803-3E14-499E-629F1018818D}"/>
              </a:ext>
            </a:extLst>
          </p:cNvPr>
          <p:cNvSpPr txBox="1"/>
          <p:nvPr/>
        </p:nvSpPr>
        <p:spPr>
          <a:xfrm>
            <a:off x="638107" y="1028699"/>
            <a:ext cx="11147493" cy="646331"/>
          </a:xfrm>
          <a:prstGeom prst="rect">
            <a:avLst/>
          </a:prstGeom>
          <a:noFill/>
        </p:spPr>
        <p:txBody>
          <a:bodyPr wrap="square" rtlCol="0">
            <a:spAutoFit/>
          </a:bodyPr>
          <a:lstStyle/>
          <a:p>
            <a:pPr>
              <a:buSzPct val="25000"/>
              <a:tabLst>
                <a:tab pos="5472113" algn="l"/>
              </a:tabLst>
            </a:pPr>
            <a:r>
              <a:rPr lang="en-US" altLang="zh-CN" dirty="0"/>
              <a:t>The file system is designed to be structured and modular, records all artifacts, and is easy to update and maintain.</a:t>
            </a:r>
            <a:endParaRPr lang="en-US" altLang="zh-CN" b="1" dirty="0"/>
          </a:p>
        </p:txBody>
      </p:sp>
      <p:sp>
        <p:nvSpPr>
          <p:cNvPr id="7" name="文本框 6">
            <a:extLst>
              <a:ext uri="{FF2B5EF4-FFF2-40B4-BE49-F238E27FC236}">
                <a16:creationId xmlns:a16="http://schemas.microsoft.com/office/drawing/2014/main" id="{BAAC19F3-6AF2-C2F4-A36C-E67872565655}"/>
              </a:ext>
            </a:extLst>
          </p:cNvPr>
          <p:cNvSpPr txBox="1"/>
          <p:nvPr/>
        </p:nvSpPr>
        <p:spPr>
          <a:xfrm>
            <a:off x="717068" y="6070113"/>
            <a:ext cx="7568907" cy="646331"/>
          </a:xfrm>
          <a:prstGeom prst="rect">
            <a:avLst/>
          </a:prstGeom>
          <a:noFill/>
        </p:spPr>
        <p:txBody>
          <a:bodyPr wrap="square" rtlCol="0">
            <a:spAutoFit/>
          </a:bodyPr>
          <a:lstStyle/>
          <a:p>
            <a:pPr>
              <a:buSzPct val="25000"/>
              <a:tabLst>
                <a:tab pos="5472113" algn="l"/>
              </a:tabLst>
            </a:pPr>
            <a:r>
              <a:rPr lang="en-US" altLang="zh-CN" b="1" dirty="0"/>
              <a:t>Readme.md </a:t>
            </a:r>
            <a:r>
              <a:rPr lang="en-US" altLang="zh-CN" dirty="0"/>
              <a:t>has documented on how to run this application plainly or using containerization. Detailed usage guide is provided.</a:t>
            </a:r>
            <a:endParaRPr lang="en-US" altLang="zh-CN" b="1" dirty="0"/>
          </a:p>
        </p:txBody>
      </p:sp>
      <p:sp>
        <p:nvSpPr>
          <p:cNvPr id="10" name="箭头: 右 9">
            <a:extLst>
              <a:ext uri="{FF2B5EF4-FFF2-40B4-BE49-F238E27FC236}">
                <a16:creationId xmlns:a16="http://schemas.microsoft.com/office/drawing/2014/main" id="{5A9CBFD7-F6DF-C6FC-0F86-DAFF20D45F3B}"/>
              </a:ext>
            </a:extLst>
          </p:cNvPr>
          <p:cNvSpPr/>
          <p:nvPr/>
        </p:nvSpPr>
        <p:spPr>
          <a:xfrm>
            <a:off x="8076451" y="6188452"/>
            <a:ext cx="534009" cy="409651"/>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文本&#10;&#10;AI 生成的内容可能不正确。">
            <a:extLst>
              <a:ext uri="{FF2B5EF4-FFF2-40B4-BE49-F238E27FC236}">
                <a16:creationId xmlns:a16="http://schemas.microsoft.com/office/drawing/2014/main" id="{0E5AEFD8-0248-A52E-7836-5FBA9EEB9ECD}"/>
              </a:ext>
            </a:extLst>
          </p:cNvPr>
          <p:cNvPicPr>
            <a:picLocks noChangeAspect="1"/>
          </p:cNvPicPr>
          <p:nvPr/>
        </p:nvPicPr>
        <p:blipFill>
          <a:blip r:embed="rId3"/>
          <a:stretch>
            <a:fillRect/>
          </a:stretch>
        </p:blipFill>
        <p:spPr>
          <a:xfrm>
            <a:off x="717069" y="1699926"/>
            <a:ext cx="8994968" cy="4450591"/>
          </a:xfrm>
          <a:prstGeom prst="rect">
            <a:avLst/>
          </a:prstGeom>
        </p:spPr>
      </p:pic>
      <p:pic>
        <p:nvPicPr>
          <p:cNvPr id="8" name="图片 7" descr="图形用户界面, 文本, 应用程序&#10;&#10;AI 生成的内容可能不正确。">
            <a:extLst>
              <a:ext uri="{FF2B5EF4-FFF2-40B4-BE49-F238E27FC236}">
                <a16:creationId xmlns:a16="http://schemas.microsoft.com/office/drawing/2014/main" id="{B7D9B21D-DB91-10DC-5E3F-717BEDDB20AB}"/>
              </a:ext>
            </a:extLst>
          </p:cNvPr>
          <p:cNvPicPr>
            <a:picLocks noChangeAspect="1"/>
          </p:cNvPicPr>
          <p:nvPr/>
        </p:nvPicPr>
        <p:blipFill>
          <a:blip r:embed="rId4"/>
          <a:stretch>
            <a:fillRect/>
          </a:stretch>
        </p:blipFill>
        <p:spPr>
          <a:xfrm>
            <a:off x="8756073" y="5135565"/>
            <a:ext cx="3116530" cy="1535790"/>
          </a:xfrm>
          <a:prstGeom prst="rect">
            <a:avLst/>
          </a:prstGeom>
        </p:spPr>
      </p:pic>
    </p:spTree>
    <p:extLst>
      <p:ext uri="{BB962C8B-B14F-4D97-AF65-F5344CB8AC3E}">
        <p14:creationId xmlns:p14="http://schemas.microsoft.com/office/powerpoint/2010/main" val="3355848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D8EC5-9DFB-17E9-C744-A15C439BEA60}"/>
            </a:ext>
          </a:extLst>
        </p:cNvPr>
        <p:cNvGrpSpPr/>
        <p:nvPr/>
      </p:nvGrpSpPr>
      <p:grpSpPr>
        <a:xfrm>
          <a:off x="0" y="0"/>
          <a:ext cx="0" cy="0"/>
          <a:chOff x="0" y="0"/>
          <a:chExt cx="0" cy="0"/>
        </a:xfrm>
      </p:grpSpPr>
      <p:sp>
        <p:nvSpPr>
          <p:cNvPr id="4" name="任意多边形: 形状 3">
            <a:extLst>
              <a:ext uri="{FF2B5EF4-FFF2-40B4-BE49-F238E27FC236}">
                <a16:creationId xmlns:a16="http://schemas.microsoft.com/office/drawing/2014/main" id="{C5DA7475-3FA5-A961-3626-1AD28B02239C}"/>
              </a:ext>
            </a:extLst>
          </p:cNvPr>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flip="none" rotWithShape="1">
            <a:gsLst>
              <a:gs pos="3000">
                <a:schemeClr val="accent1">
                  <a:alpha val="0"/>
                </a:schemeClr>
              </a:gs>
              <a:gs pos="100000">
                <a:schemeClr val="accent1">
                  <a:alpha val="1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1" name="标题 10">
            <a:extLst>
              <a:ext uri="{FF2B5EF4-FFF2-40B4-BE49-F238E27FC236}">
                <a16:creationId xmlns:a16="http://schemas.microsoft.com/office/drawing/2014/main" id="{AAE1AC44-933E-EE44-BD62-E2D18D34A28A}"/>
              </a:ext>
            </a:extLst>
          </p:cNvPr>
          <p:cNvSpPr>
            <a:spLocks noGrp="1"/>
          </p:cNvSpPr>
          <p:nvPr>
            <p:ph type="title"/>
          </p:nvPr>
        </p:nvSpPr>
        <p:spPr/>
        <p:txBody>
          <a:bodyPr>
            <a:normAutofit/>
          </a:bodyPr>
          <a:lstStyle/>
          <a:p>
            <a:r>
              <a:rPr lang="en-US" altLang="zh-CN" dirty="0"/>
              <a:t>Four Key Metrics of Evaluation Framework</a:t>
            </a:r>
            <a:endParaRPr lang="zh-CN" altLang="en-US" dirty="0"/>
          </a:p>
        </p:txBody>
      </p:sp>
      <p:grpSp>
        <p:nvGrpSpPr>
          <p:cNvPr id="140" name="iṧ1îďê"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0D4F082A-334F-C329-02A1-670D2AABBF03}"/>
              </a:ext>
            </a:extLst>
          </p:cNvPr>
          <p:cNvGrpSpPr>
            <a:grpSpLocks noChangeAspect="1"/>
          </p:cNvGrpSpPr>
          <p:nvPr/>
        </p:nvGrpSpPr>
        <p:grpSpPr>
          <a:xfrm>
            <a:off x="673100" y="2126561"/>
            <a:ext cx="10845800" cy="3761290"/>
            <a:chOff x="673100" y="1841225"/>
            <a:chExt cx="10845800" cy="3761290"/>
          </a:xfrm>
        </p:grpSpPr>
        <p:sp>
          <p:nvSpPr>
            <p:cNvPr id="141" name="íṡḻïḍé">
              <a:extLst>
                <a:ext uri="{FF2B5EF4-FFF2-40B4-BE49-F238E27FC236}">
                  <a16:creationId xmlns:a16="http://schemas.microsoft.com/office/drawing/2014/main" id="{DBE8C857-4D1A-8396-6109-95503F58CA88}"/>
                </a:ext>
              </a:extLst>
            </p:cNvPr>
            <p:cNvSpPr/>
            <p:nvPr/>
          </p:nvSpPr>
          <p:spPr bwMode="auto">
            <a:xfrm rot="2700000">
              <a:off x="6109846" y="3432923"/>
              <a:ext cx="863600" cy="1301750"/>
            </a:xfrm>
            <a:custGeom>
              <a:avLst/>
              <a:gdLst>
                <a:gd name="T0" fmla="*/ 62 w 122"/>
                <a:gd name="T1" fmla="*/ 101 h 184"/>
                <a:gd name="T2" fmla="*/ 62 w 122"/>
                <a:gd name="T3" fmla="*/ 83 h 184"/>
                <a:gd name="T4" fmla="*/ 122 w 122"/>
                <a:gd name="T5" fmla="*/ 23 h 184"/>
                <a:gd name="T6" fmla="*/ 106 w 122"/>
                <a:gd name="T7" fmla="*/ 7 h 184"/>
                <a:gd name="T8" fmla="*/ 78 w 122"/>
                <a:gd name="T9" fmla="*/ 7 h 184"/>
                <a:gd name="T10" fmla="*/ 7 w 122"/>
                <a:gd name="T11" fmla="*/ 78 h 184"/>
                <a:gd name="T12" fmla="*/ 7 w 122"/>
                <a:gd name="T13" fmla="*/ 106 h 184"/>
                <a:gd name="T14" fmla="*/ 78 w 122"/>
                <a:gd name="T15" fmla="*/ 177 h 184"/>
                <a:gd name="T16" fmla="*/ 106 w 122"/>
                <a:gd name="T17" fmla="*/ 177 h 184"/>
                <a:gd name="T18" fmla="*/ 122 w 122"/>
                <a:gd name="T19" fmla="*/ 161 h 184"/>
                <a:gd name="T20" fmla="*/ 62 w 122"/>
                <a:gd name="T21" fmla="*/ 101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2" h="184">
                  <a:moveTo>
                    <a:pt x="62" y="101"/>
                  </a:moveTo>
                  <a:cubicBezTo>
                    <a:pt x="57" y="96"/>
                    <a:pt x="57" y="88"/>
                    <a:pt x="62" y="83"/>
                  </a:cubicBezTo>
                  <a:cubicBezTo>
                    <a:pt x="122" y="23"/>
                    <a:pt x="122" y="23"/>
                    <a:pt x="122" y="23"/>
                  </a:cubicBezTo>
                  <a:cubicBezTo>
                    <a:pt x="106" y="7"/>
                    <a:pt x="106" y="7"/>
                    <a:pt x="106" y="7"/>
                  </a:cubicBezTo>
                  <a:cubicBezTo>
                    <a:pt x="98" y="0"/>
                    <a:pt x="86" y="0"/>
                    <a:pt x="78" y="7"/>
                  </a:cubicBezTo>
                  <a:cubicBezTo>
                    <a:pt x="7" y="78"/>
                    <a:pt x="7" y="78"/>
                    <a:pt x="7" y="78"/>
                  </a:cubicBezTo>
                  <a:cubicBezTo>
                    <a:pt x="0" y="86"/>
                    <a:pt x="0" y="98"/>
                    <a:pt x="7" y="106"/>
                  </a:cubicBezTo>
                  <a:cubicBezTo>
                    <a:pt x="78" y="177"/>
                    <a:pt x="78" y="177"/>
                    <a:pt x="78" y="177"/>
                  </a:cubicBezTo>
                  <a:cubicBezTo>
                    <a:pt x="86" y="184"/>
                    <a:pt x="98" y="184"/>
                    <a:pt x="106" y="177"/>
                  </a:cubicBezTo>
                  <a:cubicBezTo>
                    <a:pt x="122" y="161"/>
                    <a:pt x="122" y="161"/>
                    <a:pt x="122" y="161"/>
                  </a:cubicBezTo>
                  <a:lnTo>
                    <a:pt x="62" y="101"/>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2" name="i$1íḋé">
              <a:extLst>
                <a:ext uri="{FF2B5EF4-FFF2-40B4-BE49-F238E27FC236}">
                  <a16:creationId xmlns:a16="http://schemas.microsoft.com/office/drawing/2014/main" id="{4AEF86B1-A2A8-5CC1-C8D4-D1178400035C}"/>
                </a:ext>
              </a:extLst>
            </p:cNvPr>
            <p:cNvSpPr/>
            <p:nvPr/>
          </p:nvSpPr>
          <p:spPr bwMode="auto">
            <a:xfrm rot="2700000">
              <a:off x="6245259" y="3788205"/>
              <a:ext cx="1303338" cy="1301750"/>
            </a:xfrm>
            <a:custGeom>
              <a:avLst/>
              <a:gdLst>
                <a:gd name="T0" fmla="*/ 177 w 184"/>
                <a:gd name="T1" fmla="*/ 78 h 184"/>
                <a:gd name="T2" fmla="*/ 106 w 184"/>
                <a:gd name="T3" fmla="*/ 7 h 184"/>
                <a:gd name="T4" fmla="*/ 78 w 184"/>
                <a:gd name="T5" fmla="*/ 7 h 184"/>
                <a:gd name="T6" fmla="*/ 7 w 184"/>
                <a:gd name="T7" fmla="*/ 78 h 184"/>
                <a:gd name="T8" fmla="*/ 7 w 184"/>
                <a:gd name="T9" fmla="*/ 106 h 184"/>
                <a:gd name="T10" fmla="*/ 78 w 184"/>
                <a:gd name="T11" fmla="*/ 177 h 184"/>
                <a:gd name="T12" fmla="*/ 106 w 184"/>
                <a:gd name="T13" fmla="*/ 177 h 184"/>
                <a:gd name="T14" fmla="*/ 177 w 184"/>
                <a:gd name="T15" fmla="*/ 106 h 184"/>
                <a:gd name="T16" fmla="*/ 177 w 184"/>
                <a:gd name="T17" fmla="*/ 78 h 184"/>
                <a:gd name="T18" fmla="*/ 162 w 184"/>
                <a:gd name="T19" fmla="*/ 101 h 184"/>
                <a:gd name="T20" fmla="*/ 101 w 184"/>
                <a:gd name="T21" fmla="*/ 162 h 184"/>
                <a:gd name="T22" fmla="*/ 83 w 184"/>
                <a:gd name="T23" fmla="*/ 162 h 184"/>
                <a:gd name="T24" fmla="*/ 22 w 184"/>
                <a:gd name="T25" fmla="*/ 101 h 184"/>
                <a:gd name="T26" fmla="*/ 22 w 184"/>
                <a:gd name="T27" fmla="*/ 83 h 184"/>
                <a:gd name="T28" fmla="*/ 83 w 184"/>
                <a:gd name="T29" fmla="*/ 22 h 184"/>
                <a:gd name="T30" fmla="*/ 101 w 184"/>
                <a:gd name="T31" fmla="*/ 22 h 184"/>
                <a:gd name="T32" fmla="*/ 162 w 184"/>
                <a:gd name="T33" fmla="*/ 83 h 184"/>
                <a:gd name="T34" fmla="*/ 162 w 184"/>
                <a:gd name="T35" fmla="*/ 101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4" h="184">
                  <a:moveTo>
                    <a:pt x="177" y="78"/>
                  </a:moveTo>
                  <a:cubicBezTo>
                    <a:pt x="106" y="7"/>
                    <a:pt x="106" y="7"/>
                    <a:pt x="106" y="7"/>
                  </a:cubicBezTo>
                  <a:cubicBezTo>
                    <a:pt x="98" y="0"/>
                    <a:pt x="86" y="0"/>
                    <a:pt x="78" y="7"/>
                  </a:cubicBezTo>
                  <a:cubicBezTo>
                    <a:pt x="7" y="78"/>
                    <a:pt x="7" y="78"/>
                    <a:pt x="7" y="78"/>
                  </a:cubicBezTo>
                  <a:cubicBezTo>
                    <a:pt x="0" y="86"/>
                    <a:pt x="0" y="98"/>
                    <a:pt x="7" y="106"/>
                  </a:cubicBezTo>
                  <a:cubicBezTo>
                    <a:pt x="78" y="177"/>
                    <a:pt x="78" y="177"/>
                    <a:pt x="78" y="177"/>
                  </a:cubicBezTo>
                  <a:cubicBezTo>
                    <a:pt x="86" y="184"/>
                    <a:pt x="98" y="184"/>
                    <a:pt x="106" y="177"/>
                  </a:cubicBezTo>
                  <a:cubicBezTo>
                    <a:pt x="177" y="106"/>
                    <a:pt x="177" y="106"/>
                    <a:pt x="177" y="106"/>
                  </a:cubicBezTo>
                  <a:cubicBezTo>
                    <a:pt x="184" y="98"/>
                    <a:pt x="184" y="86"/>
                    <a:pt x="177" y="78"/>
                  </a:cubicBezTo>
                  <a:close/>
                  <a:moveTo>
                    <a:pt x="162" y="101"/>
                  </a:moveTo>
                  <a:cubicBezTo>
                    <a:pt x="101" y="162"/>
                    <a:pt x="101" y="162"/>
                    <a:pt x="101" y="162"/>
                  </a:cubicBezTo>
                  <a:cubicBezTo>
                    <a:pt x="96" y="167"/>
                    <a:pt x="88" y="167"/>
                    <a:pt x="83" y="162"/>
                  </a:cubicBezTo>
                  <a:cubicBezTo>
                    <a:pt x="22" y="101"/>
                    <a:pt x="22" y="101"/>
                    <a:pt x="22" y="101"/>
                  </a:cubicBezTo>
                  <a:cubicBezTo>
                    <a:pt x="17" y="96"/>
                    <a:pt x="17" y="88"/>
                    <a:pt x="22" y="83"/>
                  </a:cubicBezTo>
                  <a:cubicBezTo>
                    <a:pt x="83" y="22"/>
                    <a:pt x="83" y="22"/>
                    <a:pt x="83" y="22"/>
                  </a:cubicBezTo>
                  <a:cubicBezTo>
                    <a:pt x="88" y="17"/>
                    <a:pt x="96" y="17"/>
                    <a:pt x="101" y="22"/>
                  </a:cubicBezTo>
                  <a:cubicBezTo>
                    <a:pt x="162" y="83"/>
                    <a:pt x="162" y="83"/>
                    <a:pt x="162" y="83"/>
                  </a:cubicBezTo>
                  <a:cubicBezTo>
                    <a:pt x="167" y="88"/>
                    <a:pt x="167" y="96"/>
                    <a:pt x="162" y="101"/>
                  </a:cubicBezTo>
                  <a:close/>
                </a:path>
              </a:pathLst>
            </a:custGeom>
            <a:solidFill>
              <a:schemeClr val="accent1"/>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3" name="iṥľíḓé">
              <a:extLst>
                <a:ext uri="{FF2B5EF4-FFF2-40B4-BE49-F238E27FC236}">
                  <a16:creationId xmlns:a16="http://schemas.microsoft.com/office/drawing/2014/main" id="{A2FF9555-96C3-3A33-C08B-9B66E1FB24FD}"/>
                </a:ext>
              </a:extLst>
            </p:cNvPr>
            <p:cNvSpPr/>
            <p:nvPr/>
          </p:nvSpPr>
          <p:spPr bwMode="auto">
            <a:xfrm>
              <a:off x="6752411" y="4251779"/>
              <a:ext cx="289032" cy="374602"/>
            </a:xfrm>
            <a:custGeom>
              <a:avLst/>
              <a:gdLst>
                <a:gd name="connsiteX0" fmla="*/ 330836 w 459971"/>
                <a:gd name="connsiteY0" fmla="*/ 194468 h 596147"/>
                <a:gd name="connsiteX1" fmla="*/ 363613 w 459971"/>
                <a:gd name="connsiteY1" fmla="*/ 217283 h 596147"/>
                <a:gd name="connsiteX2" fmla="*/ 221578 w 459971"/>
                <a:gd name="connsiteY2" fmla="*/ 420631 h 596147"/>
                <a:gd name="connsiteX3" fmla="*/ 128212 w 459971"/>
                <a:gd name="connsiteY3" fmla="*/ 326397 h 596147"/>
                <a:gd name="connsiteX4" fmla="*/ 156023 w 459971"/>
                <a:gd name="connsiteY4" fmla="*/ 298622 h 596147"/>
                <a:gd name="connsiteX5" fmla="*/ 216612 w 459971"/>
                <a:gd name="connsiteY5" fmla="*/ 359131 h 596147"/>
                <a:gd name="connsiteX6" fmla="*/ 39738 w 459971"/>
                <a:gd name="connsiteY6" fmla="*/ 39677 h 596147"/>
                <a:gd name="connsiteX7" fmla="*/ 39738 w 459971"/>
                <a:gd name="connsiteY7" fmla="*/ 556470 h 596147"/>
                <a:gd name="connsiteX8" fmla="*/ 420233 w 459971"/>
                <a:gd name="connsiteY8" fmla="*/ 556470 h 596147"/>
                <a:gd name="connsiteX9" fmla="*/ 420233 w 459971"/>
                <a:gd name="connsiteY9" fmla="*/ 102168 h 596147"/>
                <a:gd name="connsiteX10" fmla="*/ 353671 w 459971"/>
                <a:gd name="connsiteY10" fmla="*/ 102168 h 596147"/>
                <a:gd name="connsiteX11" fmla="*/ 353671 w 459971"/>
                <a:gd name="connsiteY11" fmla="*/ 39677 h 596147"/>
                <a:gd name="connsiteX12" fmla="*/ 0 w 459971"/>
                <a:gd name="connsiteY12" fmla="*/ 0 h 596147"/>
                <a:gd name="connsiteX13" fmla="*/ 374534 w 459971"/>
                <a:gd name="connsiteY13" fmla="*/ 0 h 596147"/>
                <a:gd name="connsiteX14" fmla="*/ 459971 w 459971"/>
                <a:gd name="connsiteY14" fmla="*/ 82330 h 596147"/>
                <a:gd name="connsiteX15" fmla="*/ 459971 w 459971"/>
                <a:gd name="connsiteY15" fmla="*/ 596147 h 596147"/>
                <a:gd name="connsiteX16" fmla="*/ 0 w 459971"/>
                <a:gd name="connsiteY16" fmla="*/ 596147 h 596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9971" h="596147">
                  <a:moveTo>
                    <a:pt x="330836" y="194468"/>
                  </a:moveTo>
                  <a:lnTo>
                    <a:pt x="363613" y="217283"/>
                  </a:lnTo>
                  <a:lnTo>
                    <a:pt x="221578" y="420631"/>
                  </a:lnTo>
                  <a:lnTo>
                    <a:pt x="128212" y="326397"/>
                  </a:lnTo>
                  <a:lnTo>
                    <a:pt x="156023" y="298622"/>
                  </a:lnTo>
                  <a:lnTo>
                    <a:pt x="216612" y="359131"/>
                  </a:lnTo>
                  <a:close/>
                  <a:moveTo>
                    <a:pt x="39738" y="39677"/>
                  </a:moveTo>
                  <a:lnTo>
                    <a:pt x="39738" y="556470"/>
                  </a:lnTo>
                  <a:lnTo>
                    <a:pt x="420233" y="556470"/>
                  </a:lnTo>
                  <a:lnTo>
                    <a:pt x="420233" y="102168"/>
                  </a:lnTo>
                  <a:lnTo>
                    <a:pt x="353671" y="102168"/>
                  </a:lnTo>
                  <a:lnTo>
                    <a:pt x="353671" y="39677"/>
                  </a:lnTo>
                  <a:close/>
                  <a:moveTo>
                    <a:pt x="0" y="0"/>
                  </a:moveTo>
                  <a:lnTo>
                    <a:pt x="374534" y="0"/>
                  </a:lnTo>
                  <a:lnTo>
                    <a:pt x="459971" y="82330"/>
                  </a:lnTo>
                  <a:lnTo>
                    <a:pt x="459971" y="596147"/>
                  </a:lnTo>
                  <a:lnTo>
                    <a:pt x="0" y="596147"/>
                  </a:lnTo>
                  <a:close/>
                </a:path>
              </a:pathLst>
            </a:custGeom>
            <a:solidFill>
              <a:schemeClr val="accent1"/>
            </a:solidFill>
            <a:ln>
              <a:noFill/>
            </a:ln>
          </p:spPr>
          <p:txBody>
            <a:bodyPr wrap="square" lIns="91440" tIns="45720" rIns="91440" bIns="4572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4" name="îṥḷîdè">
              <a:extLst>
                <a:ext uri="{FF2B5EF4-FFF2-40B4-BE49-F238E27FC236}">
                  <a16:creationId xmlns:a16="http://schemas.microsoft.com/office/drawing/2014/main" id="{1C3187B5-E749-78D7-3A7E-1ABA923CFFE3}"/>
                </a:ext>
              </a:extLst>
            </p:cNvPr>
            <p:cNvSpPr/>
            <p:nvPr/>
          </p:nvSpPr>
          <p:spPr bwMode="auto">
            <a:xfrm rot="2700000">
              <a:off x="5890771" y="2760707"/>
              <a:ext cx="1301750" cy="863600"/>
            </a:xfrm>
            <a:custGeom>
              <a:avLst/>
              <a:gdLst>
                <a:gd name="T0" fmla="*/ 177 w 184"/>
                <a:gd name="T1" fmla="*/ 16 h 122"/>
                <a:gd name="T2" fmla="*/ 161 w 184"/>
                <a:gd name="T3" fmla="*/ 0 h 122"/>
                <a:gd name="T4" fmla="*/ 101 w 184"/>
                <a:gd name="T5" fmla="*/ 60 h 122"/>
                <a:gd name="T6" fmla="*/ 83 w 184"/>
                <a:gd name="T7" fmla="*/ 60 h 122"/>
                <a:gd name="T8" fmla="*/ 23 w 184"/>
                <a:gd name="T9" fmla="*/ 0 h 122"/>
                <a:gd name="T10" fmla="*/ 7 w 184"/>
                <a:gd name="T11" fmla="*/ 16 h 122"/>
                <a:gd name="T12" fmla="*/ 7 w 184"/>
                <a:gd name="T13" fmla="*/ 44 h 122"/>
                <a:gd name="T14" fmla="*/ 78 w 184"/>
                <a:gd name="T15" fmla="*/ 115 h 122"/>
                <a:gd name="T16" fmla="*/ 106 w 184"/>
                <a:gd name="T17" fmla="*/ 115 h 122"/>
                <a:gd name="T18" fmla="*/ 177 w 184"/>
                <a:gd name="T19" fmla="*/ 44 h 122"/>
                <a:gd name="T20" fmla="*/ 177 w 184"/>
                <a:gd name="T21" fmla="*/ 16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4" h="122">
                  <a:moveTo>
                    <a:pt x="177" y="16"/>
                  </a:moveTo>
                  <a:cubicBezTo>
                    <a:pt x="161" y="0"/>
                    <a:pt x="161" y="0"/>
                    <a:pt x="161" y="0"/>
                  </a:cubicBezTo>
                  <a:cubicBezTo>
                    <a:pt x="101" y="60"/>
                    <a:pt x="101" y="60"/>
                    <a:pt x="101" y="60"/>
                  </a:cubicBezTo>
                  <a:cubicBezTo>
                    <a:pt x="96" y="65"/>
                    <a:pt x="88" y="65"/>
                    <a:pt x="83" y="60"/>
                  </a:cubicBezTo>
                  <a:cubicBezTo>
                    <a:pt x="23" y="0"/>
                    <a:pt x="23" y="0"/>
                    <a:pt x="23" y="0"/>
                  </a:cubicBezTo>
                  <a:cubicBezTo>
                    <a:pt x="7" y="16"/>
                    <a:pt x="7" y="16"/>
                    <a:pt x="7" y="16"/>
                  </a:cubicBezTo>
                  <a:cubicBezTo>
                    <a:pt x="0" y="24"/>
                    <a:pt x="0" y="36"/>
                    <a:pt x="7" y="44"/>
                  </a:cubicBezTo>
                  <a:cubicBezTo>
                    <a:pt x="78" y="115"/>
                    <a:pt x="78" y="115"/>
                    <a:pt x="78" y="115"/>
                  </a:cubicBezTo>
                  <a:cubicBezTo>
                    <a:pt x="86" y="122"/>
                    <a:pt x="98" y="122"/>
                    <a:pt x="106" y="115"/>
                  </a:cubicBezTo>
                  <a:cubicBezTo>
                    <a:pt x="177" y="44"/>
                    <a:pt x="177" y="44"/>
                    <a:pt x="177" y="44"/>
                  </a:cubicBezTo>
                  <a:cubicBezTo>
                    <a:pt x="184" y="36"/>
                    <a:pt x="184" y="24"/>
                    <a:pt x="177" y="16"/>
                  </a:cubicBez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5" name="ï$1ïde">
              <a:extLst>
                <a:ext uri="{FF2B5EF4-FFF2-40B4-BE49-F238E27FC236}">
                  <a16:creationId xmlns:a16="http://schemas.microsoft.com/office/drawing/2014/main" id="{80B12668-EC7E-1A61-BCC4-BF9BE32718E3}"/>
                </a:ext>
              </a:extLst>
            </p:cNvPr>
            <p:cNvSpPr/>
            <p:nvPr/>
          </p:nvSpPr>
          <p:spPr bwMode="auto">
            <a:xfrm rot="2700000">
              <a:off x="6246052" y="2185557"/>
              <a:ext cx="1301750" cy="1303338"/>
            </a:xfrm>
            <a:custGeom>
              <a:avLst/>
              <a:gdLst>
                <a:gd name="T0" fmla="*/ 177 w 184"/>
                <a:gd name="T1" fmla="*/ 78 h 184"/>
                <a:gd name="T2" fmla="*/ 106 w 184"/>
                <a:gd name="T3" fmla="*/ 7 h 184"/>
                <a:gd name="T4" fmla="*/ 78 w 184"/>
                <a:gd name="T5" fmla="*/ 7 h 184"/>
                <a:gd name="T6" fmla="*/ 7 w 184"/>
                <a:gd name="T7" fmla="*/ 78 h 184"/>
                <a:gd name="T8" fmla="*/ 7 w 184"/>
                <a:gd name="T9" fmla="*/ 106 h 184"/>
                <a:gd name="T10" fmla="*/ 78 w 184"/>
                <a:gd name="T11" fmla="*/ 177 h 184"/>
                <a:gd name="T12" fmla="*/ 106 w 184"/>
                <a:gd name="T13" fmla="*/ 177 h 184"/>
                <a:gd name="T14" fmla="*/ 177 w 184"/>
                <a:gd name="T15" fmla="*/ 106 h 184"/>
                <a:gd name="T16" fmla="*/ 177 w 184"/>
                <a:gd name="T17" fmla="*/ 78 h 184"/>
                <a:gd name="T18" fmla="*/ 162 w 184"/>
                <a:gd name="T19" fmla="*/ 101 h 184"/>
                <a:gd name="T20" fmla="*/ 101 w 184"/>
                <a:gd name="T21" fmla="*/ 162 h 184"/>
                <a:gd name="T22" fmla="*/ 83 w 184"/>
                <a:gd name="T23" fmla="*/ 162 h 184"/>
                <a:gd name="T24" fmla="*/ 22 w 184"/>
                <a:gd name="T25" fmla="*/ 101 h 184"/>
                <a:gd name="T26" fmla="*/ 22 w 184"/>
                <a:gd name="T27" fmla="*/ 83 h 184"/>
                <a:gd name="T28" fmla="*/ 83 w 184"/>
                <a:gd name="T29" fmla="*/ 22 h 184"/>
                <a:gd name="T30" fmla="*/ 101 w 184"/>
                <a:gd name="T31" fmla="*/ 22 h 184"/>
                <a:gd name="T32" fmla="*/ 162 w 184"/>
                <a:gd name="T33" fmla="*/ 83 h 184"/>
                <a:gd name="T34" fmla="*/ 162 w 184"/>
                <a:gd name="T35" fmla="*/ 101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4" h="184">
                  <a:moveTo>
                    <a:pt x="177" y="78"/>
                  </a:moveTo>
                  <a:cubicBezTo>
                    <a:pt x="106" y="7"/>
                    <a:pt x="106" y="7"/>
                    <a:pt x="106" y="7"/>
                  </a:cubicBezTo>
                  <a:cubicBezTo>
                    <a:pt x="98" y="0"/>
                    <a:pt x="86" y="0"/>
                    <a:pt x="78" y="7"/>
                  </a:cubicBezTo>
                  <a:cubicBezTo>
                    <a:pt x="7" y="78"/>
                    <a:pt x="7" y="78"/>
                    <a:pt x="7" y="78"/>
                  </a:cubicBezTo>
                  <a:cubicBezTo>
                    <a:pt x="0" y="86"/>
                    <a:pt x="0" y="98"/>
                    <a:pt x="7" y="106"/>
                  </a:cubicBezTo>
                  <a:cubicBezTo>
                    <a:pt x="78" y="177"/>
                    <a:pt x="78" y="177"/>
                    <a:pt x="78" y="177"/>
                  </a:cubicBezTo>
                  <a:cubicBezTo>
                    <a:pt x="86" y="184"/>
                    <a:pt x="98" y="184"/>
                    <a:pt x="106" y="177"/>
                  </a:cubicBezTo>
                  <a:cubicBezTo>
                    <a:pt x="177" y="106"/>
                    <a:pt x="177" y="106"/>
                    <a:pt x="177" y="106"/>
                  </a:cubicBezTo>
                  <a:cubicBezTo>
                    <a:pt x="184" y="98"/>
                    <a:pt x="184" y="86"/>
                    <a:pt x="177" y="78"/>
                  </a:cubicBezTo>
                  <a:close/>
                  <a:moveTo>
                    <a:pt x="162" y="101"/>
                  </a:moveTo>
                  <a:cubicBezTo>
                    <a:pt x="101" y="162"/>
                    <a:pt x="101" y="162"/>
                    <a:pt x="101" y="162"/>
                  </a:cubicBezTo>
                  <a:cubicBezTo>
                    <a:pt x="96" y="167"/>
                    <a:pt x="88" y="167"/>
                    <a:pt x="83" y="162"/>
                  </a:cubicBezTo>
                  <a:cubicBezTo>
                    <a:pt x="22" y="101"/>
                    <a:pt x="22" y="101"/>
                    <a:pt x="22" y="101"/>
                  </a:cubicBezTo>
                  <a:cubicBezTo>
                    <a:pt x="17" y="96"/>
                    <a:pt x="17" y="88"/>
                    <a:pt x="22" y="83"/>
                  </a:cubicBezTo>
                  <a:cubicBezTo>
                    <a:pt x="83" y="22"/>
                    <a:pt x="83" y="22"/>
                    <a:pt x="83" y="22"/>
                  </a:cubicBezTo>
                  <a:cubicBezTo>
                    <a:pt x="88" y="17"/>
                    <a:pt x="96" y="17"/>
                    <a:pt x="101" y="22"/>
                  </a:cubicBezTo>
                  <a:cubicBezTo>
                    <a:pt x="162" y="83"/>
                    <a:pt x="162" y="83"/>
                    <a:pt x="162" y="83"/>
                  </a:cubicBezTo>
                  <a:cubicBezTo>
                    <a:pt x="167" y="88"/>
                    <a:pt x="167" y="96"/>
                    <a:pt x="162" y="101"/>
                  </a:cubicBez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6" name="isḷîḓe">
              <a:extLst>
                <a:ext uri="{FF2B5EF4-FFF2-40B4-BE49-F238E27FC236}">
                  <a16:creationId xmlns:a16="http://schemas.microsoft.com/office/drawing/2014/main" id="{A951D6C8-10F7-450D-1807-675B1B07BD70}"/>
                </a:ext>
              </a:extLst>
            </p:cNvPr>
            <p:cNvSpPr/>
            <p:nvPr/>
          </p:nvSpPr>
          <p:spPr bwMode="auto">
            <a:xfrm>
              <a:off x="6713909" y="2649924"/>
              <a:ext cx="366034" cy="374604"/>
            </a:xfrm>
            <a:custGeom>
              <a:avLst/>
              <a:gdLst>
                <a:gd name="T0" fmla="*/ 7995 w 8630"/>
                <a:gd name="T1" fmla="*/ 4563 h 8832"/>
                <a:gd name="T2" fmla="*/ 7234 w 8630"/>
                <a:gd name="T3" fmla="*/ 3815 h 8832"/>
                <a:gd name="T4" fmla="*/ 6730 w 8630"/>
                <a:gd name="T5" fmla="*/ 4328 h 8832"/>
                <a:gd name="T6" fmla="*/ 7492 w 8630"/>
                <a:gd name="T7" fmla="*/ 5076 h 8832"/>
                <a:gd name="T8" fmla="*/ 7910 w 8630"/>
                <a:gd name="T9" fmla="*/ 6066 h 8832"/>
                <a:gd name="T10" fmla="*/ 7492 w 8630"/>
                <a:gd name="T11" fmla="*/ 7056 h 8832"/>
                <a:gd name="T12" fmla="*/ 6730 w 8630"/>
                <a:gd name="T13" fmla="*/ 7804 h 8832"/>
                <a:gd name="T14" fmla="*/ 5201 w 8630"/>
                <a:gd name="T15" fmla="*/ 7804 h 8832"/>
                <a:gd name="T16" fmla="*/ 3678 w 8630"/>
                <a:gd name="T17" fmla="*/ 6308 h 8832"/>
                <a:gd name="T18" fmla="*/ 3259 w 8630"/>
                <a:gd name="T19" fmla="*/ 5319 h 8832"/>
                <a:gd name="T20" fmla="*/ 3672 w 8630"/>
                <a:gd name="T21" fmla="*/ 4333 h 8832"/>
                <a:gd name="T22" fmla="*/ 4202 w 8630"/>
                <a:gd name="T23" fmla="*/ 3835 h 8832"/>
                <a:gd name="T24" fmla="*/ 3709 w 8630"/>
                <a:gd name="T25" fmla="*/ 3312 h 8832"/>
                <a:gd name="T26" fmla="*/ 3174 w 8630"/>
                <a:gd name="T27" fmla="*/ 3816 h 8832"/>
                <a:gd name="T28" fmla="*/ 2540 w 8630"/>
                <a:gd name="T29" fmla="*/ 5319 h 8832"/>
                <a:gd name="T30" fmla="*/ 3174 w 8630"/>
                <a:gd name="T31" fmla="*/ 6821 h 8832"/>
                <a:gd name="T32" fmla="*/ 4698 w 8630"/>
                <a:gd name="T33" fmla="*/ 8317 h 8832"/>
                <a:gd name="T34" fmla="*/ 5965 w 8630"/>
                <a:gd name="T35" fmla="*/ 8832 h 8832"/>
                <a:gd name="T36" fmla="*/ 7234 w 8630"/>
                <a:gd name="T37" fmla="*/ 8317 h 8832"/>
                <a:gd name="T38" fmla="*/ 7995 w 8630"/>
                <a:gd name="T39" fmla="*/ 7569 h 8832"/>
                <a:gd name="T40" fmla="*/ 8630 w 8630"/>
                <a:gd name="T41" fmla="*/ 6066 h 8832"/>
                <a:gd name="T42" fmla="*/ 7995 w 8630"/>
                <a:gd name="T43" fmla="*/ 4563 h 8832"/>
                <a:gd name="T44" fmla="*/ 1645 w 8630"/>
                <a:gd name="T45" fmla="*/ 1337 h 8832"/>
                <a:gd name="T46" fmla="*/ 3682 w 8630"/>
                <a:gd name="T47" fmla="*/ 1337 h 8832"/>
                <a:gd name="T48" fmla="*/ 4952 w 8630"/>
                <a:gd name="T49" fmla="*/ 2583 h 8832"/>
                <a:gd name="T50" fmla="*/ 5371 w 8630"/>
                <a:gd name="T51" fmla="*/ 3573 h 8832"/>
                <a:gd name="T52" fmla="*/ 4952 w 8630"/>
                <a:gd name="T53" fmla="*/ 4563 h 8832"/>
                <a:gd name="T54" fmla="*/ 4190 w 8630"/>
                <a:gd name="T55" fmla="*/ 5311 h 8832"/>
                <a:gd name="T56" fmla="*/ 4694 w 8630"/>
                <a:gd name="T57" fmla="*/ 5824 h 8832"/>
                <a:gd name="T58" fmla="*/ 5455 w 8630"/>
                <a:gd name="T59" fmla="*/ 5076 h 8832"/>
                <a:gd name="T60" fmla="*/ 6090 w 8630"/>
                <a:gd name="T61" fmla="*/ 3573 h 8832"/>
                <a:gd name="T62" fmla="*/ 5455 w 8630"/>
                <a:gd name="T63" fmla="*/ 2070 h 8832"/>
                <a:gd name="T64" fmla="*/ 4185 w 8630"/>
                <a:gd name="T65" fmla="*/ 824 h 8832"/>
                <a:gd name="T66" fmla="*/ 1142 w 8630"/>
                <a:gd name="T67" fmla="*/ 824 h 8832"/>
                <a:gd name="T68" fmla="*/ 634 w 8630"/>
                <a:gd name="T69" fmla="*/ 1322 h 8832"/>
                <a:gd name="T70" fmla="*/ 0 w 8630"/>
                <a:gd name="T71" fmla="*/ 2825 h 8832"/>
                <a:gd name="T72" fmla="*/ 634 w 8630"/>
                <a:gd name="T73" fmla="*/ 4328 h 8832"/>
                <a:gd name="T74" fmla="*/ 1142 w 8630"/>
                <a:gd name="T75" fmla="*/ 4827 h 8832"/>
                <a:gd name="T76" fmla="*/ 1645 w 8630"/>
                <a:gd name="T77" fmla="*/ 4314 h 8832"/>
                <a:gd name="T78" fmla="*/ 1138 w 8630"/>
                <a:gd name="T79" fmla="*/ 3816 h 8832"/>
                <a:gd name="T80" fmla="*/ 720 w 8630"/>
                <a:gd name="T81" fmla="*/ 2825 h 8832"/>
                <a:gd name="T82" fmla="*/ 1138 w 8630"/>
                <a:gd name="T83" fmla="*/ 1836 h 8832"/>
                <a:gd name="T84" fmla="*/ 1645 w 8630"/>
                <a:gd name="T85" fmla="*/ 1337 h 8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630" h="8832">
                  <a:moveTo>
                    <a:pt x="7995" y="4563"/>
                  </a:moveTo>
                  <a:lnTo>
                    <a:pt x="7234" y="3815"/>
                  </a:lnTo>
                  <a:lnTo>
                    <a:pt x="6730" y="4328"/>
                  </a:lnTo>
                  <a:lnTo>
                    <a:pt x="7492" y="5076"/>
                  </a:lnTo>
                  <a:cubicBezTo>
                    <a:pt x="7762" y="5341"/>
                    <a:pt x="7910" y="5693"/>
                    <a:pt x="7910" y="6066"/>
                  </a:cubicBezTo>
                  <a:cubicBezTo>
                    <a:pt x="7910" y="6440"/>
                    <a:pt x="7762" y="6791"/>
                    <a:pt x="7492" y="7056"/>
                  </a:cubicBezTo>
                  <a:lnTo>
                    <a:pt x="6730" y="7804"/>
                  </a:lnTo>
                  <a:cubicBezTo>
                    <a:pt x="6309" y="8218"/>
                    <a:pt x="5623" y="8218"/>
                    <a:pt x="5201" y="7804"/>
                  </a:cubicBezTo>
                  <a:lnTo>
                    <a:pt x="3678" y="6308"/>
                  </a:lnTo>
                  <a:cubicBezTo>
                    <a:pt x="3408" y="6043"/>
                    <a:pt x="3259" y="5693"/>
                    <a:pt x="3259" y="5319"/>
                  </a:cubicBezTo>
                  <a:cubicBezTo>
                    <a:pt x="3259" y="4945"/>
                    <a:pt x="3408" y="4594"/>
                    <a:pt x="3672" y="4333"/>
                  </a:cubicBezTo>
                  <a:lnTo>
                    <a:pt x="4202" y="3835"/>
                  </a:lnTo>
                  <a:lnTo>
                    <a:pt x="3709" y="3312"/>
                  </a:lnTo>
                  <a:lnTo>
                    <a:pt x="3174" y="3816"/>
                  </a:lnTo>
                  <a:cubicBezTo>
                    <a:pt x="2765" y="4216"/>
                    <a:pt x="2540" y="4751"/>
                    <a:pt x="2540" y="5319"/>
                  </a:cubicBezTo>
                  <a:cubicBezTo>
                    <a:pt x="2540" y="5887"/>
                    <a:pt x="2765" y="6420"/>
                    <a:pt x="3174" y="6821"/>
                  </a:cubicBezTo>
                  <a:lnTo>
                    <a:pt x="4698" y="8317"/>
                  </a:lnTo>
                  <a:cubicBezTo>
                    <a:pt x="5048" y="8661"/>
                    <a:pt x="5507" y="8832"/>
                    <a:pt x="5965" y="8832"/>
                  </a:cubicBezTo>
                  <a:cubicBezTo>
                    <a:pt x="6425" y="8832"/>
                    <a:pt x="6884" y="8661"/>
                    <a:pt x="7234" y="8317"/>
                  </a:cubicBezTo>
                  <a:lnTo>
                    <a:pt x="7995" y="7569"/>
                  </a:lnTo>
                  <a:cubicBezTo>
                    <a:pt x="8404" y="7168"/>
                    <a:pt x="8629" y="6635"/>
                    <a:pt x="8630" y="6066"/>
                  </a:cubicBezTo>
                  <a:cubicBezTo>
                    <a:pt x="8630" y="5498"/>
                    <a:pt x="8404" y="4964"/>
                    <a:pt x="7995" y="4563"/>
                  </a:cubicBezTo>
                  <a:close/>
                  <a:moveTo>
                    <a:pt x="1645" y="1337"/>
                  </a:moveTo>
                  <a:cubicBezTo>
                    <a:pt x="2207" y="786"/>
                    <a:pt x="3121" y="786"/>
                    <a:pt x="3682" y="1337"/>
                  </a:cubicBezTo>
                  <a:lnTo>
                    <a:pt x="4952" y="2583"/>
                  </a:lnTo>
                  <a:cubicBezTo>
                    <a:pt x="5222" y="2849"/>
                    <a:pt x="5370" y="3200"/>
                    <a:pt x="5371" y="3573"/>
                  </a:cubicBezTo>
                  <a:cubicBezTo>
                    <a:pt x="5371" y="3946"/>
                    <a:pt x="5222" y="4298"/>
                    <a:pt x="4952" y="4563"/>
                  </a:cubicBezTo>
                  <a:lnTo>
                    <a:pt x="4190" y="5311"/>
                  </a:lnTo>
                  <a:lnTo>
                    <a:pt x="4694" y="5824"/>
                  </a:lnTo>
                  <a:lnTo>
                    <a:pt x="5455" y="5076"/>
                  </a:lnTo>
                  <a:cubicBezTo>
                    <a:pt x="5864" y="4675"/>
                    <a:pt x="6090" y="4141"/>
                    <a:pt x="6090" y="3573"/>
                  </a:cubicBezTo>
                  <a:cubicBezTo>
                    <a:pt x="6089" y="3005"/>
                    <a:pt x="5864" y="2471"/>
                    <a:pt x="5455" y="2070"/>
                  </a:cubicBezTo>
                  <a:lnTo>
                    <a:pt x="4185" y="824"/>
                  </a:lnTo>
                  <a:cubicBezTo>
                    <a:pt x="3347" y="1"/>
                    <a:pt x="1981" y="0"/>
                    <a:pt x="1142" y="824"/>
                  </a:cubicBezTo>
                  <a:lnTo>
                    <a:pt x="634" y="1322"/>
                  </a:lnTo>
                  <a:cubicBezTo>
                    <a:pt x="226" y="1724"/>
                    <a:pt x="0" y="2257"/>
                    <a:pt x="0" y="2825"/>
                  </a:cubicBezTo>
                  <a:cubicBezTo>
                    <a:pt x="0" y="3393"/>
                    <a:pt x="225" y="3928"/>
                    <a:pt x="634" y="4328"/>
                  </a:cubicBezTo>
                  <a:lnTo>
                    <a:pt x="1142" y="4827"/>
                  </a:lnTo>
                  <a:lnTo>
                    <a:pt x="1645" y="4314"/>
                  </a:lnTo>
                  <a:lnTo>
                    <a:pt x="1138" y="3816"/>
                  </a:lnTo>
                  <a:cubicBezTo>
                    <a:pt x="868" y="3551"/>
                    <a:pt x="719" y="3199"/>
                    <a:pt x="720" y="2825"/>
                  </a:cubicBezTo>
                  <a:cubicBezTo>
                    <a:pt x="720" y="2452"/>
                    <a:pt x="868" y="2101"/>
                    <a:pt x="1138" y="1836"/>
                  </a:cubicBezTo>
                  <a:lnTo>
                    <a:pt x="1645" y="1337"/>
                  </a:lnTo>
                  <a:close/>
                </a:path>
              </a:pathLst>
            </a:custGeom>
            <a:solidFill>
              <a:schemeClr val="tx1">
                <a:lumMod val="50000"/>
                <a:lumOff val="50000"/>
              </a:schemeClr>
            </a:solidFill>
            <a:ln>
              <a:noFill/>
            </a:ln>
          </p:spPr>
          <p:txBody>
            <a:bodyPr wrap="square" lIns="91440" tIns="45720" rIns="91440" bIns="4572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7" name="ïṧḻîḋê">
              <a:extLst>
                <a:ext uri="{FF2B5EF4-FFF2-40B4-BE49-F238E27FC236}">
                  <a16:creationId xmlns:a16="http://schemas.microsoft.com/office/drawing/2014/main" id="{B69C1787-E7E6-6EED-9DCC-B296955F0EA1}"/>
                </a:ext>
              </a:extLst>
            </p:cNvPr>
            <p:cNvSpPr/>
            <p:nvPr/>
          </p:nvSpPr>
          <p:spPr bwMode="auto">
            <a:xfrm rot="2700000">
              <a:off x="5219910" y="2542194"/>
              <a:ext cx="862013" cy="1301750"/>
            </a:xfrm>
            <a:custGeom>
              <a:avLst/>
              <a:gdLst>
                <a:gd name="T0" fmla="*/ 115 w 122"/>
                <a:gd name="T1" fmla="*/ 78 h 184"/>
                <a:gd name="T2" fmla="*/ 44 w 122"/>
                <a:gd name="T3" fmla="*/ 7 h 184"/>
                <a:gd name="T4" fmla="*/ 16 w 122"/>
                <a:gd name="T5" fmla="*/ 7 h 184"/>
                <a:gd name="T6" fmla="*/ 0 w 122"/>
                <a:gd name="T7" fmla="*/ 23 h 184"/>
                <a:gd name="T8" fmla="*/ 60 w 122"/>
                <a:gd name="T9" fmla="*/ 83 h 184"/>
                <a:gd name="T10" fmla="*/ 60 w 122"/>
                <a:gd name="T11" fmla="*/ 101 h 184"/>
                <a:gd name="T12" fmla="*/ 0 w 122"/>
                <a:gd name="T13" fmla="*/ 161 h 184"/>
                <a:gd name="T14" fmla="*/ 16 w 122"/>
                <a:gd name="T15" fmla="*/ 177 h 184"/>
                <a:gd name="T16" fmla="*/ 44 w 122"/>
                <a:gd name="T17" fmla="*/ 177 h 184"/>
                <a:gd name="T18" fmla="*/ 115 w 122"/>
                <a:gd name="T19" fmla="*/ 106 h 184"/>
                <a:gd name="T20" fmla="*/ 115 w 122"/>
                <a:gd name="T21" fmla="*/ 78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2" h="184">
                  <a:moveTo>
                    <a:pt x="115" y="78"/>
                  </a:moveTo>
                  <a:cubicBezTo>
                    <a:pt x="44" y="7"/>
                    <a:pt x="44" y="7"/>
                    <a:pt x="44" y="7"/>
                  </a:cubicBezTo>
                  <a:cubicBezTo>
                    <a:pt x="36" y="0"/>
                    <a:pt x="24" y="0"/>
                    <a:pt x="16" y="7"/>
                  </a:cubicBezTo>
                  <a:cubicBezTo>
                    <a:pt x="0" y="23"/>
                    <a:pt x="0" y="23"/>
                    <a:pt x="0" y="23"/>
                  </a:cubicBezTo>
                  <a:cubicBezTo>
                    <a:pt x="60" y="83"/>
                    <a:pt x="60" y="83"/>
                    <a:pt x="60" y="83"/>
                  </a:cubicBezTo>
                  <a:cubicBezTo>
                    <a:pt x="65" y="88"/>
                    <a:pt x="65" y="96"/>
                    <a:pt x="60" y="101"/>
                  </a:cubicBezTo>
                  <a:cubicBezTo>
                    <a:pt x="0" y="161"/>
                    <a:pt x="0" y="161"/>
                    <a:pt x="0" y="161"/>
                  </a:cubicBezTo>
                  <a:cubicBezTo>
                    <a:pt x="16" y="177"/>
                    <a:pt x="16" y="177"/>
                    <a:pt x="16" y="177"/>
                  </a:cubicBezTo>
                  <a:cubicBezTo>
                    <a:pt x="24" y="184"/>
                    <a:pt x="36" y="184"/>
                    <a:pt x="44" y="177"/>
                  </a:cubicBezTo>
                  <a:cubicBezTo>
                    <a:pt x="115" y="106"/>
                    <a:pt x="115" y="106"/>
                    <a:pt x="115" y="106"/>
                  </a:cubicBezTo>
                  <a:cubicBezTo>
                    <a:pt x="122" y="98"/>
                    <a:pt x="122" y="86"/>
                    <a:pt x="115" y="78"/>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8" name="ïšḷïḋé">
              <a:extLst>
                <a:ext uri="{FF2B5EF4-FFF2-40B4-BE49-F238E27FC236}">
                  <a16:creationId xmlns:a16="http://schemas.microsoft.com/office/drawing/2014/main" id="{3D2200F5-E6E1-BA76-0132-1D4F9D3EEB41}"/>
                </a:ext>
              </a:extLst>
            </p:cNvPr>
            <p:cNvSpPr/>
            <p:nvPr/>
          </p:nvSpPr>
          <p:spPr bwMode="auto">
            <a:xfrm rot="2700000">
              <a:off x="4644760" y="2186912"/>
              <a:ext cx="1301750" cy="1301750"/>
            </a:xfrm>
            <a:custGeom>
              <a:avLst/>
              <a:gdLst>
                <a:gd name="T0" fmla="*/ 177 w 184"/>
                <a:gd name="T1" fmla="*/ 78 h 184"/>
                <a:gd name="T2" fmla="*/ 106 w 184"/>
                <a:gd name="T3" fmla="*/ 7 h 184"/>
                <a:gd name="T4" fmla="*/ 78 w 184"/>
                <a:gd name="T5" fmla="*/ 7 h 184"/>
                <a:gd name="T6" fmla="*/ 7 w 184"/>
                <a:gd name="T7" fmla="*/ 78 h 184"/>
                <a:gd name="T8" fmla="*/ 7 w 184"/>
                <a:gd name="T9" fmla="*/ 106 h 184"/>
                <a:gd name="T10" fmla="*/ 78 w 184"/>
                <a:gd name="T11" fmla="*/ 177 h 184"/>
                <a:gd name="T12" fmla="*/ 106 w 184"/>
                <a:gd name="T13" fmla="*/ 177 h 184"/>
                <a:gd name="T14" fmla="*/ 177 w 184"/>
                <a:gd name="T15" fmla="*/ 106 h 184"/>
                <a:gd name="T16" fmla="*/ 177 w 184"/>
                <a:gd name="T17" fmla="*/ 78 h 184"/>
                <a:gd name="T18" fmla="*/ 162 w 184"/>
                <a:gd name="T19" fmla="*/ 101 h 184"/>
                <a:gd name="T20" fmla="*/ 101 w 184"/>
                <a:gd name="T21" fmla="*/ 162 h 184"/>
                <a:gd name="T22" fmla="*/ 83 w 184"/>
                <a:gd name="T23" fmla="*/ 162 h 184"/>
                <a:gd name="T24" fmla="*/ 22 w 184"/>
                <a:gd name="T25" fmla="*/ 101 h 184"/>
                <a:gd name="T26" fmla="*/ 22 w 184"/>
                <a:gd name="T27" fmla="*/ 83 h 184"/>
                <a:gd name="T28" fmla="*/ 83 w 184"/>
                <a:gd name="T29" fmla="*/ 22 h 184"/>
                <a:gd name="T30" fmla="*/ 101 w 184"/>
                <a:gd name="T31" fmla="*/ 22 h 184"/>
                <a:gd name="T32" fmla="*/ 162 w 184"/>
                <a:gd name="T33" fmla="*/ 83 h 184"/>
                <a:gd name="T34" fmla="*/ 162 w 184"/>
                <a:gd name="T35" fmla="*/ 101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4" h="184">
                  <a:moveTo>
                    <a:pt x="177" y="78"/>
                  </a:moveTo>
                  <a:cubicBezTo>
                    <a:pt x="106" y="7"/>
                    <a:pt x="106" y="7"/>
                    <a:pt x="106" y="7"/>
                  </a:cubicBezTo>
                  <a:cubicBezTo>
                    <a:pt x="98" y="0"/>
                    <a:pt x="86" y="0"/>
                    <a:pt x="78" y="7"/>
                  </a:cubicBezTo>
                  <a:cubicBezTo>
                    <a:pt x="7" y="78"/>
                    <a:pt x="7" y="78"/>
                    <a:pt x="7" y="78"/>
                  </a:cubicBezTo>
                  <a:cubicBezTo>
                    <a:pt x="0" y="86"/>
                    <a:pt x="0" y="98"/>
                    <a:pt x="7" y="106"/>
                  </a:cubicBezTo>
                  <a:cubicBezTo>
                    <a:pt x="78" y="177"/>
                    <a:pt x="78" y="177"/>
                    <a:pt x="78" y="177"/>
                  </a:cubicBezTo>
                  <a:cubicBezTo>
                    <a:pt x="86" y="184"/>
                    <a:pt x="98" y="184"/>
                    <a:pt x="106" y="177"/>
                  </a:cubicBezTo>
                  <a:cubicBezTo>
                    <a:pt x="177" y="106"/>
                    <a:pt x="177" y="106"/>
                    <a:pt x="177" y="106"/>
                  </a:cubicBezTo>
                  <a:cubicBezTo>
                    <a:pt x="184" y="98"/>
                    <a:pt x="184" y="86"/>
                    <a:pt x="177" y="78"/>
                  </a:cubicBezTo>
                  <a:close/>
                  <a:moveTo>
                    <a:pt x="162" y="101"/>
                  </a:moveTo>
                  <a:cubicBezTo>
                    <a:pt x="101" y="162"/>
                    <a:pt x="101" y="162"/>
                    <a:pt x="101" y="162"/>
                  </a:cubicBezTo>
                  <a:cubicBezTo>
                    <a:pt x="96" y="167"/>
                    <a:pt x="88" y="167"/>
                    <a:pt x="83" y="162"/>
                  </a:cubicBezTo>
                  <a:cubicBezTo>
                    <a:pt x="22" y="101"/>
                    <a:pt x="22" y="101"/>
                    <a:pt x="22" y="101"/>
                  </a:cubicBezTo>
                  <a:cubicBezTo>
                    <a:pt x="17" y="96"/>
                    <a:pt x="17" y="88"/>
                    <a:pt x="22" y="83"/>
                  </a:cubicBezTo>
                  <a:cubicBezTo>
                    <a:pt x="83" y="22"/>
                    <a:pt x="83" y="22"/>
                    <a:pt x="83" y="22"/>
                  </a:cubicBezTo>
                  <a:cubicBezTo>
                    <a:pt x="88" y="17"/>
                    <a:pt x="96" y="17"/>
                    <a:pt x="101" y="22"/>
                  </a:cubicBezTo>
                  <a:cubicBezTo>
                    <a:pt x="162" y="83"/>
                    <a:pt x="162" y="83"/>
                    <a:pt x="162" y="83"/>
                  </a:cubicBezTo>
                  <a:cubicBezTo>
                    <a:pt x="167" y="88"/>
                    <a:pt x="167" y="96"/>
                    <a:pt x="162" y="101"/>
                  </a:cubicBezTo>
                  <a:close/>
                </a:path>
              </a:pathLst>
            </a:custGeom>
            <a:solidFill>
              <a:schemeClr val="accent1"/>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9" name="iş1îḓe">
              <a:extLst>
                <a:ext uri="{FF2B5EF4-FFF2-40B4-BE49-F238E27FC236}">
                  <a16:creationId xmlns:a16="http://schemas.microsoft.com/office/drawing/2014/main" id="{181237E0-5564-2D25-7BD1-E68C82EB8627}"/>
                </a:ext>
              </a:extLst>
            </p:cNvPr>
            <p:cNvSpPr/>
            <p:nvPr/>
          </p:nvSpPr>
          <p:spPr bwMode="auto">
            <a:xfrm>
              <a:off x="5085870" y="2628021"/>
              <a:ext cx="419531" cy="419531"/>
            </a:xfrm>
            <a:custGeom>
              <a:avLst/>
              <a:gdLst>
                <a:gd name="T0" fmla="*/ 7544 w 9270"/>
                <a:gd name="T1" fmla="*/ 2712 h 9270"/>
                <a:gd name="T2" fmla="*/ 4635 w 9270"/>
                <a:gd name="T3" fmla="*/ 1010 h 9270"/>
                <a:gd name="T4" fmla="*/ 1726 w 9270"/>
                <a:gd name="T5" fmla="*/ 2712 h 9270"/>
                <a:gd name="T6" fmla="*/ 4635 w 9270"/>
                <a:gd name="T7" fmla="*/ 4414 h 9270"/>
                <a:gd name="T8" fmla="*/ 7544 w 9270"/>
                <a:gd name="T9" fmla="*/ 2712 h 9270"/>
                <a:gd name="T10" fmla="*/ 4635 w 9270"/>
                <a:gd name="T11" fmla="*/ 6331 h 9270"/>
                <a:gd name="T12" fmla="*/ 8401 w 9270"/>
                <a:gd name="T13" fmla="*/ 4128 h 9270"/>
                <a:gd name="T14" fmla="*/ 9270 w 9270"/>
                <a:gd name="T15" fmla="*/ 4636 h 9270"/>
                <a:gd name="T16" fmla="*/ 4635 w 9270"/>
                <a:gd name="T17" fmla="*/ 7349 h 9270"/>
                <a:gd name="T18" fmla="*/ 0 w 9270"/>
                <a:gd name="T19" fmla="*/ 4636 h 9270"/>
                <a:gd name="T20" fmla="*/ 870 w 9270"/>
                <a:gd name="T21" fmla="*/ 4128 h 9270"/>
                <a:gd name="T22" fmla="*/ 4635 w 9270"/>
                <a:gd name="T23" fmla="*/ 6331 h 9270"/>
                <a:gd name="T24" fmla="*/ 4635 w 9270"/>
                <a:gd name="T25" fmla="*/ 8253 h 9270"/>
                <a:gd name="T26" fmla="*/ 8401 w 9270"/>
                <a:gd name="T27" fmla="*/ 6046 h 9270"/>
                <a:gd name="T28" fmla="*/ 9270 w 9270"/>
                <a:gd name="T29" fmla="*/ 6553 h 9270"/>
                <a:gd name="T30" fmla="*/ 4635 w 9270"/>
                <a:gd name="T31" fmla="*/ 9270 h 9270"/>
                <a:gd name="T32" fmla="*/ 0 w 9270"/>
                <a:gd name="T33" fmla="*/ 6553 h 9270"/>
                <a:gd name="T34" fmla="*/ 870 w 9270"/>
                <a:gd name="T35" fmla="*/ 6046 h 9270"/>
                <a:gd name="T36" fmla="*/ 4635 w 9270"/>
                <a:gd name="T37" fmla="*/ 8253 h 9270"/>
                <a:gd name="T38" fmla="*/ 0 w 9270"/>
                <a:gd name="T39" fmla="*/ 2712 h 9270"/>
                <a:gd name="T40" fmla="*/ 4635 w 9270"/>
                <a:gd name="T41" fmla="*/ 0 h 9270"/>
                <a:gd name="T42" fmla="*/ 9270 w 9270"/>
                <a:gd name="T43" fmla="*/ 2712 h 9270"/>
                <a:gd name="T44" fmla="*/ 4635 w 9270"/>
                <a:gd name="T45" fmla="*/ 5424 h 9270"/>
                <a:gd name="T46" fmla="*/ 0 w 9270"/>
                <a:gd name="T47" fmla="*/ 2712 h 9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270" h="9270">
                  <a:moveTo>
                    <a:pt x="7544" y="2712"/>
                  </a:moveTo>
                  <a:lnTo>
                    <a:pt x="4635" y="1010"/>
                  </a:lnTo>
                  <a:lnTo>
                    <a:pt x="1726" y="2712"/>
                  </a:lnTo>
                  <a:lnTo>
                    <a:pt x="4635" y="4414"/>
                  </a:lnTo>
                  <a:lnTo>
                    <a:pt x="7544" y="2712"/>
                  </a:lnTo>
                  <a:close/>
                  <a:moveTo>
                    <a:pt x="4635" y="6331"/>
                  </a:moveTo>
                  <a:lnTo>
                    <a:pt x="8401" y="4128"/>
                  </a:lnTo>
                  <a:lnTo>
                    <a:pt x="9270" y="4636"/>
                  </a:lnTo>
                  <a:lnTo>
                    <a:pt x="4635" y="7349"/>
                  </a:lnTo>
                  <a:lnTo>
                    <a:pt x="0" y="4636"/>
                  </a:lnTo>
                  <a:lnTo>
                    <a:pt x="870" y="4128"/>
                  </a:lnTo>
                  <a:lnTo>
                    <a:pt x="4635" y="6331"/>
                  </a:lnTo>
                  <a:close/>
                  <a:moveTo>
                    <a:pt x="4635" y="8253"/>
                  </a:moveTo>
                  <a:lnTo>
                    <a:pt x="8401" y="6046"/>
                  </a:lnTo>
                  <a:lnTo>
                    <a:pt x="9270" y="6553"/>
                  </a:lnTo>
                  <a:lnTo>
                    <a:pt x="4635" y="9270"/>
                  </a:lnTo>
                  <a:lnTo>
                    <a:pt x="0" y="6553"/>
                  </a:lnTo>
                  <a:lnTo>
                    <a:pt x="870" y="6046"/>
                  </a:lnTo>
                  <a:lnTo>
                    <a:pt x="4635" y="8253"/>
                  </a:lnTo>
                  <a:close/>
                  <a:moveTo>
                    <a:pt x="0" y="2712"/>
                  </a:moveTo>
                  <a:lnTo>
                    <a:pt x="4635" y="0"/>
                  </a:lnTo>
                  <a:lnTo>
                    <a:pt x="9270" y="2712"/>
                  </a:lnTo>
                  <a:lnTo>
                    <a:pt x="4635" y="5424"/>
                  </a:lnTo>
                  <a:lnTo>
                    <a:pt x="0" y="2712"/>
                  </a:lnTo>
                  <a:close/>
                </a:path>
              </a:pathLst>
            </a:custGeom>
            <a:solidFill>
              <a:schemeClr val="accent1"/>
            </a:solidFill>
            <a:ln>
              <a:noFill/>
            </a:ln>
          </p:spPr>
          <p:txBody>
            <a:bodyPr vert="horz" wrap="square" lIns="91440" tIns="45720" rIns="91440" bIns="45720" numCol="1" anchor="t" anchorCtr="0" compatLnSpc="1">
              <a:prstTxWarp prst="textNoShape">
                <a:avLst/>
              </a:prstTxWarp>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150" name="ïṥļîḍé">
              <a:extLst>
                <a:ext uri="{FF2B5EF4-FFF2-40B4-BE49-F238E27FC236}">
                  <a16:creationId xmlns:a16="http://schemas.microsoft.com/office/drawing/2014/main" id="{0A83339D-6B1C-A871-DF58-C5CF5198B3C7}"/>
                </a:ext>
              </a:extLst>
            </p:cNvPr>
            <p:cNvSpPr/>
            <p:nvPr/>
          </p:nvSpPr>
          <p:spPr bwMode="auto">
            <a:xfrm rot="2700000">
              <a:off x="4999481" y="3651997"/>
              <a:ext cx="1301750" cy="863600"/>
            </a:xfrm>
            <a:custGeom>
              <a:avLst/>
              <a:gdLst>
                <a:gd name="T0" fmla="*/ 177 w 184"/>
                <a:gd name="T1" fmla="*/ 78 h 122"/>
                <a:gd name="T2" fmla="*/ 106 w 184"/>
                <a:gd name="T3" fmla="*/ 7 h 122"/>
                <a:gd name="T4" fmla="*/ 78 w 184"/>
                <a:gd name="T5" fmla="*/ 7 h 122"/>
                <a:gd name="T6" fmla="*/ 7 w 184"/>
                <a:gd name="T7" fmla="*/ 78 h 122"/>
                <a:gd name="T8" fmla="*/ 7 w 184"/>
                <a:gd name="T9" fmla="*/ 106 h 122"/>
                <a:gd name="T10" fmla="*/ 23 w 184"/>
                <a:gd name="T11" fmla="*/ 122 h 122"/>
                <a:gd name="T12" fmla="*/ 83 w 184"/>
                <a:gd name="T13" fmla="*/ 62 h 122"/>
                <a:gd name="T14" fmla="*/ 101 w 184"/>
                <a:gd name="T15" fmla="*/ 62 h 122"/>
                <a:gd name="T16" fmla="*/ 161 w 184"/>
                <a:gd name="T17" fmla="*/ 122 h 122"/>
                <a:gd name="T18" fmla="*/ 177 w 184"/>
                <a:gd name="T19" fmla="*/ 106 h 122"/>
                <a:gd name="T20" fmla="*/ 177 w 184"/>
                <a:gd name="T21" fmla="*/ 78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4" h="122">
                  <a:moveTo>
                    <a:pt x="177" y="78"/>
                  </a:moveTo>
                  <a:cubicBezTo>
                    <a:pt x="106" y="7"/>
                    <a:pt x="106" y="7"/>
                    <a:pt x="106" y="7"/>
                  </a:cubicBezTo>
                  <a:cubicBezTo>
                    <a:pt x="98" y="0"/>
                    <a:pt x="86" y="0"/>
                    <a:pt x="78" y="7"/>
                  </a:cubicBezTo>
                  <a:cubicBezTo>
                    <a:pt x="7" y="78"/>
                    <a:pt x="7" y="78"/>
                    <a:pt x="7" y="78"/>
                  </a:cubicBezTo>
                  <a:cubicBezTo>
                    <a:pt x="0" y="86"/>
                    <a:pt x="0" y="98"/>
                    <a:pt x="7" y="106"/>
                  </a:cubicBezTo>
                  <a:cubicBezTo>
                    <a:pt x="23" y="122"/>
                    <a:pt x="23" y="122"/>
                    <a:pt x="23" y="122"/>
                  </a:cubicBezTo>
                  <a:cubicBezTo>
                    <a:pt x="83" y="62"/>
                    <a:pt x="83" y="62"/>
                    <a:pt x="83" y="62"/>
                  </a:cubicBezTo>
                  <a:cubicBezTo>
                    <a:pt x="88" y="57"/>
                    <a:pt x="96" y="57"/>
                    <a:pt x="101" y="62"/>
                  </a:cubicBezTo>
                  <a:cubicBezTo>
                    <a:pt x="161" y="122"/>
                    <a:pt x="161" y="122"/>
                    <a:pt x="161" y="122"/>
                  </a:cubicBezTo>
                  <a:cubicBezTo>
                    <a:pt x="177" y="106"/>
                    <a:pt x="177" y="106"/>
                    <a:pt x="177" y="106"/>
                  </a:cubicBezTo>
                  <a:cubicBezTo>
                    <a:pt x="184" y="98"/>
                    <a:pt x="184" y="86"/>
                    <a:pt x="177" y="78"/>
                  </a:cubicBez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1" name="íşḻiďê">
              <a:extLst>
                <a:ext uri="{FF2B5EF4-FFF2-40B4-BE49-F238E27FC236}">
                  <a16:creationId xmlns:a16="http://schemas.microsoft.com/office/drawing/2014/main" id="{2F45F841-E8AC-96C6-8D6C-0DF1BA9253AC}"/>
                </a:ext>
              </a:extLst>
            </p:cNvPr>
            <p:cNvSpPr/>
            <p:nvPr/>
          </p:nvSpPr>
          <p:spPr bwMode="auto">
            <a:xfrm rot="2700000">
              <a:off x="4644199" y="3787410"/>
              <a:ext cx="1301750" cy="1303338"/>
            </a:xfrm>
            <a:custGeom>
              <a:avLst/>
              <a:gdLst>
                <a:gd name="T0" fmla="*/ 177 w 184"/>
                <a:gd name="T1" fmla="*/ 78 h 184"/>
                <a:gd name="T2" fmla="*/ 106 w 184"/>
                <a:gd name="T3" fmla="*/ 7 h 184"/>
                <a:gd name="T4" fmla="*/ 78 w 184"/>
                <a:gd name="T5" fmla="*/ 7 h 184"/>
                <a:gd name="T6" fmla="*/ 7 w 184"/>
                <a:gd name="T7" fmla="*/ 78 h 184"/>
                <a:gd name="T8" fmla="*/ 7 w 184"/>
                <a:gd name="T9" fmla="*/ 106 h 184"/>
                <a:gd name="T10" fmla="*/ 78 w 184"/>
                <a:gd name="T11" fmla="*/ 177 h 184"/>
                <a:gd name="T12" fmla="*/ 106 w 184"/>
                <a:gd name="T13" fmla="*/ 177 h 184"/>
                <a:gd name="T14" fmla="*/ 177 w 184"/>
                <a:gd name="T15" fmla="*/ 106 h 184"/>
                <a:gd name="T16" fmla="*/ 177 w 184"/>
                <a:gd name="T17" fmla="*/ 78 h 184"/>
                <a:gd name="T18" fmla="*/ 162 w 184"/>
                <a:gd name="T19" fmla="*/ 101 h 184"/>
                <a:gd name="T20" fmla="*/ 101 w 184"/>
                <a:gd name="T21" fmla="*/ 162 h 184"/>
                <a:gd name="T22" fmla="*/ 83 w 184"/>
                <a:gd name="T23" fmla="*/ 162 h 184"/>
                <a:gd name="T24" fmla="*/ 22 w 184"/>
                <a:gd name="T25" fmla="*/ 101 h 184"/>
                <a:gd name="T26" fmla="*/ 22 w 184"/>
                <a:gd name="T27" fmla="*/ 83 h 184"/>
                <a:gd name="T28" fmla="*/ 83 w 184"/>
                <a:gd name="T29" fmla="*/ 22 h 184"/>
                <a:gd name="T30" fmla="*/ 101 w 184"/>
                <a:gd name="T31" fmla="*/ 22 h 184"/>
                <a:gd name="T32" fmla="*/ 162 w 184"/>
                <a:gd name="T33" fmla="*/ 83 h 184"/>
                <a:gd name="T34" fmla="*/ 162 w 184"/>
                <a:gd name="T35" fmla="*/ 101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4" h="184">
                  <a:moveTo>
                    <a:pt x="177" y="78"/>
                  </a:moveTo>
                  <a:cubicBezTo>
                    <a:pt x="106" y="7"/>
                    <a:pt x="106" y="7"/>
                    <a:pt x="106" y="7"/>
                  </a:cubicBezTo>
                  <a:cubicBezTo>
                    <a:pt x="98" y="0"/>
                    <a:pt x="86" y="0"/>
                    <a:pt x="78" y="7"/>
                  </a:cubicBezTo>
                  <a:cubicBezTo>
                    <a:pt x="7" y="78"/>
                    <a:pt x="7" y="78"/>
                    <a:pt x="7" y="78"/>
                  </a:cubicBezTo>
                  <a:cubicBezTo>
                    <a:pt x="0" y="86"/>
                    <a:pt x="0" y="98"/>
                    <a:pt x="7" y="106"/>
                  </a:cubicBezTo>
                  <a:cubicBezTo>
                    <a:pt x="78" y="177"/>
                    <a:pt x="78" y="177"/>
                    <a:pt x="78" y="177"/>
                  </a:cubicBezTo>
                  <a:cubicBezTo>
                    <a:pt x="86" y="184"/>
                    <a:pt x="98" y="184"/>
                    <a:pt x="106" y="177"/>
                  </a:cubicBezTo>
                  <a:cubicBezTo>
                    <a:pt x="177" y="106"/>
                    <a:pt x="177" y="106"/>
                    <a:pt x="177" y="106"/>
                  </a:cubicBezTo>
                  <a:cubicBezTo>
                    <a:pt x="184" y="98"/>
                    <a:pt x="184" y="86"/>
                    <a:pt x="177" y="78"/>
                  </a:cubicBezTo>
                  <a:close/>
                  <a:moveTo>
                    <a:pt x="162" y="101"/>
                  </a:moveTo>
                  <a:cubicBezTo>
                    <a:pt x="101" y="162"/>
                    <a:pt x="101" y="162"/>
                    <a:pt x="101" y="162"/>
                  </a:cubicBezTo>
                  <a:cubicBezTo>
                    <a:pt x="96" y="167"/>
                    <a:pt x="88" y="167"/>
                    <a:pt x="83" y="162"/>
                  </a:cubicBezTo>
                  <a:cubicBezTo>
                    <a:pt x="22" y="101"/>
                    <a:pt x="22" y="101"/>
                    <a:pt x="22" y="101"/>
                  </a:cubicBezTo>
                  <a:cubicBezTo>
                    <a:pt x="17" y="96"/>
                    <a:pt x="17" y="88"/>
                    <a:pt x="22" y="83"/>
                  </a:cubicBezTo>
                  <a:cubicBezTo>
                    <a:pt x="83" y="22"/>
                    <a:pt x="83" y="22"/>
                    <a:pt x="83" y="22"/>
                  </a:cubicBezTo>
                  <a:cubicBezTo>
                    <a:pt x="88" y="17"/>
                    <a:pt x="96" y="17"/>
                    <a:pt x="101" y="22"/>
                  </a:cubicBezTo>
                  <a:cubicBezTo>
                    <a:pt x="162" y="83"/>
                    <a:pt x="162" y="83"/>
                    <a:pt x="162" y="83"/>
                  </a:cubicBezTo>
                  <a:cubicBezTo>
                    <a:pt x="167" y="88"/>
                    <a:pt x="167" y="96"/>
                    <a:pt x="162" y="101"/>
                  </a:cubicBez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2" name="íṩḷidè">
              <a:extLst>
                <a:ext uri="{FF2B5EF4-FFF2-40B4-BE49-F238E27FC236}">
                  <a16:creationId xmlns:a16="http://schemas.microsoft.com/office/drawing/2014/main" id="{7731A88A-CF4D-4E60-B50B-BBD74A4A9CE0}"/>
                </a:ext>
              </a:extLst>
            </p:cNvPr>
            <p:cNvSpPr/>
            <p:nvPr/>
          </p:nvSpPr>
          <p:spPr bwMode="auto">
            <a:xfrm>
              <a:off x="5110948" y="4259608"/>
              <a:ext cx="368253" cy="358940"/>
            </a:xfrm>
            <a:custGeom>
              <a:avLst/>
              <a:gdLst>
                <a:gd name="T0" fmla="*/ 246 w 418"/>
                <a:gd name="T1" fmla="*/ 242 h 408"/>
                <a:gd name="T2" fmla="*/ 362 w 418"/>
                <a:gd name="T3" fmla="*/ 125 h 408"/>
                <a:gd name="T4" fmla="*/ 418 w 418"/>
                <a:gd name="T5" fmla="*/ 181 h 408"/>
                <a:gd name="T6" fmla="*/ 302 w 418"/>
                <a:gd name="T7" fmla="*/ 298 h 408"/>
                <a:gd name="T8" fmla="*/ 246 w 418"/>
                <a:gd name="T9" fmla="*/ 242 h 408"/>
                <a:gd name="T10" fmla="*/ 227 w 418"/>
                <a:gd name="T11" fmla="*/ 317 h 408"/>
                <a:gd name="T12" fmla="*/ 261 w 418"/>
                <a:gd name="T13" fmla="*/ 308 h 408"/>
                <a:gd name="T14" fmla="*/ 235 w 418"/>
                <a:gd name="T15" fmla="*/ 282 h 408"/>
                <a:gd name="T16" fmla="*/ 227 w 418"/>
                <a:gd name="T17" fmla="*/ 317 h 408"/>
                <a:gd name="T18" fmla="*/ 273 w 418"/>
                <a:gd name="T19" fmla="*/ 319 h 408"/>
                <a:gd name="T20" fmla="*/ 273 w 418"/>
                <a:gd name="T21" fmla="*/ 337 h 408"/>
                <a:gd name="T22" fmla="*/ 56 w 418"/>
                <a:gd name="T23" fmla="*/ 337 h 408"/>
                <a:gd name="T24" fmla="*/ 56 w 418"/>
                <a:gd name="T25" fmla="*/ 310 h 408"/>
                <a:gd name="T26" fmla="*/ 214 w 418"/>
                <a:gd name="T27" fmla="*/ 310 h 408"/>
                <a:gd name="T28" fmla="*/ 222 w 418"/>
                <a:gd name="T29" fmla="*/ 279 h 408"/>
                <a:gd name="T30" fmla="*/ 56 w 418"/>
                <a:gd name="T31" fmla="*/ 279 h 408"/>
                <a:gd name="T32" fmla="*/ 56 w 418"/>
                <a:gd name="T33" fmla="*/ 252 h 408"/>
                <a:gd name="T34" fmla="*/ 225 w 418"/>
                <a:gd name="T35" fmla="*/ 252 h 408"/>
                <a:gd name="T36" fmla="*/ 228 w 418"/>
                <a:gd name="T37" fmla="*/ 240 h 408"/>
                <a:gd name="T38" fmla="*/ 247 w 418"/>
                <a:gd name="T39" fmla="*/ 221 h 408"/>
                <a:gd name="T40" fmla="*/ 56 w 418"/>
                <a:gd name="T41" fmla="*/ 221 h 408"/>
                <a:gd name="T42" fmla="*/ 56 w 418"/>
                <a:gd name="T43" fmla="*/ 194 h 408"/>
                <a:gd name="T44" fmla="*/ 273 w 418"/>
                <a:gd name="T45" fmla="*/ 194 h 408"/>
                <a:gd name="T46" fmla="*/ 330 w 418"/>
                <a:gd name="T47" fmla="*/ 139 h 408"/>
                <a:gd name="T48" fmla="*/ 330 w 418"/>
                <a:gd name="T49" fmla="*/ 0 h 408"/>
                <a:gd name="T50" fmla="*/ 118 w 418"/>
                <a:gd name="T51" fmla="*/ 0 h 408"/>
                <a:gd name="T52" fmla="*/ 118 w 418"/>
                <a:gd name="T53" fmla="*/ 124 h 408"/>
                <a:gd name="T54" fmla="*/ 0 w 418"/>
                <a:gd name="T55" fmla="*/ 124 h 408"/>
                <a:gd name="T56" fmla="*/ 0 w 418"/>
                <a:gd name="T57" fmla="*/ 408 h 408"/>
                <a:gd name="T58" fmla="*/ 330 w 418"/>
                <a:gd name="T59" fmla="*/ 408 h 408"/>
                <a:gd name="T60" fmla="*/ 330 w 418"/>
                <a:gd name="T61" fmla="*/ 289 h 408"/>
                <a:gd name="T62" fmla="*/ 302 w 418"/>
                <a:gd name="T63" fmla="*/ 317 h 408"/>
                <a:gd name="T64" fmla="*/ 273 w 418"/>
                <a:gd name="T65" fmla="*/ 319 h 408"/>
                <a:gd name="T66" fmla="*/ 93 w 418"/>
                <a:gd name="T67" fmla="*/ 14 h 408"/>
                <a:gd name="T68" fmla="*/ 12 w 418"/>
                <a:gd name="T69" fmla="*/ 99 h 408"/>
                <a:gd name="T70" fmla="*/ 93 w 418"/>
                <a:gd name="T71" fmla="*/ 99 h 408"/>
                <a:gd name="T72" fmla="*/ 93 w 418"/>
                <a:gd name="T73" fmla="*/ 14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18" h="408">
                  <a:moveTo>
                    <a:pt x="246" y="242"/>
                  </a:moveTo>
                  <a:lnTo>
                    <a:pt x="362" y="125"/>
                  </a:lnTo>
                  <a:lnTo>
                    <a:pt x="418" y="181"/>
                  </a:lnTo>
                  <a:lnTo>
                    <a:pt x="302" y="298"/>
                  </a:lnTo>
                  <a:lnTo>
                    <a:pt x="246" y="242"/>
                  </a:lnTo>
                  <a:close/>
                  <a:moveTo>
                    <a:pt x="227" y="317"/>
                  </a:moveTo>
                  <a:lnTo>
                    <a:pt x="261" y="308"/>
                  </a:lnTo>
                  <a:lnTo>
                    <a:pt x="235" y="282"/>
                  </a:lnTo>
                  <a:lnTo>
                    <a:pt x="227" y="317"/>
                  </a:lnTo>
                  <a:close/>
                  <a:moveTo>
                    <a:pt x="273" y="319"/>
                  </a:moveTo>
                  <a:lnTo>
                    <a:pt x="273" y="337"/>
                  </a:lnTo>
                  <a:lnTo>
                    <a:pt x="56" y="337"/>
                  </a:lnTo>
                  <a:lnTo>
                    <a:pt x="56" y="310"/>
                  </a:lnTo>
                  <a:lnTo>
                    <a:pt x="214" y="310"/>
                  </a:lnTo>
                  <a:lnTo>
                    <a:pt x="222" y="279"/>
                  </a:lnTo>
                  <a:lnTo>
                    <a:pt x="56" y="279"/>
                  </a:lnTo>
                  <a:lnTo>
                    <a:pt x="56" y="252"/>
                  </a:lnTo>
                  <a:lnTo>
                    <a:pt x="225" y="252"/>
                  </a:lnTo>
                  <a:lnTo>
                    <a:pt x="228" y="240"/>
                  </a:lnTo>
                  <a:lnTo>
                    <a:pt x="247" y="221"/>
                  </a:lnTo>
                  <a:lnTo>
                    <a:pt x="56" y="221"/>
                  </a:lnTo>
                  <a:lnTo>
                    <a:pt x="56" y="194"/>
                  </a:lnTo>
                  <a:lnTo>
                    <a:pt x="273" y="194"/>
                  </a:lnTo>
                  <a:lnTo>
                    <a:pt x="330" y="139"/>
                  </a:lnTo>
                  <a:lnTo>
                    <a:pt x="330" y="0"/>
                  </a:lnTo>
                  <a:lnTo>
                    <a:pt x="118" y="0"/>
                  </a:lnTo>
                  <a:lnTo>
                    <a:pt x="118" y="124"/>
                  </a:lnTo>
                  <a:lnTo>
                    <a:pt x="0" y="124"/>
                  </a:lnTo>
                  <a:lnTo>
                    <a:pt x="0" y="408"/>
                  </a:lnTo>
                  <a:lnTo>
                    <a:pt x="330" y="408"/>
                  </a:lnTo>
                  <a:lnTo>
                    <a:pt x="330" y="289"/>
                  </a:lnTo>
                  <a:lnTo>
                    <a:pt x="302" y="317"/>
                  </a:lnTo>
                  <a:lnTo>
                    <a:pt x="273" y="319"/>
                  </a:lnTo>
                  <a:close/>
                  <a:moveTo>
                    <a:pt x="93" y="14"/>
                  </a:moveTo>
                  <a:lnTo>
                    <a:pt x="12" y="99"/>
                  </a:lnTo>
                  <a:lnTo>
                    <a:pt x="93" y="99"/>
                  </a:lnTo>
                  <a:lnTo>
                    <a:pt x="93" y="14"/>
                  </a:lnTo>
                  <a:close/>
                </a:path>
              </a:pathLst>
            </a:custGeom>
            <a:solidFill>
              <a:schemeClr val="tx1">
                <a:lumMod val="50000"/>
                <a:lumOff val="50000"/>
              </a:schemeClr>
            </a:solidFill>
            <a:ln w="15875" cap="flat">
              <a:noFill/>
              <a:prstDash val="solid"/>
              <a:miter lim="800000"/>
              <a:headEnd/>
              <a:tailEnd/>
            </a:ln>
          </p:spPr>
          <p:txBody>
            <a:bodyPr vert="horz" wrap="square" lIns="91440" tIns="45720" rIns="91440" bIns="45720" numCol="1" anchor="ctr" anchorCtr="0" compatLnSpc="1">
              <a:prstTxWarp prst="textNoShape">
                <a:avLst/>
              </a:prstTxWarp>
              <a:normAutofit fontScale="700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800">
                <a:solidFill>
                  <a:schemeClr val="bg1"/>
                </a:solidFill>
              </a:endParaRPr>
            </a:p>
          </p:txBody>
        </p:sp>
        <p:grpSp>
          <p:nvGrpSpPr>
            <p:cNvPr id="153" name="ísḷîdè">
              <a:extLst>
                <a:ext uri="{FF2B5EF4-FFF2-40B4-BE49-F238E27FC236}">
                  <a16:creationId xmlns:a16="http://schemas.microsoft.com/office/drawing/2014/main" id="{ACAAA525-90AE-3695-36ED-8BE75D5F6032}"/>
                </a:ext>
              </a:extLst>
            </p:cNvPr>
            <p:cNvGrpSpPr/>
            <p:nvPr/>
          </p:nvGrpSpPr>
          <p:grpSpPr>
            <a:xfrm>
              <a:off x="673100" y="3932751"/>
              <a:ext cx="3320399" cy="1503124"/>
              <a:chOff x="683273" y="3955411"/>
              <a:chExt cx="3621334" cy="1503124"/>
            </a:xfrm>
          </p:grpSpPr>
          <p:sp>
            <p:nvSpPr>
              <p:cNvPr id="165" name="iṧľîďe">
                <a:extLst>
                  <a:ext uri="{FF2B5EF4-FFF2-40B4-BE49-F238E27FC236}">
                    <a16:creationId xmlns:a16="http://schemas.microsoft.com/office/drawing/2014/main" id="{01ACA02A-8AA6-5A99-C4D7-350EA5D12907}"/>
                  </a:ext>
                </a:extLst>
              </p:cNvPr>
              <p:cNvSpPr txBox="1"/>
              <p:nvPr/>
            </p:nvSpPr>
            <p:spPr bwMode="auto">
              <a:xfrm>
                <a:off x="683273" y="3955411"/>
                <a:ext cx="3434400"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orm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1" hangingPunct="1">
                  <a:lnSpc>
                    <a:spcPct val="100000"/>
                  </a:lnSpc>
                  <a:spcBef>
                    <a:spcPct val="0"/>
                  </a:spcBef>
                </a:pPr>
                <a:r>
                  <a:rPr lang="en-US" altLang="zh-CN" sz="2000" b="1" dirty="0"/>
                  <a:t>Conciseness</a:t>
                </a:r>
              </a:p>
            </p:txBody>
          </p:sp>
          <p:sp>
            <p:nvSpPr>
              <p:cNvPr id="166" name="î$ľíďè">
                <a:extLst>
                  <a:ext uri="{FF2B5EF4-FFF2-40B4-BE49-F238E27FC236}">
                    <a16:creationId xmlns:a16="http://schemas.microsoft.com/office/drawing/2014/main" id="{E93557A8-F73D-4189-B221-AA7E9CE43676}"/>
                  </a:ext>
                </a:extLst>
              </p:cNvPr>
              <p:cNvSpPr/>
              <p:nvPr/>
            </p:nvSpPr>
            <p:spPr bwMode="auto">
              <a:xfrm>
                <a:off x="683273" y="4397217"/>
                <a:ext cx="3621334" cy="1061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171450" indent="-171450">
                  <a:lnSpc>
                    <a:spcPct val="150000"/>
                  </a:lnSpc>
                  <a:buFont typeface="Arial" panose="020B0604020202020204" pitchFamily="34" charset="0"/>
                  <a:buChar char="•"/>
                </a:pPr>
                <a:r>
                  <a:rPr lang="en-US" altLang="zh-CN" sz="1100" b="1" dirty="0"/>
                  <a:t>Goal: </a:t>
                </a:r>
                <a:r>
                  <a:rPr lang="en-US" altLang="zh-CN" sz="1100" dirty="0"/>
                  <a:t>Ensure clarity and conciseness of findings</a:t>
                </a:r>
              </a:p>
              <a:p>
                <a:pPr marL="171450" indent="-171450">
                  <a:lnSpc>
                    <a:spcPct val="150000"/>
                  </a:lnSpc>
                  <a:buFont typeface="Arial" panose="020B0604020202020204" pitchFamily="34" charset="0"/>
                  <a:buChar char="•"/>
                </a:pPr>
                <a:r>
                  <a:rPr lang="en-US" altLang="zh-CN" sz="1100" b="1" dirty="0"/>
                  <a:t>Eval Method: </a:t>
                </a:r>
                <a:r>
                  <a:rPr lang="en-US" altLang="zh-CN" sz="1100" dirty="0"/>
                  <a:t>Human or </a:t>
                </a:r>
                <a:r>
                  <a:rPr lang="en-US" altLang="zh-CN" sz="1100" b="1" dirty="0"/>
                  <a:t>LLM as a judge</a:t>
                </a:r>
              </a:p>
            </p:txBody>
          </p:sp>
        </p:grpSp>
        <p:grpSp>
          <p:nvGrpSpPr>
            <p:cNvPr id="154" name="îŝlïḍé">
              <a:extLst>
                <a:ext uri="{FF2B5EF4-FFF2-40B4-BE49-F238E27FC236}">
                  <a16:creationId xmlns:a16="http://schemas.microsoft.com/office/drawing/2014/main" id="{D1F79631-10A7-D233-FEEA-AE882F3618A3}"/>
                </a:ext>
              </a:extLst>
            </p:cNvPr>
            <p:cNvGrpSpPr/>
            <p:nvPr/>
          </p:nvGrpSpPr>
          <p:grpSpPr>
            <a:xfrm>
              <a:off x="673100" y="1841225"/>
              <a:ext cx="3147464" cy="1503124"/>
              <a:chOff x="683274" y="1863885"/>
              <a:chExt cx="3432726" cy="1503124"/>
            </a:xfrm>
          </p:grpSpPr>
          <p:sp>
            <p:nvSpPr>
              <p:cNvPr id="163" name="iŝļîḑè">
                <a:extLst>
                  <a:ext uri="{FF2B5EF4-FFF2-40B4-BE49-F238E27FC236}">
                    <a16:creationId xmlns:a16="http://schemas.microsoft.com/office/drawing/2014/main" id="{E7F6569D-601C-ED23-20E1-CF5F5DAD62A0}"/>
                  </a:ext>
                </a:extLst>
              </p:cNvPr>
              <p:cNvSpPr txBox="1"/>
              <p:nvPr/>
            </p:nvSpPr>
            <p:spPr bwMode="auto">
              <a:xfrm>
                <a:off x="683274" y="1863885"/>
                <a:ext cx="3432726"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orm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1" hangingPunct="1">
                  <a:lnSpc>
                    <a:spcPct val="100000"/>
                  </a:lnSpc>
                  <a:spcBef>
                    <a:spcPct val="0"/>
                  </a:spcBef>
                </a:pPr>
                <a:r>
                  <a:rPr lang="en-US" altLang="zh-CN" sz="2000" b="1" dirty="0"/>
                  <a:t>Coverage</a:t>
                </a:r>
              </a:p>
            </p:txBody>
          </p:sp>
          <p:sp>
            <p:nvSpPr>
              <p:cNvPr id="164" name="îSļíḓé">
                <a:extLst>
                  <a:ext uri="{FF2B5EF4-FFF2-40B4-BE49-F238E27FC236}">
                    <a16:creationId xmlns:a16="http://schemas.microsoft.com/office/drawing/2014/main" id="{17451D2B-13D4-29B3-D324-C857A3DF0507}"/>
                  </a:ext>
                </a:extLst>
              </p:cNvPr>
              <p:cNvSpPr/>
              <p:nvPr/>
            </p:nvSpPr>
            <p:spPr bwMode="auto">
              <a:xfrm>
                <a:off x="683274" y="2305691"/>
                <a:ext cx="3432726" cy="1061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171450" indent="-171450">
                  <a:lnSpc>
                    <a:spcPct val="150000"/>
                  </a:lnSpc>
                  <a:buFont typeface="Arial" panose="020B0604020202020204" pitchFamily="34" charset="0"/>
                  <a:buChar char="•"/>
                </a:pPr>
                <a:r>
                  <a:rPr lang="en-US" altLang="zh-CN" sz="1100" b="1" dirty="0"/>
                  <a:t>Goal: </a:t>
                </a:r>
                <a:r>
                  <a:rPr lang="en-US" altLang="zh-CN" sz="1100" dirty="0"/>
                  <a:t>Ensure coverage of the findings cover objective and business questions</a:t>
                </a:r>
              </a:p>
              <a:p>
                <a:pPr marL="171450" indent="-171450">
                  <a:lnSpc>
                    <a:spcPct val="150000"/>
                  </a:lnSpc>
                  <a:buFont typeface="Arial" panose="020B0604020202020204" pitchFamily="34" charset="0"/>
                  <a:buChar char="•"/>
                </a:pPr>
                <a:r>
                  <a:rPr lang="en-US" altLang="zh-CN" sz="1100" b="1" dirty="0"/>
                  <a:t>Eval Method: </a:t>
                </a:r>
                <a:r>
                  <a:rPr lang="en-US" altLang="zh-CN" sz="1100" dirty="0"/>
                  <a:t>Human or </a:t>
                </a:r>
                <a:r>
                  <a:rPr lang="en-US" altLang="zh-CN" sz="1100" b="1" dirty="0"/>
                  <a:t>LLM as a judge</a:t>
                </a:r>
              </a:p>
            </p:txBody>
          </p:sp>
        </p:grpSp>
        <p:cxnSp>
          <p:nvCxnSpPr>
            <p:cNvPr id="155" name="i$ḻïďe">
              <a:extLst>
                <a:ext uri="{FF2B5EF4-FFF2-40B4-BE49-F238E27FC236}">
                  <a16:creationId xmlns:a16="http://schemas.microsoft.com/office/drawing/2014/main" id="{4BF1530D-5529-6106-37D4-AE3B681E06AD}"/>
                </a:ext>
              </a:extLst>
            </p:cNvPr>
            <p:cNvCxnSpPr/>
            <p:nvPr/>
          </p:nvCxnSpPr>
          <p:spPr>
            <a:xfrm>
              <a:off x="673100" y="3638550"/>
              <a:ext cx="2715884"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6" name="íṧľiḑe">
              <a:extLst>
                <a:ext uri="{FF2B5EF4-FFF2-40B4-BE49-F238E27FC236}">
                  <a16:creationId xmlns:a16="http://schemas.microsoft.com/office/drawing/2014/main" id="{3846A125-C3A5-F504-8B60-D9110C29FE0D}"/>
                </a:ext>
              </a:extLst>
            </p:cNvPr>
            <p:cNvGrpSpPr/>
            <p:nvPr/>
          </p:nvGrpSpPr>
          <p:grpSpPr>
            <a:xfrm>
              <a:off x="8369900" y="3932751"/>
              <a:ext cx="3148999" cy="1669764"/>
              <a:chOff x="8087431" y="3955411"/>
              <a:chExt cx="3434400" cy="1669764"/>
            </a:xfrm>
          </p:grpSpPr>
          <p:sp>
            <p:nvSpPr>
              <p:cNvPr id="161" name="iSlïḑê">
                <a:extLst>
                  <a:ext uri="{FF2B5EF4-FFF2-40B4-BE49-F238E27FC236}">
                    <a16:creationId xmlns:a16="http://schemas.microsoft.com/office/drawing/2014/main" id="{41450E55-684C-6A3A-16A2-1EA60419BD2F}"/>
                  </a:ext>
                </a:extLst>
              </p:cNvPr>
              <p:cNvSpPr txBox="1"/>
              <p:nvPr/>
            </p:nvSpPr>
            <p:spPr bwMode="auto">
              <a:xfrm>
                <a:off x="8087431" y="3955411"/>
                <a:ext cx="3434400"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orm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1" hangingPunct="1">
                  <a:lnSpc>
                    <a:spcPct val="100000"/>
                  </a:lnSpc>
                  <a:spcBef>
                    <a:spcPct val="0"/>
                  </a:spcBef>
                </a:pPr>
                <a:r>
                  <a:rPr lang="en-US" altLang="zh-CN" sz="2000" b="1" dirty="0"/>
                  <a:t>Faithfulness</a:t>
                </a:r>
              </a:p>
            </p:txBody>
          </p:sp>
          <p:sp>
            <p:nvSpPr>
              <p:cNvPr id="162" name="íṧḻíde">
                <a:extLst>
                  <a:ext uri="{FF2B5EF4-FFF2-40B4-BE49-F238E27FC236}">
                    <a16:creationId xmlns:a16="http://schemas.microsoft.com/office/drawing/2014/main" id="{FA67B5F3-32F2-0C97-3462-4D5A0E5F6DF9}"/>
                  </a:ext>
                </a:extLst>
              </p:cNvPr>
              <p:cNvSpPr/>
              <p:nvPr/>
            </p:nvSpPr>
            <p:spPr bwMode="auto">
              <a:xfrm>
                <a:off x="8118420" y="4397217"/>
                <a:ext cx="3403411" cy="1227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171450" indent="-171450">
                  <a:lnSpc>
                    <a:spcPct val="150000"/>
                  </a:lnSpc>
                  <a:buFont typeface="Arial" panose="020B0604020202020204" pitchFamily="34" charset="0"/>
                  <a:buChar char="•"/>
                </a:pPr>
                <a:r>
                  <a:rPr lang="en-US" altLang="zh-CN" sz="1100" b="1" dirty="0"/>
                  <a:t>Goal: </a:t>
                </a:r>
                <a:r>
                  <a:rPr lang="en-US" altLang="zh-CN" sz="1100" dirty="0"/>
                  <a:t>Ensure findings stay truthful and faithful to the data</a:t>
                </a:r>
              </a:p>
              <a:p>
                <a:pPr marL="171450" indent="-171450">
                  <a:lnSpc>
                    <a:spcPct val="150000"/>
                  </a:lnSpc>
                  <a:buFont typeface="Arial" panose="020B0604020202020204" pitchFamily="34" charset="0"/>
                  <a:buChar char="•"/>
                </a:pPr>
                <a:r>
                  <a:rPr lang="en-US" altLang="zh-CN" sz="1100" b="1" dirty="0"/>
                  <a:t>Method: </a:t>
                </a:r>
                <a:r>
                  <a:rPr lang="en-US" altLang="zh-CN" sz="1100" dirty="0"/>
                  <a:t>Human or </a:t>
                </a:r>
                <a:r>
                  <a:rPr lang="en-US" altLang="zh-CN" sz="1100" b="1" dirty="0"/>
                  <a:t>LLM as a judge</a:t>
                </a:r>
                <a:r>
                  <a:rPr lang="en-US" altLang="zh-CN" sz="1100" dirty="0"/>
                  <a:t>, or heuristic-based  computable metrics</a:t>
                </a:r>
              </a:p>
            </p:txBody>
          </p:sp>
        </p:grpSp>
        <p:grpSp>
          <p:nvGrpSpPr>
            <p:cNvPr id="157" name="ïṡ1iḓè">
              <a:extLst>
                <a:ext uri="{FF2B5EF4-FFF2-40B4-BE49-F238E27FC236}">
                  <a16:creationId xmlns:a16="http://schemas.microsoft.com/office/drawing/2014/main" id="{0981AAEF-0DC3-871C-15A3-19CD10607D87}"/>
                </a:ext>
              </a:extLst>
            </p:cNvPr>
            <p:cNvGrpSpPr/>
            <p:nvPr/>
          </p:nvGrpSpPr>
          <p:grpSpPr>
            <a:xfrm>
              <a:off x="8371436" y="1841225"/>
              <a:ext cx="3147464" cy="1503124"/>
              <a:chOff x="8087431" y="1863885"/>
              <a:chExt cx="3432726" cy="1503124"/>
            </a:xfrm>
          </p:grpSpPr>
          <p:sp>
            <p:nvSpPr>
              <p:cNvPr id="159" name="íŝļïďè">
                <a:extLst>
                  <a:ext uri="{FF2B5EF4-FFF2-40B4-BE49-F238E27FC236}">
                    <a16:creationId xmlns:a16="http://schemas.microsoft.com/office/drawing/2014/main" id="{208625EC-D4A4-6701-A1F5-B432CBA61982}"/>
                  </a:ext>
                </a:extLst>
              </p:cNvPr>
              <p:cNvSpPr txBox="1"/>
              <p:nvPr/>
            </p:nvSpPr>
            <p:spPr bwMode="auto">
              <a:xfrm>
                <a:off x="8087431" y="1863885"/>
                <a:ext cx="3432726"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orm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1" hangingPunct="1">
                  <a:lnSpc>
                    <a:spcPct val="100000"/>
                  </a:lnSpc>
                  <a:spcBef>
                    <a:spcPct val="0"/>
                  </a:spcBef>
                </a:pPr>
                <a:r>
                  <a:rPr lang="en-US" altLang="zh-CN" sz="2000" b="1" dirty="0"/>
                  <a:t>Coherence</a:t>
                </a:r>
              </a:p>
            </p:txBody>
          </p:sp>
          <p:sp>
            <p:nvSpPr>
              <p:cNvPr id="160" name="ïsļîḍê">
                <a:extLst>
                  <a:ext uri="{FF2B5EF4-FFF2-40B4-BE49-F238E27FC236}">
                    <a16:creationId xmlns:a16="http://schemas.microsoft.com/office/drawing/2014/main" id="{8A8B2E20-584B-4682-151A-D92F2FF8EBC0}"/>
                  </a:ext>
                </a:extLst>
              </p:cNvPr>
              <p:cNvSpPr/>
              <p:nvPr/>
            </p:nvSpPr>
            <p:spPr bwMode="auto">
              <a:xfrm>
                <a:off x="8087431" y="2305691"/>
                <a:ext cx="3432726" cy="1061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171450" indent="-171450">
                  <a:lnSpc>
                    <a:spcPct val="150000"/>
                  </a:lnSpc>
                  <a:buFont typeface="Arial" panose="020B0604020202020204" pitchFamily="34" charset="0"/>
                  <a:buChar char="•"/>
                </a:pPr>
                <a:r>
                  <a:rPr lang="en-US" altLang="zh-CN" sz="1100" b="1" dirty="0"/>
                  <a:t>Goal: </a:t>
                </a:r>
                <a:r>
                  <a:rPr lang="en-US" altLang="zh-CN" sz="1100" dirty="0"/>
                  <a:t>Ensure findings and narrative are coherent</a:t>
                </a:r>
              </a:p>
              <a:p>
                <a:pPr marL="171450" indent="-171450">
                  <a:lnSpc>
                    <a:spcPct val="150000"/>
                  </a:lnSpc>
                  <a:buFont typeface="Arial" panose="020B0604020202020204" pitchFamily="34" charset="0"/>
                  <a:buChar char="•"/>
                </a:pPr>
                <a:r>
                  <a:rPr lang="en-US" altLang="zh-CN" sz="1100" b="1" dirty="0"/>
                  <a:t>Eval Method: </a:t>
                </a:r>
                <a:r>
                  <a:rPr lang="en-US" altLang="zh-CN" sz="1100" dirty="0"/>
                  <a:t>Human or </a:t>
                </a:r>
                <a:r>
                  <a:rPr lang="en-US" altLang="zh-CN" sz="1100" b="1" dirty="0"/>
                  <a:t>LLM as a judge</a:t>
                </a:r>
                <a:endParaRPr lang="en-US" altLang="zh-CN" sz="1100" dirty="0"/>
              </a:p>
            </p:txBody>
          </p:sp>
        </p:grpSp>
        <p:cxnSp>
          <p:nvCxnSpPr>
            <p:cNvPr id="158" name="îşlîdè">
              <a:extLst>
                <a:ext uri="{FF2B5EF4-FFF2-40B4-BE49-F238E27FC236}">
                  <a16:creationId xmlns:a16="http://schemas.microsoft.com/office/drawing/2014/main" id="{0F297A2D-68FA-6F9E-4072-BD6B373F09E4}"/>
                </a:ext>
              </a:extLst>
            </p:cNvPr>
            <p:cNvCxnSpPr/>
            <p:nvPr/>
          </p:nvCxnSpPr>
          <p:spPr>
            <a:xfrm>
              <a:off x="8803015" y="3638550"/>
              <a:ext cx="2715884"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1" name="文本框 30">
            <a:extLst>
              <a:ext uri="{FF2B5EF4-FFF2-40B4-BE49-F238E27FC236}">
                <a16:creationId xmlns:a16="http://schemas.microsoft.com/office/drawing/2014/main" id="{023B3A62-5FC5-8351-F2FD-4B6F07D88B01}"/>
              </a:ext>
            </a:extLst>
          </p:cNvPr>
          <p:cNvSpPr txBox="1"/>
          <p:nvPr/>
        </p:nvSpPr>
        <p:spPr>
          <a:xfrm>
            <a:off x="631021" y="1168240"/>
            <a:ext cx="10704636" cy="707886"/>
          </a:xfrm>
          <a:prstGeom prst="rect">
            <a:avLst/>
          </a:prstGeom>
          <a:noFill/>
        </p:spPr>
        <p:txBody>
          <a:bodyPr wrap="square" rtlCol="0">
            <a:spAutoFit/>
          </a:bodyPr>
          <a:lstStyle/>
          <a:p>
            <a:pPr>
              <a:buSzPct val="25000"/>
              <a:tabLst>
                <a:tab pos="5472113" algn="l"/>
              </a:tabLst>
            </a:pPr>
            <a:r>
              <a:rPr lang="en-US" altLang="zh-CN" sz="2000" dirty="0"/>
              <a:t>1. Evaluation can be performed on subtask and report level.</a:t>
            </a:r>
          </a:p>
          <a:p>
            <a:pPr>
              <a:buSzPct val="25000"/>
              <a:tabLst>
                <a:tab pos="5472113" algn="l"/>
              </a:tabLst>
            </a:pPr>
            <a:r>
              <a:rPr lang="en-US" altLang="zh-CN" sz="2000" dirty="0"/>
              <a:t>2. An evaluation feedback loop should be built to increase the performance of LLM ongoingly.</a:t>
            </a:r>
          </a:p>
        </p:txBody>
      </p:sp>
      <p:sp>
        <p:nvSpPr>
          <p:cNvPr id="2" name="文本框 1">
            <a:extLst>
              <a:ext uri="{FF2B5EF4-FFF2-40B4-BE49-F238E27FC236}">
                <a16:creationId xmlns:a16="http://schemas.microsoft.com/office/drawing/2014/main" id="{66B73DB3-7512-4558-3327-DD96F2AB72A6}"/>
              </a:ext>
            </a:extLst>
          </p:cNvPr>
          <p:cNvSpPr txBox="1"/>
          <p:nvPr/>
        </p:nvSpPr>
        <p:spPr>
          <a:xfrm>
            <a:off x="660400" y="6107257"/>
            <a:ext cx="7811655" cy="584775"/>
          </a:xfrm>
          <a:prstGeom prst="rect">
            <a:avLst/>
          </a:prstGeom>
          <a:noFill/>
        </p:spPr>
        <p:txBody>
          <a:bodyPr wrap="square" rtlCol="0">
            <a:spAutoFit/>
          </a:bodyPr>
          <a:lstStyle/>
          <a:p>
            <a:r>
              <a:rPr lang="en-US" altLang="zh-CN" sz="1600" b="1" dirty="0"/>
              <a:t>*Submission Report Average Evaluation Score:</a:t>
            </a:r>
            <a:br>
              <a:rPr lang="en-US" altLang="zh-CN" sz="1600" dirty="0"/>
            </a:br>
            <a:r>
              <a:rPr lang="en-US" altLang="zh-CN" sz="1600" dirty="0"/>
              <a:t>Coverage 4, Coherence 4, Conciseness 4, Faithfulness 5</a:t>
            </a:r>
            <a:endParaRPr lang="zh-CN" altLang="en-US" sz="1600" dirty="0"/>
          </a:p>
        </p:txBody>
      </p:sp>
      <p:sp>
        <p:nvSpPr>
          <p:cNvPr id="3" name="文本框 2">
            <a:extLst>
              <a:ext uri="{FF2B5EF4-FFF2-40B4-BE49-F238E27FC236}">
                <a16:creationId xmlns:a16="http://schemas.microsoft.com/office/drawing/2014/main" id="{0FBD08D4-5480-C435-8960-CD4F86F3E585}"/>
              </a:ext>
            </a:extLst>
          </p:cNvPr>
          <p:cNvSpPr txBox="1"/>
          <p:nvPr/>
        </p:nvSpPr>
        <p:spPr>
          <a:xfrm>
            <a:off x="4529358" y="2151265"/>
            <a:ext cx="3120584" cy="338554"/>
          </a:xfrm>
          <a:prstGeom prst="rect">
            <a:avLst/>
          </a:prstGeom>
          <a:noFill/>
        </p:spPr>
        <p:txBody>
          <a:bodyPr wrap="square" rtlCol="0">
            <a:spAutoFit/>
          </a:bodyPr>
          <a:lstStyle/>
          <a:p>
            <a:r>
              <a:rPr lang="en-US" altLang="zh-CN" sz="1600" b="1" dirty="0"/>
              <a:t>Evaluation Score (1-5) is used</a:t>
            </a:r>
            <a:endParaRPr lang="zh-CN" altLang="en-US" sz="1600" b="1" dirty="0"/>
          </a:p>
        </p:txBody>
      </p:sp>
    </p:spTree>
    <p:extLst>
      <p:ext uri="{BB962C8B-B14F-4D97-AF65-F5344CB8AC3E}">
        <p14:creationId xmlns:p14="http://schemas.microsoft.com/office/powerpoint/2010/main" val="2627565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1C66A-C6BC-6341-9401-F84482B4D2F9}"/>
            </a:ext>
          </a:extLst>
        </p:cNvPr>
        <p:cNvGrpSpPr/>
        <p:nvPr/>
      </p:nvGrpSpPr>
      <p:grpSpPr>
        <a:xfrm>
          <a:off x="0" y="0"/>
          <a:ext cx="0" cy="0"/>
          <a:chOff x="0" y="0"/>
          <a:chExt cx="0" cy="0"/>
        </a:xfrm>
      </p:grpSpPr>
      <p:sp>
        <p:nvSpPr>
          <p:cNvPr id="4" name="任意多边形: 形状 3">
            <a:extLst>
              <a:ext uri="{FF2B5EF4-FFF2-40B4-BE49-F238E27FC236}">
                <a16:creationId xmlns:a16="http://schemas.microsoft.com/office/drawing/2014/main" id="{C93A1FCD-3502-8B8E-59FB-3B2043E7AAF9}"/>
              </a:ext>
            </a:extLst>
          </p:cNvPr>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flip="none" rotWithShape="1">
            <a:gsLst>
              <a:gs pos="3000">
                <a:schemeClr val="accent1">
                  <a:alpha val="0"/>
                </a:schemeClr>
              </a:gs>
              <a:gs pos="100000">
                <a:schemeClr val="accent1">
                  <a:alpha val="1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2" name="Group 2">
            <a:extLst>
              <a:ext uri="{FF2B5EF4-FFF2-40B4-BE49-F238E27FC236}">
                <a16:creationId xmlns:a16="http://schemas.microsoft.com/office/drawing/2014/main" id="{B363C89D-CE18-89CC-E18B-90F30F453E2F}"/>
              </a:ext>
            </a:extLst>
          </p:cNvPr>
          <p:cNvGrpSpPr/>
          <p:nvPr/>
        </p:nvGrpSpPr>
        <p:grpSpPr>
          <a:xfrm>
            <a:off x="802799" y="1132574"/>
            <a:ext cx="10849871" cy="5355311"/>
            <a:chOff x="801089" y="1074909"/>
            <a:chExt cx="10849871" cy="4989181"/>
          </a:xfrm>
        </p:grpSpPr>
        <p:sp>
          <p:nvSpPr>
            <p:cNvPr id="3" name="任意多边形: 形状 2">
              <a:extLst>
                <a:ext uri="{FF2B5EF4-FFF2-40B4-BE49-F238E27FC236}">
                  <a16:creationId xmlns:a16="http://schemas.microsoft.com/office/drawing/2014/main" id="{AA7F436F-EFFC-CA43-5E37-B183D5B3E0A8}"/>
                </a:ext>
              </a:extLst>
            </p:cNvPr>
            <p:cNvSpPr/>
            <p:nvPr/>
          </p:nvSpPr>
          <p:spPr>
            <a:xfrm rot="1674689">
              <a:off x="10884691" y="4842356"/>
              <a:ext cx="207156" cy="125448"/>
            </a:xfrm>
            <a:custGeom>
              <a:avLst/>
              <a:gdLst>
                <a:gd name="connsiteX0" fmla="*/ 147312 w 449025"/>
                <a:gd name="connsiteY0" fmla="*/ 3450 h 271918"/>
                <a:gd name="connsiteX1" fmla="*/ 58488 w 449025"/>
                <a:gd name="connsiteY1" fmla="*/ 8054 h 271918"/>
                <a:gd name="connsiteX2" fmla="*/ 934 w 449025"/>
                <a:gd name="connsiteY2" fmla="*/ 70212 h 271918"/>
                <a:gd name="connsiteX3" fmla="*/ 42373 w 449025"/>
                <a:gd name="connsiteY3" fmla="*/ 161531 h 271918"/>
                <a:gd name="connsiteX4" fmla="*/ 141557 w 449025"/>
                <a:gd name="connsiteY4" fmla="*/ 195487 h 271918"/>
                <a:gd name="connsiteX5" fmla="*/ 244002 w 449025"/>
                <a:gd name="connsiteY5" fmla="*/ 219084 h 271918"/>
                <a:gd name="connsiteX6" fmla="*/ 338390 w 449025"/>
                <a:gd name="connsiteY6" fmla="*/ 267237 h 271918"/>
                <a:gd name="connsiteX7" fmla="*/ 427790 w 449025"/>
                <a:gd name="connsiteY7" fmla="*/ 248053 h 271918"/>
                <a:gd name="connsiteX8" fmla="*/ 147312 w 449025"/>
                <a:gd name="connsiteY8" fmla="*/ 3450 h 27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025" h="271918">
                  <a:moveTo>
                    <a:pt x="147312" y="3450"/>
                  </a:moveTo>
                  <a:cubicBezTo>
                    <a:pt x="117783" y="-2440"/>
                    <a:pt x="87249" y="-857"/>
                    <a:pt x="58488" y="8054"/>
                  </a:cubicBezTo>
                  <a:cubicBezTo>
                    <a:pt x="30062" y="17762"/>
                    <a:pt x="8430" y="41125"/>
                    <a:pt x="934" y="70212"/>
                  </a:cubicBezTo>
                  <a:cubicBezTo>
                    <a:pt x="-4292" y="106135"/>
                    <a:pt x="11896" y="141809"/>
                    <a:pt x="42373" y="161531"/>
                  </a:cubicBezTo>
                  <a:cubicBezTo>
                    <a:pt x="72456" y="180174"/>
                    <a:pt x="106361" y="191781"/>
                    <a:pt x="141557" y="195487"/>
                  </a:cubicBezTo>
                  <a:cubicBezTo>
                    <a:pt x="176572" y="198952"/>
                    <a:pt x="210999" y="206881"/>
                    <a:pt x="244002" y="219084"/>
                  </a:cubicBezTo>
                  <a:cubicBezTo>
                    <a:pt x="276424" y="233281"/>
                    <a:pt x="304433" y="257453"/>
                    <a:pt x="338390" y="267237"/>
                  </a:cubicBezTo>
                  <a:cubicBezTo>
                    <a:pt x="369457" y="277632"/>
                    <a:pt x="403721" y="270280"/>
                    <a:pt x="427790" y="248053"/>
                  </a:cubicBezTo>
                  <a:cubicBezTo>
                    <a:pt x="533305" y="139468"/>
                    <a:pt x="214074" y="13810"/>
                    <a:pt x="147312" y="3450"/>
                  </a:cubicBezTo>
                  <a:close/>
                </a:path>
              </a:pathLst>
            </a:custGeom>
            <a:solidFill>
              <a:schemeClr val="accent2">
                <a:lumMod val="20000"/>
                <a:lumOff val="80000"/>
              </a:schemeClr>
            </a:solidFill>
            <a:ln w="1915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 name="任意多边形: 形状 4">
              <a:extLst>
                <a:ext uri="{FF2B5EF4-FFF2-40B4-BE49-F238E27FC236}">
                  <a16:creationId xmlns:a16="http://schemas.microsoft.com/office/drawing/2014/main" id="{54ACD118-1538-DCAC-0227-4D23872F8CC3}"/>
                </a:ext>
              </a:extLst>
            </p:cNvPr>
            <p:cNvSpPr/>
            <p:nvPr/>
          </p:nvSpPr>
          <p:spPr>
            <a:xfrm rot="1674689">
              <a:off x="10984509" y="5048680"/>
              <a:ext cx="210115" cy="45344"/>
            </a:xfrm>
            <a:custGeom>
              <a:avLst/>
              <a:gdLst>
                <a:gd name="connsiteX0" fmla="*/ -36 w 455440"/>
                <a:gd name="connsiteY0" fmla="*/ 98247 h 98287"/>
                <a:gd name="connsiteX1" fmla="*/ 455405 w 455440"/>
                <a:gd name="connsiteY1" fmla="*/ 15753 h 98287"/>
              </a:gdLst>
              <a:ahLst/>
              <a:cxnLst>
                <a:cxn ang="0">
                  <a:pos x="connsiteX0" y="connsiteY0"/>
                </a:cxn>
                <a:cxn ang="0">
                  <a:pos x="connsiteX1" y="connsiteY1"/>
                </a:cxn>
              </a:cxnLst>
              <a:rect l="l" t="t" r="r" b="b"/>
              <a:pathLst>
                <a:path w="455440" h="98287">
                  <a:moveTo>
                    <a:pt x="-36" y="98247"/>
                  </a:moveTo>
                  <a:cubicBezTo>
                    <a:pt x="-36" y="98247"/>
                    <a:pt x="180683" y="-47172"/>
                    <a:pt x="455405" y="15753"/>
                  </a:cubicBezTo>
                </a:path>
              </a:pathLst>
            </a:custGeom>
            <a:noFill/>
            <a:ln w="6350" cap="rnd">
              <a:solidFill>
                <a:srgbClr val="0E31C9"/>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 name="任意多边形: 形状 5">
              <a:extLst>
                <a:ext uri="{FF2B5EF4-FFF2-40B4-BE49-F238E27FC236}">
                  <a16:creationId xmlns:a16="http://schemas.microsoft.com/office/drawing/2014/main" id="{89940EED-7D01-255C-B788-0267D0F2113D}"/>
                </a:ext>
              </a:extLst>
            </p:cNvPr>
            <p:cNvSpPr/>
            <p:nvPr/>
          </p:nvSpPr>
          <p:spPr>
            <a:xfrm rot="1674689">
              <a:off x="10776546" y="5149981"/>
              <a:ext cx="354050" cy="334999"/>
            </a:xfrm>
            <a:custGeom>
              <a:avLst/>
              <a:gdLst>
                <a:gd name="connsiteX0" fmla="*/ 767380 w 767430"/>
                <a:gd name="connsiteY0" fmla="*/ 458854 h 726134"/>
                <a:gd name="connsiteX1" fmla="*/ 694671 w 767430"/>
                <a:gd name="connsiteY1" fmla="*/ 726094 h 726134"/>
                <a:gd name="connsiteX2" fmla="*/ 71173 w 767430"/>
                <a:gd name="connsiteY2" fmla="*/ 724560 h 726134"/>
                <a:gd name="connsiteX3" fmla="*/ -2 w 767430"/>
                <a:gd name="connsiteY3" fmla="*/ 458854 h 726134"/>
                <a:gd name="connsiteX4" fmla="*/ 383689 w 767430"/>
                <a:gd name="connsiteY4" fmla="*/ -40 h 726134"/>
                <a:gd name="connsiteX5" fmla="*/ 767380 w 767430"/>
                <a:gd name="connsiteY5" fmla="*/ 458854 h 726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7430" h="726134">
                  <a:moveTo>
                    <a:pt x="767380" y="458854"/>
                  </a:moveTo>
                  <a:cubicBezTo>
                    <a:pt x="768090" y="552915"/>
                    <a:pt x="742939" y="645366"/>
                    <a:pt x="694671" y="726094"/>
                  </a:cubicBezTo>
                  <a:cubicBezTo>
                    <a:pt x="490033" y="675063"/>
                    <a:pt x="276058" y="674545"/>
                    <a:pt x="71173" y="724560"/>
                  </a:cubicBezTo>
                  <a:cubicBezTo>
                    <a:pt x="23538" y="644195"/>
                    <a:pt x="-1084" y="552263"/>
                    <a:pt x="-2" y="458854"/>
                  </a:cubicBezTo>
                  <a:cubicBezTo>
                    <a:pt x="-2" y="205234"/>
                    <a:pt x="171508" y="-40"/>
                    <a:pt x="383689" y="-40"/>
                  </a:cubicBezTo>
                  <a:cubicBezTo>
                    <a:pt x="595870" y="-40"/>
                    <a:pt x="767380" y="205234"/>
                    <a:pt x="767380" y="458854"/>
                  </a:cubicBezTo>
                  <a:close/>
                </a:path>
              </a:pathLst>
            </a:custGeom>
            <a:solidFill>
              <a:srgbClr val="FFFFFF"/>
            </a:solidFill>
            <a:ln w="1915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 name="任意多边形: 形状 6">
              <a:extLst>
                <a:ext uri="{FF2B5EF4-FFF2-40B4-BE49-F238E27FC236}">
                  <a16:creationId xmlns:a16="http://schemas.microsoft.com/office/drawing/2014/main" id="{0E9F16D2-C4EF-920D-1751-924E06BDCDD6}"/>
                </a:ext>
              </a:extLst>
            </p:cNvPr>
            <p:cNvSpPr/>
            <p:nvPr/>
          </p:nvSpPr>
          <p:spPr>
            <a:xfrm rot="1674689">
              <a:off x="10825831" y="5236215"/>
              <a:ext cx="230750" cy="238172"/>
            </a:xfrm>
            <a:custGeom>
              <a:avLst/>
              <a:gdLst>
                <a:gd name="connsiteX0" fmla="*/ 500115 w 500167"/>
                <a:gd name="connsiteY0" fmla="*/ 322452 h 516255"/>
                <a:gd name="connsiteX1" fmla="*/ 449660 w 500167"/>
                <a:gd name="connsiteY1" fmla="*/ 516215 h 516255"/>
                <a:gd name="connsiteX2" fmla="*/ 46784 w 500167"/>
                <a:gd name="connsiteY2" fmla="*/ 510076 h 516255"/>
                <a:gd name="connsiteX3" fmla="*/ -26 w 500167"/>
                <a:gd name="connsiteY3" fmla="*/ 322452 h 516255"/>
                <a:gd name="connsiteX4" fmla="*/ 249373 w 500167"/>
                <a:gd name="connsiteY4" fmla="*/ -40 h 516255"/>
                <a:gd name="connsiteX5" fmla="*/ 500115 w 500167"/>
                <a:gd name="connsiteY5" fmla="*/ 322452 h 516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0167" h="516255">
                  <a:moveTo>
                    <a:pt x="500115" y="322452"/>
                  </a:moveTo>
                  <a:cubicBezTo>
                    <a:pt x="500748" y="390365"/>
                    <a:pt x="483329" y="457223"/>
                    <a:pt x="449660" y="516215"/>
                  </a:cubicBezTo>
                  <a:cubicBezTo>
                    <a:pt x="316471" y="493597"/>
                    <a:pt x="180600" y="491525"/>
                    <a:pt x="46784" y="510076"/>
                  </a:cubicBezTo>
                  <a:cubicBezTo>
                    <a:pt x="15608" y="452484"/>
                    <a:pt x="-494" y="387947"/>
                    <a:pt x="-26" y="322452"/>
                  </a:cubicBezTo>
                  <a:cubicBezTo>
                    <a:pt x="-26" y="144803"/>
                    <a:pt x="111820" y="-40"/>
                    <a:pt x="249373" y="-40"/>
                  </a:cubicBezTo>
                  <a:cubicBezTo>
                    <a:pt x="386926" y="-40"/>
                    <a:pt x="500115" y="144803"/>
                    <a:pt x="500115" y="322452"/>
                  </a:cubicBezTo>
                  <a:close/>
                </a:path>
              </a:pathLst>
            </a:custGeom>
            <a:solidFill>
              <a:srgbClr val="0E31C9"/>
            </a:solidFill>
            <a:ln w="1915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 name="任意多边形: 形状 7">
              <a:extLst>
                <a:ext uri="{FF2B5EF4-FFF2-40B4-BE49-F238E27FC236}">
                  <a16:creationId xmlns:a16="http://schemas.microsoft.com/office/drawing/2014/main" id="{CBC2EA61-623B-4BAD-7857-8737CDB7CEB8}"/>
                </a:ext>
              </a:extLst>
            </p:cNvPr>
            <p:cNvSpPr/>
            <p:nvPr/>
          </p:nvSpPr>
          <p:spPr>
            <a:xfrm rot="1674689">
              <a:off x="10991064" y="5296560"/>
              <a:ext cx="103110" cy="92313"/>
            </a:xfrm>
            <a:custGeom>
              <a:avLst/>
              <a:gdLst>
                <a:gd name="connsiteX0" fmla="*/ 135443 w 223499"/>
                <a:gd name="connsiteY0" fmla="*/ 0 h 200094"/>
                <a:gd name="connsiteX1" fmla="*/ 0 w 223499"/>
                <a:gd name="connsiteY1" fmla="*/ 200095 h 200094"/>
                <a:gd name="connsiteX2" fmla="*/ 223500 w 223499"/>
                <a:gd name="connsiteY2" fmla="*/ 200095 h 200094"/>
                <a:gd name="connsiteX3" fmla="*/ 135443 w 223499"/>
                <a:gd name="connsiteY3" fmla="*/ 0 h 200094"/>
              </a:gdLst>
              <a:ahLst/>
              <a:cxnLst>
                <a:cxn ang="0">
                  <a:pos x="connsiteX0" y="connsiteY0"/>
                </a:cxn>
                <a:cxn ang="0">
                  <a:pos x="connsiteX1" y="connsiteY1"/>
                </a:cxn>
                <a:cxn ang="0">
                  <a:pos x="connsiteX2" y="connsiteY2"/>
                </a:cxn>
                <a:cxn ang="0">
                  <a:pos x="connsiteX3" y="connsiteY3"/>
                </a:cxn>
              </a:cxnLst>
              <a:rect l="l" t="t" r="r" b="b"/>
              <a:pathLst>
                <a:path w="223499" h="200094">
                  <a:moveTo>
                    <a:pt x="135443" y="0"/>
                  </a:moveTo>
                  <a:lnTo>
                    <a:pt x="0" y="200095"/>
                  </a:lnTo>
                  <a:lnTo>
                    <a:pt x="223500" y="200095"/>
                  </a:lnTo>
                  <a:lnTo>
                    <a:pt x="135443" y="0"/>
                  </a:lnTo>
                  <a:close/>
                </a:path>
              </a:pathLst>
            </a:custGeom>
            <a:solidFill>
              <a:srgbClr val="FFFFFF"/>
            </a:solidFill>
            <a:ln w="1915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 name="任意多边形: 形状 8">
              <a:extLst>
                <a:ext uri="{FF2B5EF4-FFF2-40B4-BE49-F238E27FC236}">
                  <a16:creationId xmlns:a16="http://schemas.microsoft.com/office/drawing/2014/main" id="{7E3D8EA2-50B1-6647-D433-B4C51D0322FD}"/>
                </a:ext>
              </a:extLst>
            </p:cNvPr>
            <p:cNvSpPr/>
            <p:nvPr/>
          </p:nvSpPr>
          <p:spPr>
            <a:xfrm rot="1674689">
              <a:off x="10709272" y="5448224"/>
              <a:ext cx="336680" cy="24563"/>
            </a:xfrm>
            <a:custGeom>
              <a:avLst/>
              <a:gdLst>
                <a:gd name="connsiteX0" fmla="*/ 729744 w 729779"/>
                <a:gd name="connsiteY0" fmla="*/ 53203 h 53243"/>
                <a:gd name="connsiteX1" fmla="*/ 676219 w 729779"/>
                <a:gd name="connsiteY1" fmla="*/ 38623 h 53243"/>
                <a:gd name="connsiteX2" fmla="*/ 52722 w 729779"/>
                <a:gd name="connsiteY2" fmla="*/ 37088 h 53243"/>
                <a:gd name="connsiteX3" fmla="*/ -36 w 729779"/>
                <a:gd name="connsiteY3" fmla="*/ 53203 h 53243"/>
              </a:gdLst>
              <a:ahLst/>
              <a:cxnLst>
                <a:cxn ang="0">
                  <a:pos x="connsiteX0" y="connsiteY0"/>
                </a:cxn>
                <a:cxn ang="0">
                  <a:pos x="connsiteX1" y="connsiteY1"/>
                </a:cxn>
                <a:cxn ang="0">
                  <a:pos x="connsiteX2" y="connsiteY2"/>
                </a:cxn>
                <a:cxn ang="0">
                  <a:pos x="connsiteX3" y="connsiteY3"/>
                </a:cxn>
              </a:cxnLst>
              <a:rect l="l" t="t" r="r" b="b"/>
              <a:pathLst>
                <a:path w="729779" h="53243">
                  <a:moveTo>
                    <a:pt x="729744" y="53203"/>
                  </a:moveTo>
                  <a:cubicBezTo>
                    <a:pt x="710560" y="47831"/>
                    <a:pt x="693677" y="43227"/>
                    <a:pt x="676219" y="38623"/>
                  </a:cubicBezTo>
                  <a:cubicBezTo>
                    <a:pt x="471582" y="-12408"/>
                    <a:pt x="257607" y="-12926"/>
                    <a:pt x="52722" y="37088"/>
                  </a:cubicBezTo>
                  <a:cubicBezTo>
                    <a:pt x="18190" y="46296"/>
                    <a:pt x="-36" y="53203"/>
                    <a:pt x="-36" y="53203"/>
                  </a:cubicBezTo>
                </a:path>
              </a:pathLst>
            </a:custGeom>
            <a:noFill/>
            <a:ln w="6350" cap="rnd">
              <a:solidFill>
                <a:srgbClr val="0E31C9"/>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 name="任意多边形: 形状 9">
              <a:extLst>
                <a:ext uri="{FF2B5EF4-FFF2-40B4-BE49-F238E27FC236}">
                  <a16:creationId xmlns:a16="http://schemas.microsoft.com/office/drawing/2014/main" id="{28263FA4-422C-42F5-0A9B-E391583D37F8}"/>
                </a:ext>
              </a:extLst>
            </p:cNvPr>
            <p:cNvSpPr/>
            <p:nvPr/>
          </p:nvSpPr>
          <p:spPr>
            <a:xfrm rot="1674689">
              <a:off x="11296559" y="5425541"/>
              <a:ext cx="354401" cy="334999"/>
            </a:xfrm>
            <a:custGeom>
              <a:avLst/>
              <a:gdLst>
                <a:gd name="connsiteX0" fmla="*/ -20 w 768190"/>
                <a:gd name="connsiteY0" fmla="*/ 458854 h 726134"/>
                <a:gd name="connsiteX1" fmla="*/ 72881 w 768190"/>
                <a:gd name="connsiteY1" fmla="*/ 726094 h 726134"/>
                <a:gd name="connsiteX2" fmla="*/ 696186 w 768190"/>
                <a:gd name="connsiteY2" fmla="*/ 724560 h 726134"/>
                <a:gd name="connsiteX3" fmla="*/ 768128 w 768190"/>
                <a:gd name="connsiteY3" fmla="*/ 458854 h 726134"/>
                <a:gd name="connsiteX4" fmla="*/ 384438 w 768190"/>
                <a:gd name="connsiteY4" fmla="*/ -40 h 726134"/>
                <a:gd name="connsiteX5" fmla="*/ -20 w 768190"/>
                <a:gd name="connsiteY5" fmla="*/ 458854 h 726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190" h="726134">
                  <a:moveTo>
                    <a:pt x="-20" y="458854"/>
                  </a:moveTo>
                  <a:cubicBezTo>
                    <a:pt x="-750" y="552935"/>
                    <a:pt x="24478" y="645404"/>
                    <a:pt x="72881" y="726094"/>
                  </a:cubicBezTo>
                  <a:cubicBezTo>
                    <a:pt x="277446" y="675063"/>
                    <a:pt x="491372" y="674545"/>
                    <a:pt x="696186" y="724560"/>
                  </a:cubicBezTo>
                  <a:cubicBezTo>
                    <a:pt x="744186" y="644311"/>
                    <a:pt x="769088" y="552359"/>
                    <a:pt x="768128" y="458854"/>
                  </a:cubicBezTo>
                  <a:cubicBezTo>
                    <a:pt x="768128" y="205234"/>
                    <a:pt x="596619" y="-40"/>
                    <a:pt x="384438" y="-40"/>
                  </a:cubicBezTo>
                  <a:cubicBezTo>
                    <a:pt x="172257" y="-40"/>
                    <a:pt x="-20" y="205234"/>
                    <a:pt x="-20" y="458854"/>
                  </a:cubicBezTo>
                  <a:close/>
                </a:path>
              </a:pathLst>
            </a:custGeom>
            <a:solidFill>
              <a:srgbClr val="FFFFFF"/>
            </a:solidFill>
            <a:ln w="1915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 name="任意多边形: 形状 11">
              <a:extLst>
                <a:ext uri="{FF2B5EF4-FFF2-40B4-BE49-F238E27FC236}">
                  <a16:creationId xmlns:a16="http://schemas.microsoft.com/office/drawing/2014/main" id="{3DBB8804-3C25-884D-4C67-10CE16090FD2}"/>
                </a:ext>
              </a:extLst>
            </p:cNvPr>
            <p:cNvSpPr/>
            <p:nvPr/>
          </p:nvSpPr>
          <p:spPr>
            <a:xfrm rot="1674689">
              <a:off x="11351383" y="5487432"/>
              <a:ext cx="103110" cy="92313"/>
            </a:xfrm>
            <a:custGeom>
              <a:avLst/>
              <a:gdLst>
                <a:gd name="connsiteX0" fmla="*/ 88057 w 223499"/>
                <a:gd name="connsiteY0" fmla="*/ 0 h 200094"/>
                <a:gd name="connsiteX1" fmla="*/ 223500 w 223499"/>
                <a:gd name="connsiteY1" fmla="*/ 200095 h 200094"/>
                <a:gd name="connsiteX2" fmla="*/ 0 w 223499"/>
                <a:gd name="connsiteY2" fmla="*/ 200095 h 200094"/>
                <a:gd name="connsiteX3" fmla="*/ 88057 w 223499"/>
                <a:gd name="connsiteY3" fmla="*/ 0 h 200094"/>
              </a:gdLst>
              <a:ahLst/>
              <a:cxnLst>
                <a:cxn ang="0">
                  <a:pos x="connsiteX0" y="connsiteY0"/>
                </a:cxn>
                <a:cxn ang="0">
                  <a:pos x="connsiteX1" y="connsiteY1"/>
                </a:cxn>
                <a:cxn ang="0">
                  <a:pos x="connsiteX2" y="connsiteY2"/>
                </a:cxn>
                <a:cxn ang="0">
                  <a:pos x="connsiteX3" y="connsiteY3"/>
                </a:cxn>
              </a:cxnLst>
              <a:rect l="l" t="t" r="r" b="b"/>
              <a:pathLst>
                <a:path w="223499" h="200094">
                  <a:moveTo>
                    <a:pt x="88057" y="0"/>
                  </a:moveTo>
                  <a:lnTo>
                    <a:pt x="223500" y="200095"/>
                  </a:lnTo>
                  <a:lnTo>
                    <a:pt x="0" y="200095"/>
                  </a:lnTo>
                  <a:lnTo>
                    <a:pt x="88057" y="0"/>
                  </a:lnTo>
                  <a:close/>
                </a:path>
              </a:pathLst>
            </a:custGeom>
            <a:solidFill>
              <a:srgbClr val="FFFFFF"/>
            </a:solidFill>
            <a:ln w="1915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 name="任意多边形: 形状 12">
              <a:extLst>
                <a:ext uri="{FF2B5EF4-FFF2-40B4-BE49-F238E27FC236}">
                  <a16:creationId xmlns:a16="http://schemas.microsoft.com/office/drawing/2014/main" id="{2AAAA59F-AA03-2515-7640-46FC7C1A81F4}"/>
                </a:ext>
              </a:extLst>
            </p:cNvPr>
            <p:cNvSpPr/>
            <p:nvPr/>
          </p:nvSpPr>
          <p:spPr>
            <a:xfrm rot="1674689">
              <a:off x="11004924" y="5694798"/>
              <a:ext cx="168163" cy="35635"/>
            </a:xfrm>
            <a:custGeom>
              <a:avLst/>
              <a:gdLst>
                <a:gd name="connsiteX0" fmla="*/ -36 w 364506"/>
                <a:gd name="connsiteY0" fmla="*/ 17993 h 77243"/>
                <a:gd name="connsiteX1" fmla="*/ 364470 w 364506"/>
                <a:gd name="connsiteY1" fmla="*/ -40 h 77243"/>
              </a:gdLst>
              <a:ahLst/>
              <a:cxnLst>
                <a:cxn ang="0">
                  <a:pos x="connsiteX0" y="connsiteY0"/>
                </a:cxn>
                <a:cxn ang="0">
                  <a:pos x="connsiteX1" y="connsiteY1"/>
                </a:cxn>
              </a:cxnLst>
              <a:rect l="l" t="t" r="r" b="b"/>
              <a:pathLst>
                <a:path w="364506" h="77243">
                  <a:moveTo>
                    <a:pt x="-36" y="17993"/>
                  </a:moveTo>
                  <a:cubicBezTo>
                    <a:pt x="109086" y="103326"/>
                    <a:pt x="264308" y="95652"/>
                    <a:pt x="364470" y="-40"/>
                  </a:cubicBezTo>
                </a:path>
              </a:pathLst>
            </a:custGeom>
            <a:noFill/>
            <a:ln w="9525" cap="rnd">
              <a:solidFill>
                <a:srgbClr val="0E31C9"/>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 name="椭圆 13">
              <a:extLst>
                <a:ext uri="{FF2B5EF4-FFF2-40B4-BE49-F238E27FC236}">
                  <a16:creationId xmlns:a16="http://schemas.microsoft.com/office/drawing/2014/main" id="{5E3D69E7-DA60-5266-CE1B-04BA75AE1914}"/>
                </a:ext>
              </a:extLst>
            </p:cNvPr>
            <p:cNvSpPr/>
            <p:nvPr/>
          </p:nvSpPr>
          <p:spPr>
            <a:xfrm>
              <a:off x="831163" y="1552616"/>
              <a:ext cx="202211" cy="202211"/>
            </a:xfrm>
            <a:prstGeom prst="ellipse">
              <a:avLst/>
            </a:prstGeom>
            <a:solidFill>
              <a:schemeClr val="bg1"/>
            </a:solidFill>
            <a:ln w="19050">
              <a:solidFill>
                <a:schemeClr val="accent1"/>
              </a:solid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15" name="Title">
              <a:extLst>
                <a:ext uri="{FF2B5EF4-FFF2-40B4-BE49-F238E27FC236}">
                  <a16:creationId xmlns:a16="http://schemas.microsoft.com/office/drawing/2014/main" id="{331A5F31-4BC6-4906-113C-754B8C259544}"/>
                </a:ext>
              </a:extLst>
            </p:cNvPr>
            <p:cNvSpPr>
              <a:spLocks/>
            </p:cNvSpPr>
            <p:nvPr/>
          </p:nvSpPr>
          <p:spPr>
            <a:xfrm>
              <a:off x="1482344" y="1198150"/>
              <a:ext cx="9008216" cy="5499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fontScale="8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buSzPct val="25000"/>
              </a:pPr>
              <a:r>
                <a:rPr lang="en-US" altLang="zh-CN" sz="2400" b="1">
                  <a:solidFill>
                    <a:schemeClr val="tx1"/>
                  </a:solidFill>
                  <a:cs typeface="+mn-ea"/>
                  <a:sym typeface="+mn-lt"/>
                </a:rPr>
                <a:t>A comprehensive slide outlining the project's core elements including objectives, deliverables, responsibilities, and achievements.</a:t>
              </a:r>
              <a:endParaRPr lang="en-US" altLang="zh-CN" sz="2400" b="1" dirty="0">
                <a:solidFill>
                  <a:schemeClr val="tx1"/>
                </a:solidFill>
                <a:cs typeface="+mn-ea"/>
                <a:sym typeface="+mn-lt"/>
              </a:endParaRPr>
            </a:p>
          </p:txBody>
        </p:sp>
        <p:sp>
          <p:nvSpPr>
            <p:cNvPr id="30" name="ComponentBackground1">
              <a:extLst>
                <a:ext uri="{FF2B5EF4-FFF2-40B4-BE49-F238E27FC236}">
                  <a16:creationId xmlns:a16="http://schemas.microsoft.com/office/drawing/2014/main" id="{B6FB65FC-F076-C83D-5E60-1D84189C3C46}"/>
                </a:ext>
              </a:extLst>
            </p:cNvPr>
            <p:cNvSpPr/>
            <p:nvPr/>
          </p:nvSpPr>
          <p:spPr>
            <a:xfrm>
              <a:off x="801089" y="1074909"/>
              <a:ext cx="10577122" cy="4989181"/>
            </a:xfrm>
            <a:prstGeom prst="roundRect">
              <a:avLst>
                <a:gd name="adj" fmla="val 10558"/>
              </a:avLst>
            </a:prstGeom>
            <a:solidFill>
              <a:srgbClr val="FFFFFF"/>
            </a:solidFill>
            <a:ln w="19050" cap="flat">
              <a:solidFill>
                <a:schemeClr val="accent1"/>
              </a:solidFill>
              <a:prstDash val="solid"/>
              <a:miter/>
            </a:ln>
            <a:effectLst>
              <a:outerShdw dist="50800" dir="5400000" sx="101000" sy="101000" algn="ctr" rotWithShape="0">
                <a:schemeClr val="accent1"/>
              </a:outerShdw>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dirty="0"/>
            </a:p>
          </p:txBody>
        </p:sp>
        <p:sp>
          <p:nvSpPr>
            <p:cNvPr id="28" name="Bullet2">
              <a:extLst>
                <a:ext uri="{FF2B5EF4-FFF2-40B4-BE49-F238E27FC236}">
                  <a16:creationId xmlns:a16="http://schemas.microsoft.com/office/drawing/2014/main" id="{F3E2B7E1-F544-D3B2-382E-807B480F6FE6}"/>
                </a:ext>
              </a:extLst>
            </p:cNvPr>
            <p:cNvSpPr>
              <a:spLocks/>
            </p:cNvSpPr>
            <p:nvPr/>
          </p:nvSpPr>
          <p:spPr>
            <a:xfrm>
              <a:off x="2063852" y="2207657"/>
              <a:ext cx="8426708" cy="404500"/>
            </a:xfrm>
            <a:prstGeom prst="rect">
              <a:avLst/>
            </a:prstGeom>
            <a:no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altLang="zh-CN" sz="1400" b="1" dirty="0">
                <a:solidFill>
                  <a:schemeClr val="tx1"/>
                </a:solidFill>
              </a:endParaRPr>
            </a:p>
          </p:txBody>
        </p:sp>
      </p:grpSp>
      <p:sp>
        <p:nvSpPr>
          <p:cNvPr id="11" name="标题 10">
            <a:extLst>
              <a:ext uri="{FF2B5EF4-FFF2-40B4-BE49-F238E27FC236}">
                <a16:creationId xmlns:a16="http://schemas.microsoft.com/office/drawing/2014/main" id="{99049839-36E4-4EBE-4C6F-316965973DF7}"/>
              </a:ext>
            </a:extLst>
          </p:cNvPr>
          <p:cNvSpPr>
            <a:spLocks noGrp="1"/>
          </p:cNvSpPr>
          <p:nvPr>
            <p:ph type="title"/>
          </p:nvPr>
        </p:nvSpPr>
        <p:spPr/>
        <p:txBody>
          <a:bodyPr/>
          <a:lstStyle/>
          <a:p>
            <a:r>
              <a:rPr lang="en-US" altLang="zh-CN" dirty="0"/>
              <a:t>Ongoing Refinement</a:t>
            </a:r>
            <a:endParaRPr lang="zh-CN" altLang="en-US" dirty="0"/>
          </a:p>
        </p:txBody>
      </p:sp>
      <p:sp>
        <p:nvSpPr>
          <p:cNvPr id="25" name="文本框 24">
            <a:extLst>
              <a:ext uri="{FF2B5EF4-FFF2-40B4-BE49-F238E27FC236}">
                <a16:creationId xmlns:a16="http://schemas.microsoft.com/office/drawing/2014/main" id="{8BAD2A6C-8D19-34C8-563D-B4ABC38752C4}"/>
              </a:ext>
            </a:extLst>
          </p:cNvPr>
          <p:cNvSpPr txBox="1"/>
          <p:nvPr/>
        </p:nvSpPr>
        <p:spPr>
          <a:xfrm>
            <a:off x="1207183" y="1300133"/>
            <a:ext cx="9667766" cy="5355312"/>
          </a:xfrm>
          <a:prstGeom prst="rect">
            <a:avLst/>
          </a:prstGeom>
          <a:noFill/>
        </p:spPr>
        <p:txBody>
          <a:bodyPr wrap="square" rtlCol="0">
            <a:spAutoFit/>
          </a:bodyPr>
          <a:lstStyle/>
          <a:p>
            <a:pPr marL="342900" indent="-342900">
              <a:buAutoNum type="arabicPeriod"/>
            </a:pPr>
            <a:r>
              <a:rPr lang="en-US" altLang="zh-CN" dirty="0"/>
              <a:t>Human can intervene and request LLM to revamp on the outcome.</a:t>
            </a:r>
          </a:p>
          <a:p>
            <a:pPr marL="342900" indent="-342900">
              <a:buAutoNum type="arabicPeriod"/>
            </a:pPr>
            <a:endParaRPr lang="en-US" altLang="zh-CN" b="1" dirty="0"/>
          </a:p>
          <a:p>
            <a:pPr marL="342900" indent="-342900">
              <a:buAutoNum type="arabicPeriod"/>
            </a:pPr>
            <a:r>
              <a:rPr lang="en-US" altLang="zh-CN" dirty="0"/>
              <a:t>LLM should generate fields descriptions, perform EDA, and perform variable binning in advanced.</a:t>
            </a:r>
          </a:p>
          <a:p>
            <a:pPr marL="342900" indent="-342900">
              <a:buAutoNum type="arabicPeriod"/>
            </a:pPr>
            <a:endParaRPr lang="en-US" altLang="zh-CN" dirty="0"/>
          </a:p>
          <a:p>
            <a:pPr marL="342900" indent="-342900">
              <a:buAutoNum type="arabicPeriod"/>
            </a:pPr>
            <a:r>
              <a:rPr lang="en-US" altLang="zh-CN" dirty="0"/>
              <a:t>Human or LLM could provide a high-level narrative of the report based on past experience and knowledge.</a:t>
            </a:r>
            <a:r>
              <a:rPr lang="zh-CN" altLang="en-US" dirty="0"/>
              <a:t> </a:t>
            </a:r>
            <a:r>
              <a:rPr lang="en-US" altLang="zh-CN" dirty="0"/>
              <a:t>This</a:t>
            </a:r>
            <a:r>
              <a:rPr lang="zh-CN" altLang="en-US" dirty="0"/>
              <a:t> </a:t>
            </a:r>
            <a:r>
              <a:rPr lang="en-US" altLang="zh-CN" dirty="0"/>
              <a:t>narrative</a:t>
            </a:r>
            <a:r>
              <a:rPr lang="zh-CN" altLang="en-US" dirty="0"/>
              <a:t> </a:t>
            </a:r>
            <a:r>
              <a:rPr lang="en-US" altLang="zh-CN" dirty="0"/>
              <a:t>would</a:t>
            </a:r>
            <a:r>
              <a:rPr lang="zh-CN" altLang="en-US" dirty="0"/>
              <a:t> </a:t>
            </a:r>
            <a:r>
              <a:rPr lang="en-US" altLang="zh-CN" dirty="0"/>
              <a:t>be essential in guiding the report generation.</a:t>
            </a:r>
          </a:p>
          <a:p>
            <a:pPr marL="342900" indent="-342900">
              <a:buAutoNum type="arabicPeriod"/>
            </a:pPr>
            <a:endParaRPr lang="en-US" altLang="zh-CN" dirty="0"/>
          </a:p>
          <a:p>
            <a:pPr marL="342900" indent="-342900">
              <a:buAutoNum type="arabicPeriod"/>
            </a:pPr>
            <a:r>
              <a:rPr lang="en-US" altLang="zh-CN" dirty="0"/>
              <a:t>Evaluation feedback loop should be built into the system, where online refinement can be performed upon evaluation feedback.</a:t>
            </a:r>
          </a:p>
          <a:p>
            <a:pPr marL="342900" indent="-342900">
              <a:buAutoNum type="arabicPeriod"/>
            </a:pPr>
            <a:endParaRPr lang="en-US" altLang="zh-CN" dirty="0"/>
          </a:p>
          <a:p>
            <a:pPr marL="342900" indent="-342900">
              <a:buAutoNum type="arabicPeriod"/>
            </a:pPr>
            <a:r>
              <a:rPr lang="en-US" altLang="zh-CN" dirty="0"/>
              <a:t>LLM control task orchestration. E.g., task parallelism, task sequence…</a:t>
            </a:r>
          </a:p>
          <a:p>
            <a:pPr marL="342900" indent="-342900">
              <a:buAutoNum type="arabicPeriod"/>
            </a:pPr>
            <a:endParaRPr lang="en-US" altLang="zh-CN" dirty="0"/>
          </a:p>
          <a:p>
            <a:pPr marL="342900" indent="-342900">
              <a:buAutoNum type="arabicPeriod"/>
            </a:pPr>
            <a:r>
              <a:rPr lang="en-US" altLang="zh-CN" dirty="0"/>
              <a:t>Different expert model should be used on different task. E.g., bigger model should be used on planning related tasks, and smaller model should be used on simple code generation or data processing tasks.</a:t>
            </a:r>
          </a:p>
          <a:p>
            <a:pPr marL="342900" indent="-342900">
              <a:buAutoNum type="arabicPeriod"/>
            </a:pPr>
            <a:endParaRPr lang="en-US" altLang="zh-CN" dirty="0"/>
          </a:p>
          <a:p>
            <a:pPr marL="342900" indent="-342900">
              <a:buAutoNum type="arabicPeriod"/>
            </a:pPr>
            <a:r>
              <a:rPr lang="en-US" altLang="zh-CN" dirty="0"/>
              <a:t>More controllable and better-quality generated figures. Ensure deterministic output format.</a:t>
            </a:r>
          </a:p>
          <a:p>
            <a:endParaRPr lang="zh-CN" altLang="en-US" dirty="0"/>
          </a:p>
        </p:txBody>
      </p:sp>
    </p:spTree>
    <p:extLst>
      <p:ext uri="{BB962C8B-B14F-4D97-AF65-F5344CB8AC3E}">
        <p14:creationId xmlns:p14="http://schemas.microsoft.com/office/powerpoint/2010/main" val="2624147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C4AF2-DB6C-A26B-9D1B-5A8EEB08B9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C729BE-F418-D5E7-04B1-E3C51A94BFE9}"/>
              </a:ext>
            </a:extLst>
          </p:cNvPr>
          <p:cNvSpPr>
            <a:spLocks noGrp="1"/>
          </p:cNvSpPr>
          <p:nvPr>
            <p:ph type="title"/>
          </p:nvPr>
        </p:nvSpPr>
        <p:spPr>
          <a:xfrm>
            <a:off x="660400" y="1130300"/>
            <a:ext cx="5507525" cy="3187700"/>
          </a:xfrm>
        </p:spPr>
        <p:txBody>
          <a:bodyPr/>
          <a:lstStyle/>
          <a:p>
            <a:pPr lvl="0"/>
            <a:r>
              <a:rPr lang="en-US" dirty="0"/>
              <a:t>Thank you</a:t>
            </a:r>
          </a:p>
        </p:txBody>
      </p:sp>
      <p:sp>
        <p:nvSpPr>
          <p:cNvPr id="3" name="Text Placeholder 2">
            <a:extLst>
              <a:ext uri="{FF2B5EF4-FFF2-40B4-BE49-F238E27FC236}">
                <a16:creationId xmlns:a16="http://schemas.microsoft.com/office/drawing/2014/main" id="{6458C22F-A4CD-B7F3-8984-447E64AA43B4}"/>
              </a:ext>
            </a:extLst>
          </p:cNvPr>
          <p:cNvSpPr>
            <a:spLocks noGrp="1"/>
          </p:cNvSpPr>
          <p:nvPr>
            <p:ph type="body" sz="quarter" idx="13"/>
          </p:nvPr>
        </p:nvSpPr>
        <p:spPr>
          <a:xfrm>
            <a:off x="660399" y="5585459"/>
            <a:ext cx="3889829" cy="793569"/>
          </a:xfrm>
        </p:spPr>
        <p:txBody>
          <a:bodyPr>
            <a:normAutofit/>
          </a:bodyPr>
          <a:lstStyle/>
          <a:p>
            <a:pPr lvl="0"/>
            <a:r>
              <a:rPr lang="en-US" altLang="zh-CN" sz="1600" b="1" dirty="0"/>
              <a:t>Lim Weijen </a:t>
            </a:r>
          </a:p>
        </p:txBody>
      </p:sp>
    </p:spTree>
    <p:extLst>
      <p:ext uri="{BB962C8B-B14F-4D97-AF65-F5344CB8AC3E}">
        <p14:creationId xmlns:p14="http://schemas.microsoft.com/office/powerpoint/2010/main" val="1098077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E9D01-1791-7827-3614-7F8DD94D0A24}"/>
            </a:ext>
          </a:extLst>
        </p:cNvPr>
        <p:cNvGrpSpPr/>
        <p:nvPr/>
      </p:nvGrpSpPr>
      <p:grpSpPr>
        <a:xfrm>
          <a:off x="0" y="0"/>
          <a:ext cx="0" cy="0"/>
          <a:chOff x="0" y="0"/>
          <a:chExt cx="0" cy="0"/>
        </a:xfrm>
      </p:grpSpPr>
      <p:sp>
        <p:nvSpPr>
          <p:cNvPr id="4" name="任意多边形: 形状 3">
            <a:extLst>
              <a:ext uri="{FF2B5EF4-FFF2-40B4-BE49-F238E27FC236}">
                <a16:creationId xmlns:a16="http://schemas.microsoft.com/office/drawing/2014/main" id="{721A8069-A6B8-AD31-234E-EF802DCCEE26}"/>
              </a:ext>
            </a:extLst>
          </p:cNvPr>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flip="none" rotWithShape="1">
            <a:gsLst>
              <a:gs pos="3000">
                <a:schemeClr val="accent1">
                  <a:alpha val="0"/>
                </a:schemeClr>
              </a:gs>
              <a:gs pos="100000">
                <a:schemeClr val="accent1">
                  <a:alpha val="1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1" name="标题 1">
            <a:extLst>
              <a:ext uri="{FF2B5EF4-FFF2-40B4-BE49-F238E27FC236}">
                <a16:creationId xmlns:a16="http://schemas.microsoft.com/office/drawing/2014/main" id="{1624276C-F110-6873-E0BE-91D6EEE10AE6}"/>
              </a:ext>
            </a:extLst>
          </p:cNvPr>
          <p:cNvSpPr>
            <a:spLocks noGrp="1"/>
          </p:cNvSpPr>
          <p:nvPr>
            <p:ph type="title"/>
          </p:nvPr>
        </p:nvSpPr>
        <p:spPr>
          <a:xfrm>
            <a:off x="660400" y="128587"/>
            <a:ext cx="10858500" cy="900112"/>
          </a:xfrm>
        </p:spPr>
        <p:txBody>
          <a:bodyPr/>
          <a:lstStyle/>
          <a:p>
            <a:r>
              <a:rPr lang="en-US" altLang="zh-CN" dirty="0"/>
              <a:t>Appendix 1</a:t>
            </a:r>
            <a:endParaRPr lang="zh-CN" altLang="en-US" dirty="0"/>
          </a:p>
        </p:txBody>
      </p:sp>
      <p:pic>
        <p:nvPicPr>
          <p:cNvPr id="23" name="图片 22" descr="文本&#10;&#10;AI 生成的内容可能不正确。">
            <a:extLst>
              <a:ext uri="{FF2B5EF4-FFF2-40B4-BE49-F238E27FC236}">
                <a16:creationId xmlns:a16="http://schemas.microsoft.com/office/drawing/2014/main" id="{AE612ECE-4CBB-1A5D-D171-28CCD36CBBFF}"/>
              </a:ext>
            </a:extLst>
          </p:cNvPr>
          <p:cNvPicPr>
            <a:picLocks noChangeAspect="1"/>
          </p:cNvPicPr>
          <p:nvPr/>
        </p:nvPicPr>
        <p:blipFill>
          <a:blip r:embed="rId3"/>
          <a:stretch>
            <a:fillRect/>
          </a:stretch>
        </p:blipFill>
        <p:spPr>
          <a:xfrm>
            <a:off x="660400" y="1499631"/>
            <a:ext cx="9202057" cy="4823747"/>
          </a:xfrm>
          <a:prstGeom prst="rect">
            <a:avLst/>
          </a:prstGeom>
        </p:spPr>
      </p:pic>
      <p:sp>
        <p:nvSpPr>
          <p:cNvPr id="25" name="文本框 24">
            <a:extLst>
              <a:ext uri="{FF2B5EF4-FFF2-40B4-BE49-F238E27FC236}">
                <a16:creationId xmlns:a16="http://schemas.microsoft.com/office/drawing/2014/main" id="{A34CB73B-F307-B565-0F2C-16ACC732FED6}"/>
              </a:ext>
            </a:extLst>
          </p:cNvPr>
          <p:cNvSpPr txBox="1"/>
          <p:nvPr/>
        </p:nvSpPr>
        <p:spPr>
          <a:xfrm>
            <a:off x="660400" y="1079499"/>
            <a:ext cx="11147493" cy="369332"/>
          </a:xfrm>
          <a:prstGeom prst="rect">
            <a:avLst/>
          </a:prstGeom>
          <a:noFill/>
        </p:spPr>
        <p:txBody>
          <a:bodyPr wrap="square" rtlCol="0">
            <a:spAutoFit/>
          </a:bodyPr>
          <a:lstStyle/>
          <a:p>
            <a:pPr>
              <a:buSzPct val="25000"/>
              <a:tabLst>
                <a:tab pos="5472113" algn="l"/>
              </a:tabLst>
            </a:pPr>
            <a:r>
              <a:rPr lang="en-US" altLang="zh-CN" b="1" dirty="0" err="1"/>
              <a:t>info.json</a:t>
            </a:r>
            <a:r>
              <a:rPr lang="en-US" altLang="zh-CN" b="1" dirty="0"/>
              <a:t> under </a:t>
            </a:r>
            <a:r>
              <a:rPr lang="en-US" altLang="zh-CN" b="1" dirty="0" err="1"/>
              <a:t>json</a:t>
            </a:r>
            <a:r>
              <a:rPr lang="en-US" altLang="zh-CN" b="1" dirty="0"/>
              <a:t> directory: Intermediate and full findings, as well as metadata</a:t>
            </a:r>
          </a:p>
        </p:txBody>
      </p:sp>
    </p:spTree>
    <p:extLst>
      <p:ext uri="{BB962C8B-B14F-4D97-AF65-F5344CB8AC3E}">
        <p14:creationId xmlns:p14="http://schemas.microsoft.com/office/powerpoint/2010/main" val="557827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AA2EE-D907-E362-2A11-0671DF58F492}"/>
            </a:ext>
          </a:extLst>
        </p:cNvPr>
        <p:cNvGrpSpPr/>
        <p:nvPr/>
      </p:nvGrpSpPr>
      <p:grpSpPr>
        <a:xfrm>
          <a:off x="0" y="0"/>
          <a:ext cx="0" cy="0"/>
          <a:chOff x="0" y="0"/>
          <a:chExt cx="0" cy="0"/>
        </a:xfrm>
      </p:grpSpPr>
      <p:sp>
        <p:nvSpPr>
          <p:cNvPr id="4" name="任意多边形: 形状 3">
            <a:extLst>
              <a:ext uri="{FF2B5EF4-FFF2-40B4-BE49-F238E27FC236}">
                <a16:creationId xmlns:a16="http://schemas.microsoft.com/office/drawing/2014/main" id="{D297FC7A-947E-1DA0-F5C3-7F13B9E6B12A}"/>
              </a:ext>
            </a:extLst>
          </p:cNvPr>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flip="none" rotWithShape="1">
            <a:gsLst>
              <a:gs pos="3000">
                <a:schemeClr val="accent1">
                  <a:alpha val="0"/>
                </a:schemeClr>
              </a:gs>
              <a:gs pos="100000">
                <a:schemeClr val="accent1">
                  <a:alpha val="1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1" name="标题 1">
            <a:extLst>
              <a:ext uri="{FF2B5EF4-FFF2-40B4-BE49-F238E27FC236}">
                <a16:creationId xmlns:a16="http://schemas.microsoft.com/office/drawing/2014/main" id="{B443A0C8-C46A-36A9-7CCE-793D63BC0CAA}"/>
              </a:ext>
            </a:extLst>
          </p:cNvPr>
          <p:cNvSpPr>
            <a:spLocks noGrp="1"/>
          </p:cNvSpPr>
          <p:nvPr>
            <p:ph type="title"/>
          </p:nvPr>
        </p:nvSpPr>
        <p:spPr>
          <a:xfrm>
            <a:off x="660400" y="128587"/>
            <a:ext cx="10858500" cy="900112"/>
          </a:xfrm>
        </p:spPr>
        <p:txBody>
          <a:bodyPr/>
          <a:lstStyle/>
          <a:p>
            <a:r>
              <a:rPr lang="en-US" altLang="zh-CN" dirty="0"/>
              <a:t>Appendix 2</a:t>
            </a:r>
            <a:endParaRPr lang="zh-CN" altLang="en-US" dirty="0"/>
          </a:p>
        </p:txBody>
      </p:sp>
      <p:sp>
        <p:nvSpPr>
          <p:cNvPr id="25" name="文本框 24">
            <a:extLst>
              <a:ext uri="{FF2B5EF4-FFF2-40B4-BE49-F238E27FC236}">
                <a16:creationId xmlns:a16="http://schemas.microsoft.com/office/drawing/2014/main" id="{705AFE02-C627-70C2-9C18-52ACD5D881E4}"/>
              </a:ext>
            </a:extLst>
          </p:cNvPr>
          <p:cNvSpPr txBox="1"/>
          <p:nvPr/>
        </p:nvSpPr>
        <p:spPr>
          <a:xfrm>
            <a:off x="660400" y="1079499"/>
            <a:ext cx="11147493" cy="369332"/>
          </a:xfrm>
          <a:prstGeom prst="rect">
            <a:avLst/>
          </a:prstGeom>
          <a:noFill/>
        </p:spPr>
        <p:txBody>
          <a:bodyPr wrap="square" rtlCol="0">
            <a:spAutoFit/>
          </a:bodyPr>
          <a:lstStyle/>
          <a:p>
            <a:pPr>
              <a:buSzPct val="25000"/>
              <a:tabLst>
                <a:tab pos="5472113" algn="l"/>
              </a:tabLst>
            </a:pPr>
            <a:r>
              <a:rPr lang="en-US" altLang="zh-CN" b="1" dirty="0"/>
              <a:t>Final LLM Generated Report in markdown format</a:t>
            </a:r>
          </a:p>
        </p:txBody>
      </p:sp>
      <p:pic>
        <p:nvPicPr>
          <p:cNvPr id="5" name="图片 4" descr="图形用户界面, 文本, 应用程序&#10;&#10;AI 生成的内容可能不正确。">
            <a:extLst>
              <a:ext uri="{FF2B5EF4-FFF2-40B4-BE49-F238E27FC236}">
                <a16:creationId xmlns:a16="http://schemas.microsoft.com/office/drawing/2014/main" id="{1E41963E-3861-D01B-9ACC-CCA94FCE953F}"/>
              </a:ext>
            </a:extLst>
          </p:cNvPr>
          <p:cNvPicPr>
            <a:picLocks noChangeAspect="1"/>
          </p:cNvPicPr>
          <p:nvPr/>
        </p:nvPicPr>
        <p:blipFill>
          <a:blip r:embed="rId3"/>
          <a:stretch>
            <a:fillRect/>
          </a:stretch>
        </p:blipFill>
        <p:spPr>
          <a:xfrm>
            <a:off x="660400" y="1586346"/>
            <a:ext cx="7396400" cy="4800600"/>
          </a:xfrm>
          <a:prstGeom prst="rect">
            <a:avLst/>
          </a:prstGeom>
        </p:spPr>
      </p:pic>
    </p:spTree>
    <p:extLst>
      <p:ext uri="{BB962C8B-B14F-4D97-AF65-F5344CB8AC3E}">
        <p14:creationId xmlns:p14="http://schemas.microsoft.com/office/powerpoint/2010/main" val="13215176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a="http://schemas.openxmlformats.org/drawingml/2006/main" name="Designed by iSlide">
  <a:themeElements>
    <a:clrScheme name="iSlide">
      <a:dk1>
        <a:srgbClr val="000000"/>
      </a:dk1>
      <a:lt1>
        <a:srgbClr val="FFFFFF"/>
      </a:lt1>
      <a:dk2>
        <a:srgbClr val="768394"/>
      </a:dk2>
      <a:lt2>
        <a:srgbClr val="F0F0F0"/>
      </a:lt2>
      <a:accent1>
        <a:srgbClr val="A7AD76"/>
      </a:accent1>
      <a:accent2>
        <a:srgbClr val="1F1F1F"/>
      </a:accent2>
      <a:accent3>
        <a:srgbClr val="999898"/>
      </a:accent3>
      <a:accent4>
        <a:srgbClr val="747876"/>
      </a:accent4>
      <a:accent5>
        <a:srgbClr val="868686"/>
      </a:accent5>
      <a:accent6>
        <a:srgbClr val="768394"/>
      </a:accent6>
      <a:hlink>
        <a:srgbClr val="4276AA"/>
      </a:hlink>
      <a:folHlink>
        <a:srgbClr val="BFBFBF"/>
      </a:folHlink>
    </a:clrScheme>
    <a:fontScheme name="iSlide">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iSlide Presentation Template</Template>
  <TotalTime>2143</TotalTime>
  <Words>845</Words>
  <Application>Microsoft Office PowerPoint</Application>
  <PresentationFormat>宽屏</PresentationFormat>
  <Paragraphs>97</Paragraphs>
  <Slides>11</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等线</vt:lpstr>
      <vt:lpstr>Arial</vt:lpstr>
      <vt:lpstr>Designed by iSlide</vt:lpstr>
      <vt:lpstr>Automated LLM  Report Generation</vt:lpstr>
      <vt:lpstr>Agenda</vt:lpstr>
      <vt:lpstr>Key Guiding Principles</vt:lpstr>
      <vt:lpstr>Workflow Design for LLM Report Generation</vt:lpstr>
      <vt:lpstr>Prompt Design</vt:lpstr>
      <vt:lpstr>File System and Documentation</vt:lpstr>
      <vt:lpstr>Four Key Metrics of Evaluation Framework</vt:lpstr>
      <vt:lpstr>Ongoing Refinement</vt:lpstr>
      <vt:lpstr>Thank you</vt:lpstr>
      <vt:lpstr>Appendix 1</vt:lpstr>
      <vt:lpstr>Appendix 2</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iSlide</dc:creator>
  <cp:lastModifiedBy>WEIJEN LIM</cp:lastModifiedBy>
  <cp:revision>58</cp:revision>
  <cp:lastPrinted>2024-01-17T16:00:00Z</cp:lastPrinted>
  <dcterms:created xsi:type="dcterms:W3CDTF">2024-01-17T16:00:00Z</dcterms:created>
  <dcterms:modified xsi:type="dcterms:W3CDTF">2025-12-28T09:56:16Z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e95b05c1-5d29-407d-9da9-8c7e206cac59</vt:lpwstr>
  </property>
</Properties>
</file>